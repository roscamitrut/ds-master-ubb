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809" autoAdjust="0"/>
  </p:normalViewPr>
  <p:slideViewPr>
    <p:cSldViewPr snapToGrid="0">
      <p:cViewPr varScale="1">
        <p:scale>
          <a:sx n="91" d="100"/>
          <a:sy n="91" d="100"/>
        </p:scale>
        <p:origin x="13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label 0</c:f>
              <c:strCache>
                <c:ptCount val="1"/>
                <c:pt idx="0">
                  <c:v>Co-stars</c:v>
                </c:pt>
              </c:strCache>
            </c:strRef>
          </c:tx>
          <c:spPr>
            <a:solidFill>
              <a:srgbClr val="E94560"/>
            </a:solidFill>
            <a:ln w="0">
              <a:noFill/>
            </a:ln>
          </c:spPr>
          <c:invertIfNegative val="0"/>
          <c:dLbls>
            <c:numFmt formatCode="#,##0" sourceLinked="0"/>
            <c:spPr>
              <a:noFill/>
              <a:ln>
                <a:noFill/>
              </a:ln>
              <a:effectLst/>
            </c:spPr>
            <c:txPr>
              <a:bodyPr wrap="square"/>
              <a:lstStyle/>
              <a:p>
                <a:pPr>
                  <a:defRPr sz="1000" b="0" u="none" strike="noStrike">
                    <a:solidFill>
                      <a:srgbClr val="1A1A2E"/>
                    </a:solidFill>
                    <a:uFillTx/>
                    <a:latin typeface="Arial"/>
                  </a:defRPr>
                </a:pPr>
                <a:endParaRPr lang="en-US"/>
              </a:p>
            </c:txPr>
            <c:dLblPos val="outEnd"/>
            <c:showLegendKey val="0"/>
            <c:showVal val="1"/>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categories</c:f>
              <c:strCache>
                <c:ptCount val="8"/>
                <c:pt idx="0">
                  <c:v>Tom Hanks</c:v>
                </c:pt>
                <c:pt idx="1">
                  <c:v>Robert De Niro</c:v>
                </c:pt>
                <c:pt idx="2">
                  <c:v>Nicolas Cage</c:v>
                </c:pt>
                <c:pt idx="3">
                  <c:v>Tom Cruise</c:v>
                </c:pt>
                <c:pt idx="4">
                  <c:v>Brad Pitt</c:v>
                </c:pt>
                <c:pt idx="5">
                  <c:v>Johnny Depp</c:v>
                </c:pt>
                <c:pt idx="6">
                  <c:v>Matt Damon</c:v>
                </c:pt>
                <c:pt idx="7">
                  <c:v>Mark Wahlberg</c:v>
                </c:pt>
              </c:strCache>
            </c:strRef>
          </c:cat>
          <c:val>
            <c:numRef>
              <c:f>0</c:f>
              <c:numCache>
                <c:formatCode>General</c:formatCode>
                <c:ptCount val="8"/>
                <c:pt idx="0">
                  <c:v>77</c:v>
                </c:pt>
                <c:pt idx="1">
                  <c:v>72</c:v>
                </c:pt>
                <c:pt idx="2">
                  <c:v>62</c:v>
                </c:pt>
                <c:pt idx="3">
                  <c:v>62</c:v>
                </c:pt>
                <c:pt idx="4">
                  <c:v>58</c:v>
                </c:pt>
                <c:pt idx="5">
                  <c:v>57</c:v>
                </c:pt>
                <c:pt idx="6">
                  <c:v>57</c:v>
                </c:pt>
                <c:pt idx="7">
                  <c:v>57</c:v>
                </c:pt>
              </c:numCache>
            </c:numRef>
          </c:val>
          <c:extLst>
            <c:ext xmlns:c16="http://schemas.microsoft.com/office/drawing/2014/chart" uri="{C3380CC4-5D6E-409C-BE32-E72D297353CC}">
              <c16:uniqueId val="{00000000-E19C-49B3-98DB-056E4E104056}"/>
            </c:ext>
          </c:extLst>
        </c:ser>
        <c:dLbls>
          <c:showLegendKey val="0"/>
          <c:showVal val="0"/>
          <c:showCatName val="0"/>
          <c:showSerName val="0"/>
          <c:showPercent val="0"/>
          <c:showBubbleSize val="0"/>
        </c:dLbls>
        <c:gapWidth val="150"/>
        <c:axId val="49845773"/>
        <c:axId val="85936789"/>
      </c:barChart>
      <c:catAx>
        <c:axId val="49845773"/>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950" b="0" u="none" strike="noStrike">
                <a:solidFill>
                  <a:srgbClr val="6B6B7B"/>
                </a:solidFill>
                <a:uFillTx/>
                <a:latin typeface="Arial"/>
              </a:defRPr>
            </a:pPr>
            <a:endParaRPr lang="en-US"/>
          </a:p>
        </c:txPr>
        <c:crossAx val="85936789"/>
        <c:crosses val="autoZero"/>
        <c:auto val="1"/>
        <c:lblAlgn val="ctr"/>
        <c:lblOffset val="100"/>
        <c:noMultiLvlLbl val="0"/>
      </c:catAx>
      <c:valAx>
        <c:axId val="85936789"/>
        <c:scaling>
          <c:orientation val="minMax"/>
          <c:max val="90"/>
          <c:min val="0"/>
        </c:scaling>
        <c:delete val="0"/>
        <c:axPos val="l"/>
        <c:majorGridlines>
          <c:spPr>
            <a:ln w="6480">
              <a:solidFill>
                <a:srgbClr val="EAEAEF"/>
              </a:solidFill>
              <a:round/>
            </a:ln>
          </c:spPr>
        </c:majorGridlines>
        <c:numFmt formatCode="General" sourceLinked="0"/>
        <c:majorTickMark val="out"/>
        <c:minorTickMark val="none"/>
        <c:tickLblPos val="nextTo"/>
        <c:spPr>
          <a:ln w="12600">
            <a:solidFill>
              <a:srgbClr val="888888"/>
            </a:solidFill>
            <a:round/>
          </a:ln>
        </c:spPr>
        <c:txPr>
          <a:bodyPr/>
          <a:lstStyle/>
          <a:p>
            <a:pPr>
              <a:defRPr sz="1000" b="0" u="none" strike="noStrike">
                <a:solidFill>
                  <a:srgbClr val="6B6B7B"/>
                </a:solidFill>
                <a:uFillTx/>
                <a:latin typeface="Arial"/>
              </a:defRPr>
            </a:pPr>
            <a:endParaRPr lang="en-US"/>
          </a:p>
        </c:txPr>
        <c:crossAx val="49845773"/>
        <c:crosses val="autoZero"/>
        <c:crossBetween val="between"/>
      </c:valAx>
      <c:spPr>
        <a:noFill/>
        <a:ln w="0">
          <a:noFill/>
        </a:ln>
      </c:spPr>
    </c:plotArea>
    <c:plotVisOnly val="1"/>
    <c:dispBlanksAs val="span"/>
    <c:showDLblsOverMax val="1"/>
  </c:chart>
  <c:spPr>
    <a:solidFill>
      <a:srgbClr val="FFFFFF"/>
    </a:solid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label 0</c:f>
              <c:strCache>
                <c:ptCount val="1"/>
                <c:pt idx="0">
                  <c:v>Modularity</c:v>
                </c:pt>
              </c:strCache>
            </c:strRef>
          </c:tx>
          <c:spPr>
            <a:solidFill>
              <a:srgbClr val="E94560"/>
            </a:solidFill>
            <a:ln w="0">
              <a:noFill/>
            </a:ln>
          </c:spPr>
          <c:invertIfNegative val="0"/>
          <c:dPt>
            <c:idx val="0"/>
            <c:invertIfNegative val="0"/>
            <c:bubble3D val="0"/>
            <c:extLst>
              <c:ext xmlns:c16="http://schemas.microsoft.com/office/drawing/2014/chart" uri="{C3380CC4-5D6E-409C-BE32-E72D297353CC}">
                <c16:uniqueId val="{00000001-9F5B-4E14-93BF-F001DFB6CA6D}"/>
              </c:ext>
            </c:extLst>
          </c:dPt>
          <c:dPt>
            <c:idx val="1"/>
            <c:invertIfNegative val="0"/>
            <c:bubble3D val="0"/>
            <c:spPr>
              <a:solidFill>
                <a:srgbClr val="0F8B8D"/>
              </a:solidFill>
              <a:ln w="0">
                <a:noFill/>
              </a:ln>
            </c:spPr>
            <c:extLst>
              <c:ext xmlns:c16="http://schemas.microsoft.com/office/drawing/2014/chart" uri="{C3380CC4-5D6E-409C-BE32-E72D297353CC}">
                <c16:uniqueId val="{00000003-9F5B-4E14-93BF-F001DFB6CA6D}"/>
              </c:ext>
            </c:extLst>
          </c:dPt>
          <c:dPt>
            <c:idx val="2"/>
            <c:invertIfNegative val="0"/>
            <c:bubble3D val="0"/>
            <c:spPr>
              <a:solidFill>
                <a:srgbClr val="E8A317"/>
              </a:solidFill>
              <a:ln w="0">
                <a:noFill/>
              </a:ln>
            </c:spPr>
            <c:extLst>
              <c:ext xmlns:c16="http://schemas.microsoft.com/office/drawing/2014/chart" uri="{C3380CC4-5D6E-409C-BE32-E72D297353CC}">
                <c16:uniqueId val="{00000005-9F5B-4E14-93BF-F001DFB6CA6D}"/>
              </c:ext>
            </c:extLst>
          </c:dPt>
          <c:dLbls>
            <c:dLbl>
              <c:idx val="0"/>
              <c:numFmt formatCode="0.00" sourceLinked="0"/>
              <c:spPr/>
              <c:txPr>
                <a:bodyPr wrap="square"/>
                <a:lstStyle/>
                <a:p>
                  <a:pPr>
                    <a:defRPr sz="1100" b="0" u="none" strike="noStrike">
                      <a:solidFill>
                        <a:srgbClr val="1A1A2E"/>
                      </a:solidFill>
                      <a:uFillTx/>
                      <a:latin typeface="Arial"/>
                    </a:defRPr>
                  </a:pPr>
                  <a:endParaRPr lang="en-US"/>
                </a:p>
              </c:txPr>
              <c:dLblPos val="outEnd"/>
              <c:showLegendKey val="0"/>
              <c:showVal val="1"/>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9F5B-4E14-93BF-F001DFB6CA6D}"/>
                </c:ext>
              </c:extLst>
            </c:dLbl>
            <c:dLbl>
              <c:idx val="1"/>
              <c:numFmt formatCode="0.00" sourceLinked="0"/>
              <c:spPr/>
              <c:txPr>
                <a:bodyPr wrap="square"/>
                <a:lstStyle/>
                <a:p>
                  <a:pPr>
                    <a:defRPr sz="1100" b="0" u="none" strike="noStrike">
                      <a:solidFill>
                        <a:srgbClr val="1A1A2E"/>
                      </a:solidFill>
                      <a:uFillTx/>
                      <a:latin typeface="Arial"/>
                    </a:defRPr>
                  </a:pPr>
                  <a:endParaRPr lang="en-US"/>
                </a:p>
              </c:txPr>
              <c:dLblPos val="outEnd"/>
              <c:showLegendKey val="0"/>
              <c:showVal val="1"/>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9F5B-4E14-93BF-F001DFB6CA6D}"/>
                </c:ext>
              </c:extLst>
            </c:dLbl>
            <c:dLbl>
              <c:idx val="2"/>
              <c:numFmt formatCode="0.00" sourceLinked="0"/>
              <c:spPr/>
              <c:txPr>
                <a:bodyPr wrap="square"/>
                <a:lstStyle/>
                <a:p>
                  <a:pPr>
                    <a:defRPr sz="1100" b="0" u="none" strike="noStrike">
                      <a:solidFill>
                        <a:srgbClr val="1A1A2E"/>
                      </a:solidFill>
                      <a:uFillTx/>
                      <a:latin typeface="Arial"/>
                    </a:defRPr>
                  </a:pPr>
                  <a:endParaRPr lang="en-US"/>
                </a:p>
              </c:txPr>
              <c:dLblPos val="outEnd"/>
              <c:showLegendKey val="0"/>
              <c:showVal val="1"/>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5-9F5B-4E14-93BF-F001DFB6CA6D}"/>
                </c:ext>
              </c:extLst>
            </c:dLbl>
            <c:numFmt formatCode="0.00" sourceLinked="0"/>
            <c:spPr>
              <a:noFill/>
              <a:ln>
                <a:noFill/>
              </a:ln>
              <a:effectLst/>
            </c:spPr>
            <c:txPr>
              <a:bodyPr wrap="square"/>
              <a:lstStyle/>
              <a:p>
                <a:pPr>
                  <a:defRPr sz="1100" b="0" u="none" strike="noStrike">
                    <a:solidFill>
                      <a:srgbClr val="1A1A2E"/>
                    </a:solidFill>
                    <a:uFillTx/>
                    <a:latin typeface="Arial"/>
                  </a:defRPr>
                </a:pPr>
                <a:endParaRPr lang="en-US"/>
              </a:p>
            </c:txPr>
            <c:dLblPos val="outEnd"/>
            <c:showLegendKey val="0"/>
            <c:showVal val="1"/>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categories</c:f>
              <c:strCache>
                <c:ptCount val="3"/>
                <c:pt idx="0">
                  <c:v>Real</c:v>
                </c:pt>
                <c:pt idx="1">
                  <c:v>Random (ER)</c:v>
                </c:pt>
                <c:pt idx="2">
                  <c:v>Scale-Free (BA)</c:v>
                </c:pt>
              </c:strCache>
            </c:strRef>
          </c:cat>
          <c:val>
            <c:numRef>
              <c:f>0</c:f>
              <c:numCache>
                <c:formatCode>General</c:formatCode>
                <c:ptCount val="3"/>
                <c:pt idx="0">
                  <c:v>0.55000000000000004</c:v>
                </c:pt>
                <c:pt idx="1">
                  <c:v>0.45</c:v>
                </c:pt>
                <c:pt idx="2">
                  <c:v>0.53</c:v>
                </c:pt>
              </c:numCache>
            </c:numRef>
          </c:val>
          <c:extLst>
            <c:ext xmlns:c16="http://schemas.microsoft.com/office/drawing/2014/chart" uri="{C3380CC4-5D6E-409C-BE32-E72D297353CC}">
              <c16:uniqueId val="{00000006-9F5B-4E14-93BF-F001DFB6CA6D}"/>
            </c:ext>
          </c:extLst>
        </c:ser>
        <c:dLbls>
          <c:showLegendKey val="0"/>
          <c:showVal val="0"/>
          <c:showCatName val="0"/>
          <c:showSerName val="0"/>
          <c:showPercent val="0"/>
          <c:showBubbleSize val="0"/>
        </c:dLbls>
        <c:gapWidth val="150"/>
        <c:axId val="54510669"/>
        <c:axId val="88829255"/>
      </c:barChart>
      <c:catAx>
        <c:axId val="54510669"/>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000" b="0" u="none" strike="noStrike">
                <a:solidFill>
                  <a:srgbClr val="6B6B7B"/>
                </a:solidFill>
                <a:uFillTx/>
                <a:latin typeface="Arial"/>
              </a:defRPr>
            </a:pPr>
            <a:endParaRPr lang="en-US"/>
          </a:p>
        </c:txPr>
        <c:crossAx val="88829255"/>
        <c:crosses val="autoZero"/>
        <c:auto val="1"/>
        <c:lblAlgn val="ctr"/>
        <c:lblOffset val="100"/>
        <c:noMultiLvlLbl val="0"/>
      </c:catAx>
      <c:valAx>
        <c:axId val="88829255"/>
        <c:scaling>
          <c:orientation val="minMax"/>
          <c:max val="0.7"/>
          <c:min val="0"/>
        </c:scaling>
        <c:delete val="0"/>
        <c:axPos val="l"/>
        <c:majorGridlines>
          <c:spPr>
            <a:ln w="6480">
              <a:solidFill>
                <a:srgbClr val="EAEAEF"/>
              </a:solidFill>
              <a:round/>
            </a:ln>
          </c:spPr>
        </c:majorGridlines>
        <c:numFmt formatCode="General" sourceLinked="0"/>
        <c:majorTickMark val="out"/>
        <c:minorTickMark val="none"/>
        <c:tickLblPos val="nextTo"/>
        <c:spPr>
          <a:ln w="12600">
            <a:solidFill>
              <a:srgbClr val="888888"/>
            </a:solidFill>
            <a:round/>
          </a:ln>
        </c:spPr>
        <c:txPr>
          <a:bodyPr/>
          <a:lstStyle/>
          <a:p>
            <a:pPr>
              <a:defRPr sz="900" b="0" u="none" strike="noStrike">
                <a:solidFill>
                  <a:srgbClr val="6B6B7B"/>
                </a:solidFill>
                <a:uFillTx/>
                <a:latin typeface="Arial"/>
              </a:defRPr>
            </a:pPr>
            <a:endParaRPr lang="en-US"/>
          </a:p>
        </c:txPr>
        <c:crossAx val="54510669"/>
        <c:crosses val="autoZero"/>
        <c:crossBetween val="between"/>
      </c:valAx>
      <c:spPr>
        <a:noFill/>
        <a:ln w="0">
          <a:noFill/>
        </a:ln>
      </c:spPr>
    </c:plotArea>
    <c:plotVisOnly val="1"/>
    <c:dispBlanksAs val="span"/>
    <c:showDLblsOverMax val="1"/>
  </c:chart>
  <c:spPr>
    <a:solidFill>
      <a:srgbClr val="FFFFFF"/>
    </a:solid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 </a:t>
            </a: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E0E3A16-1419-49EA-AAC5-0CC99DA74785}"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PlaceHolder 1"/>
          <p:cNvSpPr>
            <a:spLocks noGrp="1" noRot="1" noChangeAspect="1"/>
          </p:cNvSpPr>
          <p:nvPr>
            <p:ph type="sldImg"/>
          </p:nvPr>
        </p:nvSpPr>
        <p:spPr>
          <a:xfrm>
            <a:off x="685800" y="1143000"/>
            <a:ext cx="5486400" cy="3086100"/>
          </a:xfrm>
          <a:prstGeom prst="rect">
            <a:avLst/>
          </a:prstGeom>
          <a:ln w="0">
            <a:noFill/>
          </a:ln>
        </p:spPr>
      </p:sp>
      <p:sp>
        <p:nvSpPr>
          <p:cNvPr id="3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Hello, my name is REM and today I’ll be presenting my project on a Network based on ac tor co-appearances.</a:t>
            </a:r>
          </a:p>
        </p:txBody>
      </p:sp>
      <p:sp>
        <p:nvSpPr>
          <p:cNvPr id="350"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72BCB9-D286-4C60-97C7-B94B51140EE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PlaceHolder 1"/>
          <p:cNvSpPr>
            <a:spLocks noGrp="1" noRot="1" noChangeAspect="1"/>
          </p:cNvSpPr>
          <p:nvPr>
            <p:ph type="sldImg"/>
          </p:nvPr>
        </p:nvSpPr>
        <p:spPr>
          <a:xfrm>
            <a:off x="685800" y="1143000"/>
            <a:ext cx="5486400" cy="3086100"/>
          </a:xfrm>
          <a:prstGeom prst="rect">
            <a:avLst/>
          </a:prstGeom>
          <a:ln w="0">
            <a:noFill/>
          </a:ln>
        </p:spPr>
      </p:sp>
      <p:sp>
        <p:nvSpPr>
          <p:cNvPr id="3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The data was first scraped from </a:t>
            </a:r>
            <a:r>
              <a:rPr lang="en-US" sz="2000" b="0" u="none" strike="noStrike" dirty="0" err="1">
                <a:solidFill>
                  <a:srgbClr val="000000"/>
                </a:solidFill>
                <a:effectLst/>
                <a:uFillTx/>
                <a:latin typeface="Arial"/>
              </a:rPr>
              <a:t>imdb</a:t>
            </a:r>
            <a:r>
              <a:rPr lang="en-US" sz="2000" b="0" u="none" strike="noStrike" dirty="0">
                <a:solidFill>
                  <a:srgbClr val="000000"/>
                </a:solidFill>
                <a:effectLst/>
                <a:uFillTx/>
                <a:latin typeface="Arial"/>
              </a:rPr>
              <a:t> top few thousands and then from a specialized </a:t>
            </a:r>
            <a:r>
              <a:rPr lang="en-US" sz="2000" b="0" u="none" strike="noStrike" dirty="0" err="1">
                <a:solidFill>
                  <a:srgbClr val="000000"/>
                </a:solidFill>
                <a:effectLst/>
                <a:uFillTx/>
                <a:latin typeface="Arial"/>
              </a:rPr>
              <a:t>api</a:t>
            </a:r>
            <a:r>
              <a:rPr lang="en-US" sz="2000" b="0" u="none" strike="noStrike" dirty="0">
                <a:solidFill>
                  <a:srgbClr val="000000"/>
                </a:solidFill>
                <a:effectLst/>
                <a:uFillTx/>
                <a:latin typeface="Arial"/>
              </a:rPr>
              <a:t> built for getting more details about movies. We ended up with around 3500 actors and 8500 links between them. The actors will be represented by nodes, and if 2 actors appear in the same movie, they get linked.</a:t>
            </a:r>
          </a:p>
        </p:txBody>
      </p:sp>
      <p:sp>
        <p:nvSpPr>
          <p:cNvPr id="353"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136D548-4E06-48F0-BDC7-BA8BA3D9A10C}"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PlaceHolder 1"/>
          <p:cNvSpPr>
            <a:spLocks noGrp="1" noRot="1" noChangeAspect="1"/>
          </p:cNvSpPr>
          <p:nvPr>
            <p:ph type="sldImg"/>
          </p:nvPr>
        </p:nvSpPr>
        <p:spPr>
          <a:xfrm>
            <a:off x="685800" y="1143000"/>
            <a:ext cx="5486400" cy="3086100"/>
          </a:xfrm>
          <a:prstGeom prst="rect">
            <a:avLst/>
          </a:prstGeom>
          <a:ln w="0">
            <a:noFill/>
          </a:ln>
        </p:spPr>
      </p:sp>
      <p:sp>
        <p:nvSpPr>
          <p:cNvPr id="3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Some of the questions we set out to answer would be the following:</a:t>
            </a:r>
            <a:br>
              <a:rPr lang="en-US" sz="2000" b="0" u="none" strike="noStrike" dirty="0">
                <a:solidFill>
                  <a:srgbClr val="000000"/>
                </a:solidFill>
                <a:effectLst/>
                <a:uFillTx/>
                <a:latin typeface="Arial"/>
              </a:rPr>
            </a:br>
            <a:r>
              <a:rPr lang="en-US" sz="2000" b="0" u="none" strike="noStrike" dirty="0">
                <a:solidFill>
                  <a:srgbClr val="000000"/>
                </a:solidFill>
                <a:effectLst/>
                <a:uFillTx/>
                <a:latin typeface="Arial"/>
              </a:rPr>
              <a:t>- What actors sit at the center of the industry</a:t>
            </a:r>
            <a:br>
              <a:rPr lang="en-US" sz="2000" b="0" u="none" strike="noStrike" dirty="0">
                <a:solidFill>
                  <a:srgbClr val="000000"/>
                </a:solidFill>
                <a:effectLst/>
                <a:uFillTx/>
                <a:latin typeface="Arial"/>
              </a:rPr>
            </a:br>
            <a:r>
              <a:rPr lang="en-US" sz="2000" b="0" u="none" strike="noStrike" dirty="0">
                <a:solidFill>
                  <a:srgbClr val="000000"/>
                </a:solidFill>
                <a:effectLst/>
                <a:uFillTx/>
                <a:latin typeface="Arial"/>
              </a:rPr>
              <a:t>- Can we recover meaningful clusters like marvel-style franchises or genres just based on who worked with who</a:t>
            </a:r>
            <a:br>
              <a:rPr lang="en-US" sz="2000" b="0" u="none" strike="noStrike" dirty="0">
                <a:solidFill>
                  <a:srgbClr val="000000"/>
                </a:solidFill>
                <a:effectLst/>
                <a:uFillTx/>
                <a:latin typeface="Arial"/>
              </a:rPr>
            </a:br>
            <a:r>
              <a:rPr lang="en-US" sz="2000" b="0" u="none" strike="noStrike" dirty="0">
                <a:solidFill>
                  <a:srgbClr val="000000"/>
                </a:solidFill>
                <a:effectLst/>
                <a:uFillTx/>
                <a:latin typeface="Arial"/>
              </a:rPr>
              <a:t>- What type of network is it?</a:t>
            </a:r>
          </a:p>
        </p:txBody>
      </p:sp>
      <p:sp>
        <p:nvSpPr>
          <p:cNvPr id="356"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95663AB-328B-4CEE-BE8B-07455D9CB6DD}" type="slidenum">
              <a:rPr lang="en-US" sz="1200" b="0" u="none" strike="noStrike">
                <a:solidFill>
                  <a:srgbClr val="000000"/>
                </a:solidFill>
                <a:effectLst/>
                <a:uFillTx/>
                <a:latin typeface="Times New Roman"/>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PlaceHolder 1"/>
          <p:cNvSpPr>
            <a:spLocks noGrp="1" noRot="1" noChangeAspect="1"/>
          </p:cNvSpPr>
          <p:nvPr>
            <p:ph type="sldImg"/>
          </p:nvPr>
        </p:nvSpPr>
        <p:spPr>
          <a:xfrm>
            <a:off x="685800" y="1143000"/>
            <a:ext cx="5486400" cy="3086100"/>
          </a:xfrm>
          <a:prstGeom prst="rect">
            <a:avLst/>
          </a:prstGeom>
          <a:ln w="0">
            <a:noFill/>
          </a:ln>
        </p:spPr>
      </p:sp>
      <p:sp>
        <p:nvSpPr>
          <p:cNvPr id="3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Our network is </a:t>
            </a:r>
            <a:r>
              <a:rPr lang="en-US" sz="2000" b="0" u="none" strike="noStrike" dirty="0" err="1">
                <a:solidFill>
                  <a:srgbClr val="000000"/>
                </a:solidFill>
                <a:effectLst/>
                <a:uFillTx/>
                <a:latin typeface="Arial"/>
              </a:rPr>
              <a:t>gonna</a:t>
            </a:r>
            <a:r>
              <a:rPr lang="en-US" sz="2000" b="0" u="none" strike="noStrike" dirty="0">
                <a:solidFill>
                  <a:srgbClr val="000000"/>
                </a:solidFill>
                <a:effectLst/>
                <a:uFillTx/>
                <a:latin typeface="Arial"/>
              </a:rPr>
              <a:t> get compared to the Random Erdos-</a:t>
            </a:r>
            <a:r>
              <a:rPr lang="en-US" sz="2000" b="0" u="none" strike="noStrike" dirty="0" err="1">
                <a:solidFill>
                  <a:srgbClr val="000000"/>
                </a:solidFill>
                <a:effectLst/>
                <a:uFillTx/>
                <a:latin typeface="Arial"/>
              </a:rPr>
              <a:t>Renyi</a:t>
            </a:r>
            <a:r>
              <a:rPr lang="en-US" sz="2000" b="0" u="none" strike="noStrike" dirty="0">
                <a:solidFill>
                  <a:srgbClr val="000000"/>
                </a:solidFill>
                <a:effectLst/>
                <a:uFillTx/>
                <a:latin typeface="Arial"/>
              </a:rPr>
              <a:t> and Scale-Free </a:t>
            </a:r>
            <a:r>
              <a:rPr lang="en-US" sz="2000" b="0" u="none" strike="noStrike" dirty="0" err="1">
                <a:solidFill>
                  <a:srgbClr val="000000"/>
                </a:solidFill>
                <a:effectLst/>
                <a:uFillTx/>
                <a:latin typeface="Arial"/>
              </a:rPr>
              <a:t>Barabasi</a:t>
            </a:r>
            <a:r>
              <a:rPr lang="en-US" sz="2000" b="0" u="none" strike="noStrike" dirty="0">
                <a:solidFill>
                  <a:srgbClr val="000000"/>
                </a:solidFill>
                <a:effectLst/>
                <a:uFillTx/>
                <a:latin typeface="Arial"/>
              </a:rPr>
              <a:t>-Albert networks.</a:t>
            </a:r>
          </a:p>
        </p:txBody>
      </p:sp>
      <p:sp>
        <p:nvSpPr>
          <p:cNvPr id="359"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07AB82-89FA-4A08-ACB9-DAFEA3C9543D}"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PlaceHolder 1"/>
          <p:cNvSpPr>
            <a:spLocks noGrp="1" noRot="1" noChangeAspect="1"/>
          </p:cNvSpPr>
          <p:nvPr>
            <p:ph type="sldImg"/>
          </p:nvPr>
        </p:nvSpPr>
        <p:spPr>
          <a:xfrm>
            <a:off x="685800" y="1143000"/>
            <a:ext cx="5486400" cy="3086100"/>
          </a:xfrm>
          <a:prstGeom prst="rect">
            <a:avLst/>
          </a:prstGeom>
          <a:ln w="0">
            <a:noFill/>
          </a:ln>
        </p:spPr>
      </p:sp>
      <p:sp>
        <p:nvSpPr>
          <p:cNvPr id="3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Here are all the key numbers side by side. Three things stand out. The maximum degree: the busiest actor has 77 co-stars in real life, but only 13 in the random network. Connected components: the real network breaks into 213 pieces which was expected since not all actors are connected. And clustering: 0.72 in the real network versus something closer to 0 in the other 2. </a:t>
            </a:r>
          </a:p>
        </p:txBody>
      </p:sp>
      <p:sp>
        <p:nvSpPr>
          <p:cNvPr id="362"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E13C184-DB6E-40B8-B138-6707F44F6CF3}"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PlaceHolder 1"/>
          <p:cNvSpPr>
            <a:spLocks noGrp="1" noRot="1" noChangeAspect="1"/>
          </p:cNvSpPr>
          <p:nvPr>
            <p:ph type="sldImg"/>
          </p:nvPr>
        </p:nvSpPr>
        <p:spPr>
          <a:xfrm>
            <a:off x="685800" y="1143000"/>
            <a:ext cx="5486400" cy="3086100"/>
          </a:xfrm>
          <a:prstGeom prst="rect">
            <a:avLst/>
          </a:prstGeom>
          <a:ln w="0">
            <a:noFill/>
          </a:ln>
        </p:spPr>
      </p:sp>
      <p:sp>
        <p:nvSpPr>
          <p:cNvPr id="3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Here are the main 4 numbers that define the network: Clustering of 0.72.  4.6 steps between any two actors. 77 co-stars for the top hub — with tom </a:t>
            </a:r>
            <a:r>
              <a:rPr lang="en-US" sz="2000" b="0" u="none" strike="noStrike" dirty="0" err="1">
                <a:solidFill>
                  <a:srgbClr val="000000"/>
                </a:solidFill>
                <a:effectLst/>
                <a:uFillTx/>
                <a:latin typeface="Arial"/>
              </a:rPr>
              <a:t>Tom</a:t>
            </a:r>
            <a:r>
              <a:rPr lang="en-US" sz="2000" b="0" u="none" strike="noStrike" dirty="0">
                <a:solidFill>
                  <a:srgbClr val="000000"/>
                </a:solidFill>
                <a:effectLst/>
                <a:uFillTx/>
                <a:latin typeface="Arial"/>
              </a:rPr>
              <a:t> Hanks at the top. And 30 distinct communities . </a:t>
            </a:r>
          </a:p>
          <a:p>
            <a:pPr indent="0">
              <a:lnSpc>
                <a:spcPct val="100000"/>
              </a:lnSpc>
              <a:buNone/>
            </a:pPr>
            <a:endParaRPr lang="en-US" sz="2000" b="0" u="none" strike="noStrike" dirty="0">
              <a:solidFill>
                <a:srgbClr val="000000"/>
              </a:solidFill>
              <a:effectLst/>
              <a:uFillTx/>
              <a:latin typeface="Arial"/>
            </a:endParaRPr>
          </a:p>
        </p:txBody>
      </p:sp>
      <p:sp>
        <p:nvSpPr>
          <p:cNvPr id="365"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2651C7-EC3A-43E4-96A9-5F0F31D951EC}"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PlaceHolder 1"/>
          <p:cNvSpPr>
            <a:spLocks noGrp="1" noRot="1" noChangeAspect="1"/>
          </p:cNvSpPr>
          <p:nvPr>
            <p:ph type="sldImg"/>
          </p:nvPr>
        </p:nvSpPr>
        <p:spPr>
          <a:xfrm>
            <a:off x="685800" y="1143000"/>
            <a:ext cx="5486400" cy="3086100"/>
          </a:xfrm>
          <a:prstGeom prst="rect">
            <a:avLst/>
          </a:prstGeom>
          <a:ln w="0">
            <a:noFill/>
          </a:ln>
        </p:spPr>
      </p:sp>
      <p:sp>
        <p:nvSpPr>
          <p:cNvPr id="3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Who is the most important actor? That depends. We measured four ways.  ---- With these answers, we can see that most names get repeated, giving us the following important actors: Tom Hanks, Robert De Niro, Matt Damon and Brad Pitt</a:t>
            </a:r>
          </a:p>
        </p:txBody>
      </p:sp>
      <p:sp>
        <p:nvSpPr>
          <p:cNvPr id="368"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D650CB9-FFD9-4313-AB49-D221E2962474}"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PlaceHolder 1"/>
          <p:cNvSpPr>
            <a:spLocks noGrp="1" noRot="1" noChangeAspect="1"/>
          </p:cNvSpPr>
          <p:nvPr>
            <p:ph type="sldImg"/>
          </p:nvPr>
        </p:nvSpPr>
        <p:spPr>
          <a:xfrm>
            <a:off x="685800" y="1143000"/>
            <a:ext cx="5486400" cy="3086100"/>
          </a:xfrm>
          <a:prstGeom prst="rect">
            <a:avLst/>
          </a:prstGeom>
          <a:ln w="0">
            <a:noFill/>
          </a:ln>
        </p:spPr>
      </p:sp>
      <p:sp>
        <p:nvSpPr>
          <p:cNvPr id="3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Here are a few of the top nodes by degree. We can see that these values are all above 50, while the average sits at around 5. This might also be because of the used data, since for every movie we only had the top 3 highest paid actors.</a:t>
            </a:r>
          </a:p>
        </p:txBody>
      </p:sp>
      <p:sp>
        <p:nvSpPr>
          <p:cNvPr id="371"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DBF60FC-0215-41FB-B06B-172219753C33}"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PlaceHolder 1"/>
          <p:cNvSpPr>
            <a:spLocks noGrp="1" noRot="1" noChangeAspect="1"/>
          </p:cNvSpPr>
          <p:nvPr>
            <p:ph type="sldImg"/>
          </p:nvPr>
        </p:nvSpPr>
        <p:spPr>
          <a:xfrm>
            <a:off x="685800" y="1143000"/>
            <a:ext cx="5486400" cy="3086100"/>
          </a:xfrm>
          <a:prstGeom prst="rect">
            <a:avLst/>
          </a:prstGeom>
          <a:ln w="0">
            <a:noFill/>
          </a:ln>
        </p:spPr>
      </p:sp>
      <p:sp>
        <p:nvSpPr>
          <p:cNvPr id="3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This is a sample of the network, drawn with each community in its own color. </a:t>
            </a:r>
          </a:p>
        </p:txBody>
      </p:sp>
      <p:sp>
        <p:nvSpPr>
          <p:cNvPr id="374"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4662660-5E0F-4042-8342-FE62E55824B4}"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PlaceHolder 1"/>
          <p:cNvSpPr>
            <a:spLocks noGrp="1" noRot="1" noChangeAspect="1"/>
          </p:cNvSpPr>
          <p:nvPr>
            <p:ph type="sldImg"/>
          </p:nvPr>
        </p:nvSpPr>
        <p:spPr>
          <a:xfrm>
            <a:off x="685800" y="1143000"/>
            <a:ext cx="5486400" cy="3086100"/>
          </a:xfrm>
          <a:prstGeom prst="rect">
            <a:avLst/>
          </a:prstGeom>
          <a:ln w="0">
            <a:noFill/>
          </a:ln>
        </p:spPr>
      </p:sp>
      <p:sp>
        <p:nvSpPr>
          <p:cNvPr id="3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Now we have the network down to only the most-connected actors those with 25 or more co-stars. Just 106 actors remain, and they're nearly all linked to each other. This is probably the dense Hollywood core. </a:t>
            </a:r>
          </a:p>
        </p:txBody>
      </p:sp>
      <p:sp>
        <p:nvSpPr>
          <p:cNvPr id="377"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F77E26-7016-4ACB-AB66-FA9A0CDD3813}"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PlaceHolder 1"/>
          <p:cNvSpPr>
            <a:spLocks noGrp="1" noRot="1" noChangeAspect="1"/>
          </p:cNvSpPr>
          <p:nvPr>
            <p:ph type="sldImg"/>
          </p:nvPr>
        </p:nvSpPr>
        <p:spPr>
          <a:xfrm>
            <a:off x="685800" y="1143000"/>
            <a:ext cx="5486400" cy="3086100"/>
          </a:xfrm>
          <a:prstGeom prst="rect">
            <a:avLst/>
          </a:prstGeom>
          <a:ln w="0">
            <a:noFill/>
          </a:ln>
        </p:spPr>
      </p:sp>
      <p:sp>
        <p:nvSpPr>
          <p:cNvPr id="3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30 communities were found, and I tried to manually assign them some labels, and we have: ---</a:t>
            </a:r>
          </a:p>
        </p:txBody>
      </p:sp>
      <p:sp>
        <p:nvSpPr>
          <p:cNvPr id="380"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7839F18-C4D9-4007-9FAC-21380B33BE9A}"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PlaceHolder 1"/>
          <p:cNvSpPr>
            <a:spLocks noGrp="1" noRot="1" noChangeAspect="1"/>
          </p:cNvSpPr>
          <p:nvPr>
            <p:ph type="sldImg"/>
          </p:nvPr>
        </p:nvSpPr>
        <p:spPr>
          <a:xfrm>
            <a:off x="685800" y="1143000"/>
            <a:ext cx="5486400" cy="3086100"/>
          </a:xfrm>
          <a:prstGeom prst="rect">
            <a:avLst/>
          </a:prstGeom>
          <a:ln w="0">
            <a:noFill/>
          </a:ln>
        </p:spPr>
      </p:sp>
      <p:sp>
        <p:nvSpPr>
          <p:cNvPr id="3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Was the Marvel cast recovered? Not really the separation was more on eras and genre groups.</a:t>
            </a:r>
          </a:p>
        </p:txBody>
      </p:sp>
      <p:sp>
        <p:nvSpPr>
          <p:cNvPr id="383"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94EFCB7-C5D1-409F-A6E9-6F478C6E36DF}"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noRot="1" noChangeAspect="1"/>
          </p:cNvSpPr>
          <p:nvPr>
            <p:ph type="sldImg"/>
          </p:nvPr>
        </p:nvSpPr>
        <p:spPr>
          <a:xfrm>
            <a:off x="685800" y="1143000"/>
            <a:ext cx="5486400" cy="3086100"/>
          </a:xfrm>
          <a:prstGeom prst="rect">
            <a:avLst/>
          </a:prstGeom>
          <a:ln w="0">
            <a:noFill/>
          </a:ln>
        </p:spPr>
      </p:sp>
      <p:sp>
        <p:nvSpPr>
          <p:cNvPr id="3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Now the small-world test. A small world means two things at once: any two nodes are only a few steps apart, AND the network is highly clustered. Our network has both. Path length 4.59 versus 5.33 random — actually shorter than random. Clustering 0.65 versus 0.001 random — far higher. The combined small-world ratio is around 880, way above 1. This is exactly the structure behind the six degrees of Kevin Bacon idea.</a:t>
            </a:r>
          </a:p>
        </p:txBody>
      </p:sp>
      <p:sp>
        <p:nvSpPr>
          <p:cNvPr id="386"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688EBC-DD79-468A-AE9C-649880E65FAD}"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PlaceHolder 1"/>
          <p:cNvSpPr>
            <a:spLocks noGrp="1" noRot="1" noChangeAspect="1"/>
          </p:cNvSpPr>
          <p:nvPr>
            <p:ph type="sldImg"/>
          </p:nvPr>
        </p:nvSpPr>
        <p:spPr>
          <a:xfrm>
            <a:off x="685800" y="1143000"/>
            <a:ext cx="5486400" cy="3086100"/>
          </a:xfrm>
          <a:prstGeom prst="rect">
            <a:avLst/>
          </a:prstGeom>
          <a:ln w="0">
            <a:noFill/>
          </a:ln>
        </p:spPr>
      </p:sp>
      <p:sp>
        <p:nvSpPr>
          <p:cNvPr id="3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One additional question: What happens if the hubs disappear? This was tested in 2 ways: removing random actors and removing actors from top hubs. If we remove 500 actors at random, 80 percent of the network is still connected. But if we remove the 500 most-connected actors only 2 percent survives. The drop is drastic.</a:t>
            </a:r>
          </a:p>
        </p:txBody>
      </p:sp>
      <p:sp>
        <p:nvSpPr>
          <p:cNvPr id="389"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4792F32-1560-42A7-A335-232E0DF6C328}" type="slidenum">
              <a:rPr lang="en-US" sz="1200" b="0" u="none" strike="noStrike">
                <a:solidFill>
                  <a:srgbClr val="000000"/>
                </a:solidFill>
                <a:effectLst/>
                <a:uFillTx/>
                <a:latin typeface="Times New Roman"/>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PlaceHolder 1"/>
          <p:cNvSpPr>
            <a:spLocks noGrp="1" noRot="1" noChangeAspect="1"/>
          </p:cNvSpPr>
          <p:nvPr>
            <p:ph type="sldImg"/>
          </p:nvPr>
        </p:nvSpPr>
        <p:spPr>
          <a:xfrm>
            <a:off x="685800" y="1143000"/>
            <a:ext cx="5486400" cy="3086100"/>
          </a:xfrm>
          <a:prstGeom prst="rect">
            <a:avLst/>
          </a:prstGeom>
          <a:ln w="0">
            <a:noFill/>
          </a:ln>
        </p:spPr>
      </p:sp>
      <p:sp>
        <p:nvSpPr>
          <p:cNvPr id="3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Next up we’re </a:t>
            </a:r>
            <a:r>
              <a:rPr lang="en-US" sz="2000" b="0" u="none" strike="noStrike" dirty="0" err="1">
                <a:solidFill>
                  <a:srgbClr val="000000"/>
                </a:solidFill>
                <a:effectLst/>
                <a:uFillTx/>
                <a:latin typeface="Arial"/>
              </a:rPr>
              <a:t>gonna</a:t>
            </a:r>
            <a:r>
              <a:rPr lang="en-US" sz="2000" b="0" u="none" strike="noStrike" dirty="0">
                <a:solidFill>
                  <a:srgbClr val="000000"/>
                </a:solidFill>
                <a:effectLst/>
                <a:uFillTx/>
                <a:latin typeface="Arial"/>
              </a:rPr>
              <a:t> have the 4 distributions for each of the networks: Far left: degree distribution drops off steeply, like a power law. Most actors have few co-stars, a few have many. Second: clustering values spread all the way to 1.0, with lots of high values. Third: betweenness is heavy-tailed, meaning we have a few critical bridge actors. Far right: one giant component, plus many tiny ones from isolated 3-actor movies.</a:t>
            </a:r>
          </a:p>
        </p:txBody>
      </p:sp>
      <p:sp>
        <p:nvSpPr>
          <p:cNvPr id="392"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88AB4F1-1932-4E49-ACB5-35F90AC7993B}"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PlaceHolder 1"/>
          <p:cNvSpPr>
            <a:spLocks noGrp="1" noRot="1" noChangeAspect="1"/>
          </p:cNvSpPr>
          <p:nvPr>
            <p:ph type="sldImg"/>
          </p:nvPr>
        </p:nvSpPr>
        <p:spPr>
          <a:xfrm>
            <a:off x="685800" y="1143000"/>
            <a:ext cx="5486400" cy="3086100"/>
          </a:xfrm>
          <a:prstGeom prst="rect">
            <a:avLst/>
          </a:prstGeom>
          <a:ln w="0">
            <a:noFill/>
          </a:ln>
        </p:spPr>
      </p:sp>
      <p:sp>
        <p:nvSpPr>
          <p:cNvPr id="3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Same four plots for the random network, and we can see that in comparison, Degree is a bell curve. Clustering is very close to zero. Betweenness is squeezed into a narrow range and we have just 1 big component Components.</a:t>
            </a:r>
          </a:p>
        </p:txBody>
      </p:sp>
      <p:sp>
        <p:nvSpPr>
          <p:cNvPr id="395"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4D9ABB7-CEBC-4699-9747-954A83E74D48}"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PlaceHolder 1"/>
          <p:cNvSpPr>
            <a:spLocks noGrp="1" noRot="1" noChangeAspect="1"/>
          </p:cNvSpPr>
          <p:nvPr>
            <p:ph type="sldImg"/>
          </p:nvPr>
        </p:nvSpPr>
        <p:spPr>
          <a:xfrm>
            <a:off x="685800" y="1143000"/>
            <a:ext cx="5486400" cy="3086100"/>
          </a:xfrm>
          <a:prstGeom prst="rect">
            <a:avLst/>
          </a:prstGeom>
          <a:ln w="0">
            <a:noFill/>
          </a:ln>
        </p:spPr>
      </p:sp>
      <p:sp>
        <p:nvSpPr>
          <p:cNvPr id="3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And the scale-free network. Degree shows a clear power-law tail, like our real network, But clustering is still near zero. And it's a single connected component.</a:t>
            </a:r>
          </a:p>
        </p:txBody>
      </p:sp>
      <p:sp>
        <p:nvSpPr>
          <p:cNvPr id="398"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860FB00-5FBB-4975-AE03-C073584BBD11}"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PlaceHolder 1"/>
          <p:cNvSpPr>
            <a:spLocks noGrp="1" noRot="1" noChangeAspect="1"/>
          </p:cNvSpPr>
          <p:nvPr>
            <p:ph type="sldImg"/>
          </p:nvPr>
        </p:nvSpPr>
        <p:spPr>
          <a:xfrm>
            <a:off x="685800" y="1143000"/>
            <a:ext cx="5486400" cy="3086100"/>
          </a:xfrm>
          <a:prstGeom prst="rect">
            <a:avLst/>
          </a:prstGeom>
          <a:ln w="0">
            <a:noFill/>
          </a:ln>
        </p:spPr>
      </p:sp>
      <p:sp>
        <p:nvSpPr>
          <p:cNvPr id="4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So what type of network is this We have short paths with very high clustering. We have Strong communities: confirmed, with 30 interpretable groups. And we have Heavy-tailed degrees. The conclusion is that our actor network is a small-world network with hubs and strong community structure. One things I should have done, is also generate a mock small-world network to compare to.</a:t>
            </a:r>
          </a:p>
        </p:txBody>
      </p:sp>
      <p:sp>
        <p:nvSpPr>
          <p:cNvPr id="401"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1645508-11FC-46BD-AD09-0480BBB79874}"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PlaceHolder 1"/>
          <p:cNvSpPr>
            <a:spLocks noGrp="1" noRot="1" noChangeAspect="1"/>
          </p:cNvSpPr>
          <p:nvPr>
            <p:ph type="sldImg"/>
          </p:nvPr>
        </p:nvSpPr>
        <p:spPr>
          <a:xfrm>
            <a:off x="685800" y="1143000"/>
            <a:ext cx="5486400" cy="3086100"/>
          </a:xfrm>
          <a:prstGeom prst="rect">
            <a:avLst/>
          </a:prstGeom>
          <a:ln w="0">
            <a:noFill/>
          </a:ln>
        </p:spPr>
      </p:sp>
      <p:sp>
        <p:nvSpPr>
          <p:cNvPr id="4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dirty="0">
                <a:solidFill>
                  <a:srgbClr val="000000"/>
                </a:solidFill>
                <a:effectLst/>
                <a:uFillTx/>
                <a:latin typeface="Arial"/>
              </a:rPr>
              <a:t>We also have a table of what was expected and what was actually discovered, about everything I’ve talked about so far.</a:t>
            </a:r>
          </a:p>
        </p:txBody>
      </p:sp>
      <p:sp>
        <p:nvSpPr>
          <p:cNvPr id="404"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42FA955-391A-43E2-A1DE-1D38FC2CDF4A}"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PlaceHolder 1"/>
          <p:cNvSpPr>
            <a:spLocks noGrp="1" noRot="1" noChangeAspect="1"/>
          </p:cNvSpPr>
          <p:nvPr>
            <p:ph type="sldImg"/>
          </p:nvPr>
        </p:nvSpPr>
        <p:spPr>
          <a:xfrm>
            <a:off x="685800" y="1143000"/>
            <a:ext cx="5486400" cy="3086100"/>
          </a:xfrm>
          <a:prstGeom prst="rect">
            <a:avLst/>
          </a:prstGeom>
          <a:ln w="0">
            <a:noFill/>
          </a:ln>
        </p:spPr>
      </p:sp>
      <p:sp>
        <p:nvSpPr>
          <p:cNvPr id="4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endParaRPr lang="en-US" sz="2000" b="0" u="none" strike="noStrike" dirty="0">
              <a:solidFill>
                <a:srgbClr val="000000"/>
              </a:solidFill>
              <a:effectLst/>
              <a:uFillTx/>
              <a:latin typeface="Arial"/>
            </a:endParaRPr>
          </a:p>
        </p:txBody>
      </p:sp>
      <p:sp>
        <p:nvSpPr>
          <p:cNvPr id="407"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6AFD11-BB80-423B-9966-72D78C2A156B}"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10" name="Shape 0"/>
          <p:cNvSpPr/>
          <p:nvPr/>
        </p:nvSpPr>
        <p:spPr>
          <a:xfrm flipV="1">
            <a:off x="9866160" y="813600"/>
            <a:ext cx="822960" cy="18288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1" name="Shape 1"/>
          <p:cNvSpPr/>
          <p:nvPr/>
        </p:nvSpPr>
        <p:spPr>
          <a:xfrm>
            <a:off x="10689120" y="813600"/>
            <a:ext cx="731520" cy="45720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2" name="Shape 2"/>
          <p:cNvSpPr/>
          <p:nvPr/>
        </p:nvSpPr>
        <p:spPr>
          <a:xfrm flipH="1">
            <a:off x="10231920" y="813600"/>
            <a:ext cx="457200" cy="100584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3" name="Shape 3"/>
          <p:cNvSpPr/>
          <p:nvPr/>
        </p:nvSpPr>
        <p:spPr>
          <a:xfrm>
            <a:off x="10231920" y="1819440"/>
            <a:ext cx="822960" cy="27432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4" name="Shape 4"/>
          <p:cNvSpPr/>
          <p:nvPr/>
        </p:nvSpPr>
        <p:spPr>
          <a:xfrm flipH="1">
            <a:off x="9591840" y="1819440"/>
            <a:ext cx="640080" cy="54864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5" name="Shape 5"/>
          <p:cNvSpPr/>
          <p:nvPr/>
        </p:nvSpPr>
        <p:spPr>
          <a:xfrm flipH="1">
            <a:off x="10780560" y="2093760"/>
            <a:ext cx="274320" cy="73152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6" name="Shape 6"/>
          <p:cNvSpPr/>
          <p:nvPr/>
        </p:nvSpPr>
        <p:spPr>
          <a:xfrm flipV="1">
            <a:off x="10780560" y="2550960"/>
            <a:ext cx="822960" cy="27432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7" name="Shape 7"/>
          <p:cNvSpPr/>
          <p:nvPr/>
        </p:nvSpPr>
        <p:spPr>
          <a:xfrm>
            <a:off x="9591840" y="2368080"/>
            <a:ext cx="457200" cy="100584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8" name="Shape 8"/>
          <p:cNvSpPr/>
          <p:nvPr/>
        </p:nvSpPr>
        <p:spPr>
          <a:xfrm>
            <a:off x="10049040" y="3373920"/>
            <a:ext cx="1097280" cy="27432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9" name="Shape 9"/>
          <p:cNvSpPr/>
          <p:nvPr/>
        </p:nvSpPr>
        <p:spPr>
          <a:xfrm>
            <a:off x="10780560" y="2825280"/>
            <a:ext cx="365760" cy="82296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20" name="Shape 10"/>
          <p:cNvSpPr/>
          <p:nvPr/>
        </p:nvSpPr>
        <p:spPr>
          <a:xfrm>
            <a:off x="9784080" y="914400"/>
            <a:ext cx="164160" cy="164160"/>
          </a:xfrm>
          <a:prstGeom prst="ellipse">
            <a:avLst/>
          </a:prstGeom>
          <a:solidFill>
            <a:srgbClr val="FFFFFF"/>
          </a:solidFill>
          <a:ln w="6350">
            <a:solidFill>
              <a:srgbClr val="1A1A2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 name="Shape 11"/>
          <p:cNvSpPr/>
          <p:nvPr/>
        </p:nvSpPr>
        <p:spPr>
          <a:xfrm>
            <a:off x="10607040" y="731520"/>
            <a:ext cx="310680" cy="310680"/>
          </a:xfrm>
          <a:prstGeom prst="ellipse">
            <a:avLst/>
          </a:prstGeom>
          <a:solidFill>
            <a:srgbClr val="E94560"/>
          </a:solidFill>
          <a:ln w="6350">
            <a:solidFill>
              <a:srgbClr val="1A1A2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 name="Shape 12"/>
          <p:cNvSpPr/>
          <p:nvPr/>
        </p:nvSpPr>
        <p:spPr>
          <a:xfrm>
            <a:off x="11338560" y="1188720"/>
            <a:ext cx="164160" cy="164160"/>
          </a:xfrm>
          <a:prstGeom prst="ellipse">
            <a:avLst/>
          </a:prstGeom>
          <a:solidFill>
            <a:srgbClr val="FFFFFF"/>
          </a:solidFill>
          <a:ln w="6350">
            <a:solidFill>
              <a:srgbClr val="1A1A2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 name="Shape 13"/>
          <p:cNvSpPr/>
          <p:nvPr/>
        </p:nvSpPr>
        <p:spPr>
          <a:xfrm>
            <a:off x="10149840" y="1737360"/>
            <a:ext cx="310680" cy="310680"/>
          </a:xfrm>
          <a:prstGeom prst="ellipse">
            <a:avLst/>
          </a:prstGeom>
          <a:solidFill>
            <a:srgbClr val="E94560"/>
          </a:solidFill>
          <a:ln w="6350">
            <a:solidFill>
              <a:srgbClr val="1A1A2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 name="Shape 14"/>
          <p:cNvSpPr/>
          <p:nvPr/>
        </p:nvSpPr>
        <p:spPr>
          <a:xfrm>
            <a:off x="10972800" y="2011680"/>
            <a:ext cx="164160" cy="164160"/>
          </a:xfrm>
          <a:prstGeom prst="ellipse">
            <a:avLst/>
          </a:prstGeom>
          <a:solidFill>
            <a:srgbClr val="FFFFFF"/>
          </a:solidFill>
          <a:ln w="6350">
            <a:solidFill>
              <a:srgbClr val="1A1A2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 name="Shape 15"/>
          <p:cNvSpPr/>
          <p:nvPr/>
        </p:nvSpPr>
        <p:spPr>
          <a:xfrm>
            <a:off x="9509760" y="2286000"/>
            <a:ext cx="164160" cy="164160"/>
          </a:xfrm>
          <a:prstGeom prst="ellipse">
            <a:avLst/>
          </a:prstGeom>
          <a:solidFill>
            <a:srgbClr val="FFFFFF"/>
          </a:solidFill>
          <a:ln w="6350">
            <a:solidFill>
              <a:srgbClr val="1A1A2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 name="Shape 16"/>
          <p:cNvSpPr/>
          <p:nvPr/>
        </p:nvSpPr>
        <p:spPr>
          <a:xfrm>
            <a:off x="10698480" y="2743200"/>
            <a:ext cx="310680" cy="310680"/>
          </a:xfrm>
          <a:prstGeom prst="ellipse">
            <a:avLst/>
          </a:prstGeom>
          <a:solidFill>
            <a:srgbClr val="E94560"/>
          </a:solidFill>
          <a:ln w="6350">
            <a:solidFill>
              <a:srgbClr val="1A1A2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 name="Shape 17"/>
          <p:cNvSpPr/>
          <p:nvPr/>
        </p:nvSpPr>
        <p:spPr>
          <a:xfrm>
            <a:off x="11521440" y="2468880"/>
            <a:ext cx="164160" cy="164160"/>
          </a:xfrm>
          <a:prstGeom prst="ellipse">
            <a:avLst/>
          </a:prstGeom>
          <a:solidFill>
            <a:srgbClr val="FFFFFF"/>
          </a:solidFill>
          <a:ln w="6350">
            <a:solidFill>
              <a:srgbClr val="1A1A2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 name="Shape 18"/>
          <p:cNvSpPr/>
          <p:nvPr/>
        </p:nvSpPr>
        <p:spPr>
          <a:xfrm>
            <a:off x="9966960" y="3291840"/>
            <a:ext cx="164160" cy="164160"/>
          </a:xfrm>
          <a:prstGeom prst="ellipse">
            <a:avLst/>
          </a:prstGeom>
          <a:solidFill>
            <a:srgbClr val="FFFFFF"/>
          </a:solidFill>
          <a:ln w="6350">
            <a:solidFill>
              <a:srgbClr val="1A1A2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 name="Shape 19"/>
          <p:cNvSpPr/>
          <p:nvPr/>
        </p:nvSpPr>
        <p:spPr>
          <a:xfrm>
            <a:off x="11064240" y="3566160"/>
            <a:ext cx="164160" cy="164160"/>
          </a:xfrm>
          <a:prstGeom prst="ellipse">
            <a:avLst/>
          </a:prstGeom>
          <a:solidFill>
            <a:srgbClr val="FFFFFF"/>
          </a:solidFill>
          <a:ln w="6350">
            <a:solidFill>
              <a:srgbClr val="1A1A2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 name="Text 20"/>
          <p:cNvSpPr/>
          <p:nvPr/>
        </p:nvSpPr>
        <p:spPr>
          <a:xfrm>
            <a:off x="822960" y="196596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300">
                <a:solidFill>
                  <a:srgbClr val="E94560"/>
                </a:solidFill>
                <a:effectLst/>
                <a:uFillTx/>
                <a:latin typeface="Calibri"/>
                <a:ea typeface="Calibri"/>
              </a:rPr>
              <a:t>COMPLEX NETWORKS</a:t>
            </a:r>
            <a:endParaRPr lang="en-US" sz="1400" b="0" u="none" strike="noStrike">
              <a:solidFill>
                <a:srgbClr val="FFFFFF"/>
              </a:solidFill>
              <a:effectLst/>
              <a:uFillTx/>
              <a:latin typeface="Arial"/>
            </a:endParaRPr>
          </a:p>
          <a:p>
            <a:pPr defTabSz="914400">
              <a:lnSpc>
                <a:spcPct val="100000"/>
              </a:lnSpc>
              <a:tabLst>
                <a:tab pos="0" algn="l"/>
              </a:tabLst>
            </a:pPr>
            <a:r>
              <a:rPr lang="en-US" sz="1400" b="1" u="none" strike="noStrike" spc="300">
                <a:solidFill>
                  <a:srgbClr val="E94560"/>
                </a:solidFill>
                <a:effectLst/>
                <a:uFillTx/>
                <a:latin typeface="Calibri"/>
                <a:ea typeface="Calibri"/>
              </a:rPr>
              <a:t> </a:t>
            </a:r>
            <a:endParaRPr lang="en-US" sz="1400" b="0" u="none" strike="noStrike">
              <a:solidFill>
                <a:srgbClr val="FFFFFF"/>
              </a:solidFill>
              <a:effectLst/>
              <a:uFillTx/>
              <a:latin typeface="Arial"/>
            </a:endParaRPr>
          </a:p>
        </p:txBody>
      </p:sp>
      <p:sp>
        <p:nvSpPr>
          <p:cNvPr id="31" name="Text 21"/>
          <p:cNvSpPr/>
          <p:nvPr/>
        </p:nvSpPr>
        <p:spPr>
          <a:xfrm>
            <a:off x="777240" y="2331720"/>
            <a:ext cx="850356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5000"/>
              </a:lnSpc>
              <a:tabLst>
                <a:tab pos="0" algn="l"/>
              </a:tabLst>
            </a:pPr>
            <a:r>
              <a:rPr lang="en-US" sz="4600" b="1" u="none" strike="noStrike">
                <a:solidFill>
                  <a:srgbClr val="FFFFFF"/>
                </a:solidFill>
                <a:effectLst/>
                <a:uFillTx/>
                <a:latin typeface="Georgia"/>
                <a:ea typeface="Georgia"/>
              </a:rPr>
              <a:t>The Actor</a:t>
            </a:r>
            <a:endParaRPr lang="en-US" sz="4600" b="0" u="none" strike="noStrike">
              <a:solidFill>
                <a:srgbClr val="FFFFFF"/>
              </a:solidFill>
              <a:effectLst/>
              <a:uFillTx/>
              <a:latin typeface="Arial"/>
            </a:endParaRPr>
          </a:p>
          <a:p>
            <a:pPr defTabSz="914400">
              <a:lnSpc>
                <a:spcPts val="5000"/>
              </a:lnSpc>
              <a:tabLst>
                <a:tab pos="0" algn="l"/>
              </a:tabLst>
            </a:pPr>
            <a:r>
              <a:rPr lang="en-US" sz="4600" b="1" u="none" strike="noStrike">
                <a:solidFill>
                  <a:srgbClr val="FFFFFF"/>
                </a:solidFill>
                <a:effectLst/>
                <a:uFillTx/>
                <a:latin typeface="Georgia"/>
                <a:ea typeface="Georgia"/>
              </a:rPr>
              <a:t>Co-Appearance Network</a:t>
            </a:r>
            <a:endParaRPr lang="en-US" sz="460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THE IDEA</a:t>
            </a:r>
            <a:endParaRPr lang="en-US" sz="1300" b="0" u="none" strike="noStrike">
              <a:solidFill>
                <a:srgbClr val="000000"/>
              </a:solidFill>
              <a:effectLst/>
              <a:uFillTx/>
              <a:latin typeface="Arial"/>
            </a:endParaRPr>
          </a:p>
        </p:txBody>
      </p:sp>
      <p:sp>
        <p:nvSpPr>
          <p:cNvPr id="36"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What network is buried in the data?</a:t>
            </a:r>
            <a:endParaRPr lang="en-US" sz="3200" b="0" u="none" strike="noStrike">
              <a:solidFill>
                <a:srgbClr val="000000"/>
              </a:solidFill>
              <a:effectLst/>
              <a:uFillTx/>
              <a:latin typeface="Arial"/>
            </a:endParaRPr>
          </a:p>
        </p:txBody>
      </p:sp>
      <p:sp>
        <p:nvSpPr>
          <p:cNvPr id="37" name="Text 2"/>
          <p:cNvSpPr/>
          <p:nvPr/>
        </p:nvSpPr>
        <p:spPr>
          <a:xfrm>
            <a:off x="640080" y="1783080"/>
            <a:ext cx="594324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2100"/>
              </a:lnSpc>
              <a:spcAft>
                <a:spcPts val="1199"/>
              </a:spcAft>
              <a:tabLst>
                <a:tab pos="0" algn="l"/>
              </a:tabLst>
            </a:pPr>
            <a:r>
              <a:rPr lang="en-US" sz="1550" b="0" u="none" strike="noStrike" dirty="0">
                <a:solidFill>
                  <a:srgbClr val="1A1A2E"/>
                </a:solidFill>
                <a:effectLst/>
                <a:uFillTx/>
                <a:latin typeface="Calibri"/>
                <a:ea typeface="Calibri"/>
              </a:rPr>
              <a:t>We started with a spreadsheet of 2,998 top-rated IMDB movies. </a:t>
            </a:r>
          </a:p>
          <a:p>
            <a:pPr defTabSz="914400">
              <a:lnSpc>
                <a:spcPts val="2100"/>
              </a:lnSpc>
              <a:spcAft>
                <a:spcPts val="1199"/>
              </a:spcAft>
              <a:tabLst>
                <a:tab pos="0" algn="l"/>
              </a:tabLst>
            </a:pPr>
            <a:r>
              <a:rPr lang="en-US" sz="1550" b="1" u="none" strike="noStrike" dirty="0">
                <a:solidFill>
                  <a:srgbClr val="1A1A2E"/>
                </a:solidFill>
                <a:effectLst/>
                <a:uFillTx/>
                <a:latin typeface="Calibri"/>
                <a:ea typeface="Calibri"/>
              </a:rPr>
              <a:t>Our choice of representation:</a:t>
            </a:r>
            <a:endParaRPr lang="en-US" sz="1550" b="0" u="none" strike="noStrike" dirty="0">
              <a:solidFill>
                <a:srgbClr val="000000"/>
              </a:solidFill>
              <a:effectLst/>
              <a:uFillTx/>
              <a:latin typeface="Arial"/>
            </a:endParaRPr>
          </a:p>
          <a:p>
            <a:pPr marL="343080" indent="-343080" defTabSz="914400">
              <a:lnSpc>
                <a:spcPts val="2100"/>
              </a:lnSpc>
              <a:spcAft>
                <a:spcPts val="400"/>
              </a:spcAft>
              <a:buClr>
                <a:srgbClr val="1A1A2E"/>
              </a:buClr>
              <a:buFont typeface="Symbol" charset="2"/>
              <a:buChar char=""/>
              <a:tabLst>
                <a:tab pos="0" algn="l"/>
              </a:tabLst>
            </a:pPr>
            <a:r>
              <a:rPr lang="en-US" sz="1550" b="0" u="none" strike="noStrike" dirty="0">
                <a:solidFill>
                  <a:srgbClr val="1A1A2E"/>
                </a:solidFill>
                <a:effectLst/>
                <a:uFillTx/>
                <a:latin typeface="Calibri"/>
                <a:ea typeface="Calibri"/>
              </a:rPr>
              <a:t>Each node is an actor.</a:t>
            </a:r>
            <a:endParaRPr lang="en-US" sz="1550" b="0" u="none" strike="noStrike" dirty="0">
              <a:solidFill>
                <a:srgbClr val="000000"/>
              </a:solidFill>
              <a:effectLst/>
              <a:uFillTx/>
              <a:latin typeface="Arial"/>
            </a:endParaRPr>
          </a:p>
          <a:p>
            <a:pPr marL="343080" indent="-343080" defTabSz="914400">
              <a:lnSpc>
                <a:spcPts val="2100"/>
              </a:lnSpc>
              <a:spcAft>
                <a:spcPts val="400"/>
              </a:spcAft>
              <a:buClr>
                <a:srgbClr val="1A1A2E"/>
              </a:buClr>
              <a:buFont typeface="Symbol" charset="2"/>
              <a:buChar char=""/>
              <a:tabLst>
                <a:tab pos="0" algn="l"/>
              </a:tabLst>
            </a:pPr>
            <a:r>
              <a:rPr lang="en-US" sz="1550" b="0" u="none" strike="noStrike" dirty="0">
                <a:solidFill>
                  <a:srgbClr val="1A1A2E"/>
                </a:solidFill>
                <a:effectLst/>
                <a:uFillTx/>
                <a:latin typeface="Calibri"/>
                <a:ea typeface="Calibri"/>
              </a:rPr>
              <a:t>Two actors are linked if they appeared in the same movie.</a:t>
            </a:r>
            <a:endParaRPr lang="en-US" sz="1550" b="0" u="none" strike="noStrike" dirty="0">
              <a:solidFill>
                <a:srgbClr val="000000"/>
              </a:solidFill>
              <a:effectLst/>
              <a:uFillTx/>
              <a:latin typeface="Arial"/>
            </a:endParaRPr>
          </a:p>
        </p:txBody>
      </p:sp>
      <p:sp>
        <p:nvSpPr>
          <p:cNvPr id="38" name="Text 3"/>
          <p:cNvSpPr/>
          <p:nvPr/>
        </p:nvSpPr>
        <p:spPr>
          <a:xfrm>
            <a:off x="640080" y="4800600"/>
            <a:ext cx="59432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50" b="1" u="none" strike="noStrike" dirty="0">
                <a:solidFill>
                  <a:srgbClr val="E94560"/>
                </a:solidFill>
                <a:effectLst/>
                <a:uFillTx/>
                <a:latin typeface="Calibri"/>
                <a:ea typeface="Calibri"/>
              </a:rPr>
              <a:t>One quirk worth knowing  </a:t>
            </a:r>
            <a:r>
              <a:rPr lang="en-US" sz="1250" b="0" u="none" strike="noStrike" dirty="0">
                <a:solidFill>
                  <a:srgbClr val="6B6B7B"/>
                </a:solidFill>
                <a:effectLst/>
                <a:uFillTx/>
                <a:latin typeface="Calibri"/>
                <a:ea typeface="Calibri"/>
              </a:rPr>
              <a:t>The data lists exactly 3 top-billed actors per film. So a link means “co-starred among the top 3</a:t>
            </a:r>
            <a:r>
              <a:rPr lang="en-US" sz="1250" dirty="0">
                <a:solidFill>
                  <a:srgbClr val="6B6B7B"/>
                </a:solidFill>
                <a:latin typeface="Calibri"/>
                <a:ea typeface="Calibri"/>
              </a:rPr>
              <a:t>”</a:t>
            </a:r>
            <a:endParaRPr lang="en-US" sz="1250" b="0" u="none" strike="noStrike" dirty="0">
              <a:solidFill>
                <a:srgbClr val="000000"/>
              </a:solidFill>
              <a:effectLst/>
              <a:uFillTx/>
              <a:latin typeface="Arial"/>
            </a:endParaRPr>
          </a:p>
        </p:txBody>
      </p:sp>
      <p:sp>
        <p:nvSpPr>
          <p:cNvPr id="39" name="Shape 4"/>
          <p:cNvSpPr/>
          <p:nvPr/>
        </p:nvSpPr>
        <p:spPr>
          <a:xfrm>
            <a:off x="7040880" y="1783080"/>
            <a:ext cx="4525920" cy="4388760"/>
          </a:xfrm>
          <a:prstGeom prst="rect">
            <a:avLst/>
          </a:prstGeom>
          <a:solidFill>
            <a:srgbClr val="F4F4F7"/>
          </a:solidFill>
          <a:ln w="12700">
            <a:solidFill>
              <a:srgbClr val="E2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0" name="Text 5"/>
          <p:cNvSpPr/>
          <p:nvPr/>
        </p:nvSpPr>
        <p:spPr>
          <a:xfrm>
            <a:off x="7040880" y="1965960"/>
            <a:ext cx="4525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spc="201">
                <a:solidFill>
                  <a:srgbClr val="6B6B7B"/>
                </a:solidFill>
                <a:effectLst/>
                <a:uFillTx/>
                <a:latin typeface="Calibri"/>
                <a:ea typeface="Calibri"/>
              </a:rPr>
              <a:t>FROM MOVIES TO ACTOR LINKS</a:t>
            </a:r>
            <a:endParaRPr lang="en-US" sz="1100" b="0" u="none" strike="noStrike">
              <a:solidFill>
                <a:srgbClr val="000000"/>
              </a:solidFill>
              <a:effectLst/>
              <a:uFillTx/>
              <a:latin typeface="Arial"/>
            </a:endParaRPr>
          </a:p>
        </p:txBody>
      </p:sp>
      <p:sp>
        <p:nvSpPr>
          <p:cNvPr id="41" name="Shape 6"/>
          <p:cNvSpPr/>
          <p:nvPr/>
        </p:nvSpPr>
        <p:spPr>
          <a:xfrm>
            <a:off x="8778240" y="2423160"/>
            <a:ext cx="1051200" cy="456840"/>
          </a:xfrm>
          <a:prstGeom prst="roundRect">
            <a:avLst>
              <a:gd name="adj" fmla="val 14000"/>
            </a:avLst>
          </a:prstGeom>
          <a:solidFill>
            <a:srgbClr val="1A1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2" name="Text 7"/>
          <p:cNvSpPr/>
          <p:nvPr/>
        </p:nvSpPr>
        <p:spPr>
          <a:xfrm>
            <a:off x="8778240" y="2423160"/>
            <a:ext cx="1051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u="none" strike="noStrike">
                <a:solidFill>
                  <a:srgbClr val="FFFFFF"/>
                </a:solidFill>
                <a:effectLst/>
                <a:uFillTx/>
                <a:latin typeface="Calibri"/>
                <a:ea typeface="Calibri"/>
              </a:rPr>
              <a:t>Movie</a:t>
            </a:r>
            <a:endParaRPr lang="en-US" sz="1100" b="0" u="none" strike="noStrike">
              <a:solidFill>
                <a:srgbClr val="000000"/>
              </a:solidFill>
              <a:effectLst/>
              <a:uFillTx/>
              <a:latin typeface="Arial"/>
            </a:endParaRPr>
          </a:p>
        </p:txBody>
      </p:sp>
      <p:sp>
        <p:nvSpPr>
          <p:cNvPr id="43" name="Shape 8"/>
          <p:cNvSpPr/>
          <p:nvPr/>
        </p:nvSpPr>
        <p:spPr>
          <a:xfrm flipH="1">
            <a:off x="7589520" y="2880360"/>
            <a:ext cx="1709640" cy="365760"/>
          </a:xfrm>
          <a:prstGeom prst="line">
            <a:avLst/>
          </a:prstGeom>
          <a:ln w="12700">
            <a:solidFill>
              <a:srgbClr val="6B6B7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44" name="Shape 9"/>
          <p:cNvSpPr/>
          <p:nvPr/>
        </p:nvSpPr>
        <p:spPr>
          <a:xfrm flipH="1">
            <a:off x="8915400" y="2880360"/>
            <a:ext cx="383760" cy="365760"/>
          </a:xfrm>
          <a:prstGeom prst="line">
            <a:avLst/>
          </a:prstGeom>
          <a:ln w="12700">
            <a:solidFill>
              <a:srgbClr val="6B6B7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45" name="Shape 10"/>
          <p:cNvSpPr/>
          <p:nvPr/>
        </p:nvSpPr>
        <p:spPr>
          <a:xfrm>
            <a:off x="9299160" y="2880360"/>
            <a:ext cx="942120" cy="365760"/>
          </a:xfrm>
          <a:prstGeom prst="line">
            <a:avLst/>
          </a:prstGeom>
          <a:ln w="12700">
            <a:solidFill>
              <a:srgbClr val="6B6B7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46" name="Shape 11"/>
          <p:cNvSpPr/>
          <p:nvPr/>
        </p:nvSpPr>
        <p:spPr>
          <a:xfrm>
            <a:off x="7543800" y="3246120"/>
            <a:ext cx="456840" cy="456840"/>
          </a:xfrm>
          <a:prstGeom prst="ellipse">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7" name="Text 12"/>
          <p:cNvSpPr/>
          <p:nvPr/>
        </p:nvSpPr>
        <p:spPr>
          <a:xfrm>
            <a:off x="7543800" y="324612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A</a:t>
            </a:r>
            <a:endParaRPr lang="en-US" sz="1200" b="0" u="none" strike="noStrike">
              <a:solidFill>
                <a:srgbClr val="000000"/>
              </a:solidFill>
              <a:effectLst/>
              <a:uFillTx/>
              <a:latin typeface="Arial"/>
            </a:endParaRPr>
          </a:p>
        </p:txBody>
      </p:sp>
      <p:sp>
        <p:nvSpPr>
          <p:cNvPr id="48" name="Shape 13"/>
          <p:cNvSpPr/>
          <p:nvPr/>
        </p:nvSpPr>
        <p:spPr>
          <a:xfrm>
            <a:off x="8869680" y="3246120"/>
            <a:ext cx="456840" cy="456840"/>
          </a:xfrm>
          <a:prstGeom prst="ellipse">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9" name="Text 14"/>
          <p:cNvSpPr/>
          <p:nvPr/>
        </p:nvSpPr>
        <p:spPr>
          <a:xfrm>
            <a:off x="8869680" y="324612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B</a:t>
            </a:r>
            <a:endParaRPr lang="en-US" sz="1200" b="0" u="none" strike="noStrike">
              <a:solidFill>
                <a:srgbClr val="000000"/>
              </a:solidFill>
              <a:effectLst/>
              <a:uFillTx/>
              <a:latin typeface="Arial"/>
            </a:endParaRPr>
          </a:p>
        </p:txBody>
      </p:sp>
      <p:sp>
        <p:nvSpPr>
          <p:cNvPr id="50" name="Shape 15"/>
          <p:cNvSpPr/>
          <p:nvPr/>
        </p:nvSpPr>
        <p:spPr>
          <a:xfrm>
            <a:off x="10195560" y="3246120"/>
            <a:ext cx="456840" cy="456840"/>
          </a:xfrm>
          <a:prstGeom prst="ellipse">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1" name="Text 16"/>
          <p:cNvSpPr/>
          <p:nvPr/>
        </p:nvSpPr>
        <p:spPr>
          <a:xfrm>
            <a:off x="10195560" y="324612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a:t>
            </a:r>
            <a:endParaRPr lang="en-US" sz="1200" b="0" u="none" strike="noStrike">
              <a:solidFill>
                <a:srgbClr val="000000"/>
              </a:solidFill>
              <a:effectLst/>
              <a:uFillTx/>
              <a:latin typeface="Arial"/>
            </a:endParaRPr>
          </a:p>
        </p:txBody>
      </p:sp>
      <p:sp>
        <p:nvSpPr>
          <p:cNvPr id="53" name="Text 18"/>
          <p:cNvSpPr/>
          <p:nvPr/>
        </p:nvSpPr>
        <p:spPr>
          <a:xfrm>
            <a:off x="7040880" y="4069080"/>
            <a:ext cx="4525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0F8B8D"/>
                </a:solidFill>
                <a:effectLst/>
                <a:uFillTx/>
                <a:latin typeface="Calibri"/>
                <a:ea typeface="Calibri"/>
              </a:rPr>
              <a:t>↓  project onto actors</a:t>
            </a:r>
            <a:endParaRPr lang="en-US" sz="1100" b="0" u="none" strike="noStrike">
              <a:solidFill>
                <a:srgbClr val="000000"/>
              </a:solidFill>
              <a:effectLst/>
              <a:uFillTx/>
              <a:latin typeface="Arial"/>
            </a:endParaRPr>
          </a:p>
        </p:txBody>
      </p:sp>
      <p:sp>
        <p:nvSpPr>
          <p:cNvPr id="54" name="Shape 19"/>
          <p:cNvSpPr/>
          <p:nvPr/>
        </p:nvSpPr>
        <p:spPr>
          <a:xfrm flipH="1">
            <a:off x="8503920" y="4754880"/>
            <a:ext cx="795240" cy="822960"/>
          </a:xfrm>
          <a:prstGeom prst="line">
            <a:avLst/>
          </a:prstGeom>
          <a:ln w="22225">
            <a:solidFill>
              <a:srgbClr val="E945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55" name="Shape 20"/>
          <p:cNvSpPr/>
          <p:nvPr/>
        </p:nvSpPr>
        <p:spPr>
          <a:xfrm>
            <a:off x="8503920" y="5577840"/>
            <a:ext cx="1600200" cy="360"/>
          </a:xfrm>
          <a:prstGeom prst="line">
            <a:avLst/>
          </a:prstGeom>
          <a:ln w="22225">
            <a:solidFill>
              <a:srgbClr val="E9456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sp>
        <p:nvSpPr>
          <p:cNvPr id="56" name="Shape 21"/>
          <p:cNvSpPr/>
          <p:nvPr/>
        </p:nvSpPr>
        <p:spPr>
          <a:xfrm>
            <a:off x="9299160" y="4754880"/>
            <a:ext cx="804960" cy="822960"/>
          </a:xfrm>
          <a:prstGeom prst="line">
            <a:avLst/>
          </a:prstGeom>
          <a:ln w="22225">
            <a:solidFill>
              <a:srgbClr val="E945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57" name="Shape 22"/>
          <p:cNvSpPr/>
          <p:nvPr/>
        </p:nvSpPr>
        <p:spPr>
          <a:xfrm>
            <a:off x="9070920" y="4526280"/>
            <a:ext cx="456840" cy="456840"/>
          </a:xfrm>
          <a:prstGeom prst="ellipse">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8" name="Text 23"/>
          <p:cNvSpPr/>
          <p:nvPr/>
        </p:nvSpPr>
        <p:spPr>
          <a:xfrm>
            <a:off x="9070920" y="452628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A</a:t>
            </a:r>
            <a:endParaRPr lang="en-US" sz="1200" b="0" u="none" strike="noStrike">
              <a:solidFill>
                <a:srgbClr val="000000"/>
              </a:solidFill>
              <a:effectLst/>
              <a:uFillTx/>
              <a:latin typeface="Arial"/>
            </a:endParaRPr>
          </a:p>
        </p:txBody>
      </p:sp>
      <p:sp>
        <p:nvSpPr>
          <p:cNvPr id="59" name="Shape 24"/>
          <p:cNvSpPr/>
          <p:nvPr/>
        </p:nvSpPr>
        <p:spPr>
          <a:xfrm>
            <a:off x="8275320" y="5349240"/>
            <a:ext cx="456840" cy="456840"/>
          </a:xfrm>
          <a:prstGeom prst="ellipse">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0" name="Text 25"/>
          <p:cNvSpPr/>
          <p:nvPr/>
        </p:nvSpPr>
        <p:spPr>
          <a:xfrm>
            <a:off x="8275320" y="534924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B</a:t>
            </a:r>
            <a:endParaRPr lang="en-US" sz="1200" b="0" u="none" strike="noStrike">
              <a:solidFill>
                <a:srgbClr val="000000"/>
              </a:solidFill>
              <a:effectLst/>
              <a:uFillTx/>
              <a:latin typeface="Arial"/>
            </a:endParaRPr>
          </a:p>
        </p:txBody>
      </p:sp>
      <p:sp>
        <p:nvSpPr>
          <p:cNvPr id="61" name="Shape 26"/>
          <p:cNvSpPr/>
          <p:nvPr/>
        </p:nvSpPr>
        <p:spPr>
          <a:xfrm>
            <a:off x="9875520" y="5349240"/>
            <a:ext cx="456840" cy="456840"/>
          </a:xfrm>
          <a:prstGeom prst="ellipse">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2" name="Text 27"/>
          <p:cNvSpPr/>
          <p:nvPr/>
        </p:nvSpPr>
        <p:spPr>
          <a:xfrm>
            <a:off x="9875520" y="534924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ea typeface="Calibri"/>
              </a:rPr>
              <a:t>C</a:t>
            </a:r>
            <a:endParaRPr lang="en-US" sz="1200" b="0" u="none" strike="noStrike">
              <a:solidFill>
                <a:srgbClr val="000000"/>
              </a:solidFill>
              <a:effectLst/>
              <a:uFillTx/>
              <a:latin typeface="Arial"/>
            </a:endParaRPr>
          </a:p>
        </p:txBody>
      </p:sp>
      <p:sp>
        <p:nvSpPr>
          <p:cNvPr id="64" name="Text 29"/>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2</a:t>
            </a:r>
            <a:endParaRPr lang="en-US" sz="11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TextBox 1"/>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300" b="1" u="none" strike="noStrike" spc="300">
                <a:solidFill>
                  <a:srgbClr val="E94560"/>
                </a:solidFill>
                <a:effectLst/>
                <a:uFillTx/>
                <a:latin typeface="Calibri"/>
              </a:rPr>
              <a:t>OUR QUESTIONS</a:t>
            </a:r>
            <a:endParaRPr lang="en-US" sz="1300" b="0" u="none" strike="noStrike">
              <a:solidFill>
                <a:srgbClr val="000000"/>
              </a:solidFill>
              <a:effectLst/>
              <a:uFillTx/>
              <a:latin typeface="Arial"/>
            </a:endParaRPr>
          </a:p>
        </p:txBody>
      </p:sp>
      <p:sp>
        <p:nvSpPr>
          <p:cNvPr id="66" name="TextBox 2"/>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3200" b="1" u="none" strike="noStrike">
                <a:solidFill>
                  <a:srgbClr val="1A1A2E"/>
                </a:solidFill>
                <a:effectLst/>
                <a:uFillTx/>
                <a:latin typeface="Georgia"/>
              </a:rPr>
              <a:t>What we set out to learn</a:t>
            </a:r>
            <a:endParaRPr lang="en-US" sz="3200" b="0" u="none" strike="noStrike">
              <a:solidFill>
                <a:srgbClr val="000000"/>
              </a:solidFill>
              <a:effectLst/>
              <a:uFillTx/>
              <a:latin typeface="Arial"/>
            </a:endParaRPr>
          </a:p>
        </p:txBody>
      </p:sp>
      <p:sp>
        <p:nvSpPr>
          <p:cNvPr id="67" name="TextBox 3"/>
          <p:cNvSpPr/>
          <p:nvPr/>
        </p:nvSpPr>
        <p:spPr>
          <a:xfrm>
            <a:off x="640080" y="1554480"/>
            <a:ext cx="108810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400" b="0" u="none" strike="noStrike">
                <a:solidFill>
                  <a:srgbClr val="6B6B7B"/>
                </a:solidFill>
                <a:effectLst/>
                <a:uFillTx/>
                <a:latin typeface="Calibri"/>
              </a:rPr>
              <a:t>Before we measured anything, we wrote down what we actually wanted to find out.</a:t>
            </a:r>
            <a:endParaRPr lang="en-US" sz="1400" b="0" u="none" strike="noStrike">
              <a:solidFill>
                <a:srgbClr val="000000"/>
              </a:solidFill>
              <a:effectLst/>
              <a:uFillTx/>
              <a:latin typeface="Arial"/>
            </a:endParaRPr>
          </a:p>
        </p:txBody>
      </p:sp>
      <p:sp>
        <p:nvSpPr>
          <p:cNvPr id="68" name="Rectangle 4"/>
          <p:cNvSpPr/>
          <p:nvPr/>
        </p:nvSpPr>
        <p:spPr>
          <a:xfrm>
            <a:off x="640080" y="2331720"/>
            <a:ext cx="3520080" cy="3748680"/>
          </a:xfrm>
          <a:prstGeom prst="rect">
            <a:avLst/>
          </a:prstGeom>
          <a:solidFill>
            <a:srgbClr val="F4F4F7"/>
          </a:solidFill>
          <a:ln w="12700">
            <a:solidFill>
              <a:srgbClr val="E2E2E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9" name="Rectangle 5"/>
          <p:cNvSpPr/>
          <p:nvPr/>
        </p:nvSpPr>
        <p:spPr>
          <a:xfrm>
            <a:off x="640080" y="2331720"/>
            <a:ext cx="3520080" cy="109440"/>
          </a:xfrm>
          <a:prstGeom prst="rect">
            <a:avLst/>
          </a:prstGeom>
          <a:solidFill>
            <a:srgbClr val="E9456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0" name="TextBox 6"/>
          <p:cNvSpPr/>
          <p:nvPr/>
        </p:nvSpPr>
        <p:spPr>
          <a:xfrm>
            <a:off x="932760" y="2606040"/>
            <a:ext cx="297144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800" b="1" u="none" strike="noStrike">
                <a:solidFill>
                  <a:srgbClr val="E94560"/>
                </a:solidFill>
                <a:effectLst/>
                <a:uFillTx/>
                <a:latin typeface="Georgia"/>
              </a:rPr>
              <a:t>01</a:t>
            </a:r>
            <a:endParaRPr lang="en-US" sz="4800" b="0" u="none" strike="noStrike">
              <a:solidFill>
                <a:srgbClr val="000000"/>
              </a:solidFill>
              <a:effectLst/>
              <a:uFillTx/>
              <a:latin typeface="Arial"/>
            </a:endParaRPr>
          </a:p>
        </p:txBody>
      </p:sp>
      <p:sp>
        <p:nvSpPr>
          <p:cNvPr id="71" name="TextBox 7"/>
          <p:cNvSpPr/>
          <p:nvPr/>
        </p:nvSpPr>
        <p:spPr>
          <a:xfrm>
            <a:off x="932760" y="3611880"/>
            <a:ext cx="29714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0000"/>
              </a:lnSpc>
            </a:pPr>
            <a:r>
              <a:rPr lang="en-US" sz="1800" b="1" u="none" strike="noStrike">
                <a:solidFill>
                  <a:srgbClr val="1A1A2E"/>
                </a:solidFill>
                <a:effectLst/>
                <a:uFillTx/>
                <a:latin typeface="Georgia"/>
              </a:rPr>
              <a:t>Who are the most connected actors?</a:t>
            </a:r>
            <a:endParaRPr lang="en-US" sz="1800" b="0" u="none" strike="noStrike">
              <a:solidFill>
                <a:srgbClr val="000000"/>
              </a:solidFill>
              <a:effectLst/>
              <a:uFillTx/>
              <a:latin typeface="Arial"/>
            </a:endParaRPr>
          </a:p>
        </p:txBody>
      </p:sp>
      <p:sp>
        <p:nvSpPr>
          <p:cNvPr id="72" name="TextBox 8"/>
          <p:cNvSpPr/>
          <p:nvPr/>
        </p:nvSpPr>
        <p:spPr>
          <a:xfrm>
            <a:off x="932760" y="4800600"/>
            <a:ext cx="2971440" cy="70237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25000"/>
              </a:lnSpc>
            </a:pPr>
            <a:r>
              <a:rPr lang="en-US" sz="1250" b="0" u="none" strike="noStrike" dirty="0">
                <a:solidFill>
                  <a:srgbClr val="6B6B7B"/>
                </a:solidFill>
                <a:effectLst/>
                <a:uFillTx/>
                <a:latin typeface="Calibri"/>
              </a:rPr>
              <a:t>Beyond fame, who sits at the </a:t>
            </a:r>
            <a:r>
              <a:rPr lang="en-US" sz="1250" b="0" u="none" strike="noStrike" dirty="0" err="1">
                <a:solidFill>
                  <a:srgbClr val="6B6B7B"/>
                </a:solidFill>
                <a:effectLst/>
                <a:uFillTx/>
                <a:latin typeface="Calibri"/>
              </a:rPr>
              <a:t>centre</a:t>
            </a:r>
            <a:r>
              <a:rPr lang="en-US" sz="1250" b="0" u="none" strike="noStrike" dirty="0">
                <a:solidFill>
                  <a:srgbClr val="6B6B7B"/>
                </a:solidFill>
                <a:effectLst/>
                <a:uFillTx/>
                <a:latin typeface="Calibri"/>
              </a:rPr>
              <a:t> of the industry, and does "most connected" mean the same thing under every measure?</a:t>
            </a:r>
            <a:endParaRPr lang="en-US" sz="1250" b="0" u="none" strike="noStrike" dirty="0">
              <a:solidFill>
                <a:srgbClr val="000000"/>
              </a:solidFill>
              <a:effectLst/>
              <a:uFillTx/>
              <a:latin typeface="Arial"/>
            </a:endParaRPr>
          </a:p>
        </p:txBody>
      </p:sp>
      <p:sp>
        <p:nvSpPr>
          <p:cNvPr id="73" name="Rectangle 9"/>
          <p:cNvSpPr/>
          <p:nvPr/>
        </p:nvSpPr>
        <p:spPr>
          <a:xfrm>
            <a:off x="4453200" y="2331720"/>
            <a:ext cx="3520080" cy="3748680"/>
          </a:xfrm>
          <a:prstGeom prst="rect">
            <a:avLst/>
          </a:prstGeom>
          <a:solidFill>
            <a:srgbClr val="F4F4F7"/>
          </a:solidFill>
          <a:ln w="12700">
            <a:solidFill>
              <a:srgbClr val="E2E2E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 name="Rectangle 10"/>
          <p:cNvSpPr/>
          <p:nvPr/>
        </p:nvSpPr>
        <p:spPr>
          <a:xfrm>
            <a:off x="4453200" y="2331720"/>
            <a:ext cx="3520080" cy="109440"/>
          </a:xfrm>
          <a:prstGeom prst="rect">
            <a:avLst/>
          </a:prstGeom>
          <a:solidFill>
            <a:srgbClr val="0F8B8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5" name="TextBox 11"/>
          <p:cNvSpPr/>
          <p:nvPr/>
        </p:nvSpPr>
        <p:spPr>
          <a:xfrm>
            <a:off x="4745880" y="2606040"/>
            <a:ext cx="297144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800" b="1" u="none" strike="noStrike">
                <a:solidFill>
                  <a:srgbClr val="0F8B8D"/>
                </a:solidFill>
                <a:effectLst/>
                <a:uFillTx/>
                <a:latin typeface="Georgia"/>
              </a:rPr>
              <a:t>02</a:t>
            </a:r>
            <a:endParaRPr lang="en-US" sz="4800" b="0" u="none" strike="noStrike">
              <a:solidFill>
                <a:srgbClr val="000000"/>
              </a:solidFill>
              <a:effectLst/>
              <a:uFillTx/>
              <a:latin typeface="Arial"/>
            </a:endParaRPr>
          </a:p>
        </p:txBody>
      </p:sp>
      <p:sp>
        <p:nvSpPr>
          <p:cNvPr id="76" name="TextBox 12"/>
          <p:cNvSpPr/>
          <p:nvPr/>
        </p:nvSpPr>
        <p:spPr>
          <a:xfrm>
            <a:off x="4745880" y="3611880"/>
            <a:ext cx="29714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0000"/>
              </a:lnSpc>
            </a:pPr>
            <a:r>
              <a:rPr lang="en-US" sz="1800" b="1" u="none" strike="noStrike">
                <a:solidFill>
                  <a:srgbClr val="1A1A2E"/>
                </a:solidFill>
                <a:effectLst/>
                <a:uFillTx/>
                <a:latin typeface="Georgia"/>
              </a:rPr>
              <a:t>Does the network split into distinct cinematic groups?</a:t>
            </a:r>
            <a:endParaRPr lang="en-US" sz="1800" b="0" u="none" strike="noStrike">
              <a:solidFill>
                <a:srgbClr val="000000"/>
              </a:solidFill>
              <a:effectLst/>
              <a:uFillTx/>
              <a:latin typeface="Arial"/>
            </a:endParaRPr>
          </a:p>
        </p:txBody>
      </p:sp>
      <p:sp>
        <p:nvSpPr>
          <p:cNvPr id="77" name="TextBox 13"/>
          <p:cNvSpPr/>
          <p:nvPr/>
        </p:nvSpPr>
        <p:spPr>
          <a:xfrm>
            <a:off x="4745880" y="4800600"/>
            <a:ext cx="2971440" cy="70237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25000"/>
              </a:lnSpc>
            </a:pPr>
            <a:r>
              <a:rPr lang="en-US" sz="1250" b="0" u="none" strike="noStrike" dirty="0">
                <a:solidFill>
                  <a:srgbClr val="6B6B7B"/>
                </a:solidFill>
                <a:effectLst/>
                <a:uFillTx/>
                <a:latin typeface="Calibri"/>
              </a:rPr>
              <a:t>Can we recover meaningful clusters like Marvel-style franchises, genres</a:t>
            </a:r>
            <a:r>
              <a:rPr lang="en-US" sz="1250" dirty="0">
                <a:solidFill>
                  <a:srgbClr val="6B6B7B"/>
                </a:solidFill>
                <a:latin typeface="Calibri"/>
              </a:rPr>
              <a:t> or </a:t>
            </a:r>
            <a:r>
              <a:rPr lang="en-US" sz="1250" b="0" u="none" strike="noStrike" dirty="0">
                <a:solidFill>
                  <a:srgbClr val="6B6B7B"/>
                </a:solidFill>
                <a:effectLst/>
                <a:uFillTx/>
                <a:latin typeface="Calibri"/>
              </a:rPr>
              <a:t>eras just from who worked with whom?</a:t>
            </a:r>
            <a:endParaRPr lang="en-US" sz="1250" b="0" u="none" strike="noStrike" dirty="0">
              <a:solidFill>
                <a:srgbClr val="000000"/>
              </a:solidFill>
              <a:effectLst/>
              <a:uFillTx/>
              <a:latin typeface="Arial"/>
            </a:endParaRPr>
          </a:p>
        </p:txBody>
      </p:sp>
      <p:sp>
        <p:nvSpPr>
          <p:cNvPr id="78" name="Rectangle 14"/>
          <p:cNvSpPr/>
          <p:nvPr/>
        </p:nvSpPr>
        <p:spPr>
          <a:xfrm>
            <a:off x="8266320" y="2331720"/>
            <a:ext cx="3520080" cy="3748680"/>
          </a:xfrm>
          <a:prstGeom prst="rect">
            <a:avLst/>
          </a:prstGeom>
          <a:solidFill>
            <a:srgbClr val="F4F4F7"/>
          </a:solidFill>
          <a:ln w="12700">
            <a:solidFill>
              <a:srgbClr val="E2E2E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9" name="Rectangle 15"/>
          <p:cNvSpPr/>
          <p:nvPr/>
        </p:nvSpPr>
        <p:spPr>
          <a:xfrm>
            <a:off x="8266320" y="2331720"/>
            <a:ext cx="3520080" cy="109440"/>
          </a:xfrm>
          <a:prstGeom prst="rect">
            <a:avLst/>
          </a:prstGeom>
          <a:solidFill>
            <a:srgbClr val="E8A31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0" name="TextBox 16"/>
          <p:cNvSpPr/>
          <p:nvPr/>
        </p:nvSpPr>
        <p:spPr>
          <a:xfrm>
            <a:off x="8558640" y="2606040"/>
            <a:ext cx="297144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4800" b="1" u="none" strike="noStrike">
                <a:solidFill>
                  <a:srgbClr val="E8A317"/>
                </a:solidFill>
                <a:effectLst/>
                <a:uFillTx/>
                <a:latin typeface="Georgia"/>
              </a:rPr>
              <a:t>03</a:t>
            </a:r>
            <a:endParaRPr lang="en-US" sz="4800" b="0" u="none" strike="noStrike">
              <a:solidFill>
                <a:srgbClr val="000000"/>
              </a:solidFill>
              <a:effectLst/>
              <a:uFillTx/>
              <a:latin typeface="Arial"/>
            </a:endParaRPr>
          </a:p>
        </p:txBody>
      </p:sp>
      <p:sp>
        <p:nvSpPr>
          <p:cNvPr id="81" name="TextBox 17"/>
          <p:cNvSpPr/>
          <p:nvPr/>
        </p:nvSpPr>
        <p:spPr>
          <a:xfrm>
            <a:off x="8558640" y="3611880"/>
            <a:ext cx="29714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10000"/>
              </a:lnSpc>
            </a:pPr>
            <a:r>
              <a:rPr lang="en-US" sz="1800" b="1" u="none" strike="noStrike">
                <a:solidFill>
                  <a:srgbClr val="1A1A2E"/>
                </a:solidFill>
                <a:effectLst/>
                <a:uFillTx/>
                <a:latin typeface="Georgia"/>
              </a:rPr>
              <a:t>What type of network is it?</a:t>
            </a:r>
            <a:endParaRPr lang="en-US" sz="1800" b="0" u="none" strike="noStrike">
              <a:solidFill>
                <a:srgbClr val="000000"/>
              </a:solidFill>
              <a:effectLst/>
              <a:uFillTx/>
              <a:latin typeface="Arial"/>
            </a:endParaRPr>
          </a:p>
        </p:txBody>
      </p:sp>
      <p:sp>
        <p:nvSpPr>
          <p:cNvPr id="82" name="TextBox 18"/>
          <p:cNvSpPr/>
          <p:nvPr/>
        </p:nvSpPr>
        <p:spPr>
          <a:xfrm>
            <a:off x="8558640" y="4800600"/>
            <a:ext cx="297144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25000"/>
              </a:lnSpc>
            </a:pPr>
            <a:r>
              <a:rPr lang="en-US" sz="1250" b="0" u="none" strike="noStrike">
                <a:solidFill>
                  <a:srgbClr val="6B6B7B"/>
                </a:solidFill>
                <a:effectLst/>
                <a:uFillTx/>
                <a:latin typeface="Calibri"/>
              </a:rPr>
              <a:t>Random, scale-free, small-world, or something else? Which model best explains its shape, and where does reality go beyond the models?</a:t>
            </a:r>
            <a:endParaRPr lang="en-US" sz="1250" b="0" u="none" strike="noStrike">
              <a:solidFill>
                <a:srgbClr val="000000"/>
              </a:solidFill>
              <a:effectLst/>
              <a:uFillTx/>
              <a:latin typeface="Arial"/>
            </a:endParaRPr>
          </a:p>
        </p:txBody>
      </p:sp>
      <p:sp>
        <p:nvSpPr>
          <p:cNvPr id="83" name="TextBox 19"/>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100" b="0" u="none" strike="noStrike">
                <a:solidFill>
                  <a:srgbClr val="6B6B7B"/>
                </a:solidFill>
                <a:effectLst/>
                <a:uFillTx/>
                <a:latin typeface="Calibri"/>
              </a:rPr>
              <a:t>3</a:t>
            </a:r>
            <a:endParaRPr lang="en-US" sz="11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METHOD</a:t>
            </a:r>
            <a:endParaRPr lang="en-US" sz="1300" b="0" u="none" strike="noStrike">
              <a:solidFill>
                <a:srgbClr val="000000"/>
              </a:solidFill>
              <a:effectLst/>
              <a:uFillTx/>
              <a:latin typeface="Arial"/>
            </a:endParaRPr>
          </a:p>
        </p:txBody>
      </p:sp>
      <p:sp>
        <p:nvSpPr>
          <p:cNvPr id="85"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Three networks, side by side</a:t>
            </a:r>
            <a:endParaRPr lang="en-US" sz="3200" b="0" u="none" strike="noStrike">
              <a:solidFill>
                <a:srgbClr val="000000"/>
              </a:solidFill>
              <a:effectLst/>
              <a:uFillTx/>
              <a:latin typeface="Arial"/>
            </a:endParaRPr>
          </a:p>
        </p:txBody>
      </p:sp>
      <p:sp>
        <p:nvSpPr>
          <p:cNvPr id="86" name="Text 2"/>
          <p:cNvSpPr/>
          <p:nvPr/>
        </p:nvSpPr>
        <p:spPr>
          <a:xfrm>
            <a:off x="640080" y="1554480"/>
            <a:ext cx="108810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B6B7B"/>
                </a:solidFill>
                <a:effectLst/>
                <a:uFillTx/>
                <a:latin typeface="Calibri"/>
                <a:ea typeface="Calibri"/>
              </a:rPr>
              <a:t>To judge whether the actor network is special, we compare it against two artificial networks of the same size.</a:t>
            </a:r>
            <a:endParaRPr lang="en-US" sz="1400" b="0" u="none" strike="noStrike">
              <a:solidFill>
                <a:srgbClr val="000000"/>
              </a:solidFill>
              <a:effectLst/>
              <a:uFillTx/>
              <a:latin typeface="Arial"/>
            </a:endParaRPr>
          </a:p>
        </p:txBody>
      </p:sp>
      <p:sp>
        <p:nvSpPr>
          <p:cNvPr id="87" name="Shape 3"/>
          <p:cNvSpPr/>
          <p:nvPr/>
        </p:nvSpPr>
        <p:spPr>
          <a:xfrm>
            <a:off x="640080" y="2148840"/>
            <a:ext cx="3520080" cy="3931560"/>
          </a:xfrm>
          <a:prstGeom prst="rect">
            <a:avLst/>
          </a:prstGeom>
          <a:solidFill>
            <a:srgbClr val="1A1A2E"/>
          </a:solidFill>
          <a:ln w="12700">
            <a:solidFill>
              <a:srgbClr val="1A1A2E"/>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8" name="Shape 4"/>
          <p:cNvSpPr/>
          <p:nvPr/>
        </p:nvSpPr>
        <p:spPr>
          <a:xfrm>
            <a:off x="640080" y="2148840"/>
            <a:ext cx="3520080" cy="109440"/>
          </a:xfrm>
          <a:prstGeom prst="rect">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9" name="Text 5"/>
          <p:cNvSpPr/>
          <p:nvPr/>
        </p:nvSpPr>
        <p:spPr>
          <a:xfrm>
            <a:off x="960120" y="2468880"/>
            <a:ext cx="2880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201">
                <a:solidFill>
                  <a:srgbClr val="E94560"/>
                </a:solidFill>
                <a:effectLst/>
                <a:uFillTx/>
                <a:latin typeface="Calibri"/>
                <a:ea typeface="Calibri"/>
              </a:rPr>
              <a:t>REAL</a:t>
            </a:r>
            <a:endParaRPr lang="en-US" sz="1300" b="0" u="none" strike="noStrike">
              <a:solidFill>
                <a:srgbClr val="000000"/>
              </a:solidFill>
              <a:effectLst/>
              <a:uFillTx/>
              <a:latin typeface="Arial"/>
            </a:endParaRPr>
          </a:p>
        </p:txBody>
      </p:sp>
      <p:sp>
        <p:nvSpPr>
          <p:cNvPr id="90" name="Text 6"/>
          <p:cNvSpPr/>
          <p:nvPr/>
        </p:nvSpPr>
        <p:spPr>
          <a:xfrm>
            <a:off x="960120" y="2788920"/>
            <a:ext cx="2880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FFFFFF"/>
                </a:solidFill>
                <a:effectLst/>
                <a:uFillTx/>
                <a:latin typeface="Georgia"/>
                <a:ea typeface="Georgia"/>
              </a:rPr>
              <a:t>Actor Network</a:t>
            </a:r>
            <a:endParaRPr lang="en-US" sz="2300" b="0" u="none" strike="noStrike">
              <a:solidFill>
                <a:srgbClr val="000000"/>
              </a:solidFill>
              <a:effectLst/>
              <a:uFillTx/>
              <a:latin typeface="Arial"/>
            </a:endParaRPr>
          </a:p>
        </p:txBody>
      </p:sp>
      <p:sp>
        <p:nvSpPr>
          <p:cNvPr id="91" name="Shape 7"/>
          <p:cNvSpPr/>
          <p:nvPr/>
        </p:nvSpPr>
        <p:spPr>
          <a:xfrm>
            <a:off x="978120" y="3456360"/>
            <a:ext cx="640080" cy="360"/>
          </a:xfrm>
          <a:prstGeom prst="line">
            <a:avLst/>
          </a:prstGeom>
          <a:ln w="25400">
            <a:solidFill>
              <a:srgbClr val="E9456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sp>
        <p:nvSpPr>
          <p:cNvPr id="92" name="Text 8"/>
          <p:cNvSpPr/>
          <p:nvPr/>
        </p:nvSpPr>
        <p:spPr>
          <a:xfrm>
            <a:off x="960120" y="3657600"/>
            <a:ext cx="288000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00"/>
              </a:lnSpc>
              <a:tabLst>
                <a:tab pos="0" algn="l"/>
              </a:tabLst>
            </a:pPr>
            <a:r>
              <a:rPr lang="en-US" sz="1300" b="0" u="none" strike="noStrike">
                <a:solidFill>
                  <a:srgbClr val="C9C9D4"/>
                </a:solidFill>
                <a:effectLst/>
                <a:uFillTx/>
                <a:latin typeface="Calibri"/>
                <a:ea typeface="Calibri"/>
              </a:rPr>
              <a:t>The genuine co-appearance network built from IMDB films. This is what we want to understand.</a:t>
            </a:r>
            <a:endParaRPr lang="en-US" sz="1300" b="0" u="none" strike="noStrike">
              <a:solidFill>
                <a:srgbClr val="000000"/>
              </a:solidFill>
              <a:effectLst/>
              <a:uFillTx/>
              <a:latin typeface="Arial"/>
            </a:endParaRPr>
          </a:p>
        </p:txBody>
      </p:sp>
      <p:sp>
        <p:nvSpPr>
          <p:cNvPr id="93" name="Shape 9"/>
          <p:cNvSpPr/>
          <p:nvPr/>
        </p:nvSpPr>
        <p:spPr>
          <a:xfrm>
            <a:off x="4453200" y="2148840"/>
            <a:ext cx="3520080" cy="3931560"/>
          </a:xfrm>
          <a:prstGeom prst="rect">
            <a:avLst/>
          </a:prstGeom>
          <a:solidFill>
            <a:srgbClr val="F4F4F7"/>
          </a:solidFill>
          <a:ln w="12700">
            <a:solidFill>
              <a:srgbClr val="E2E2E8"/>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4" name="Shape 10"/>
          <p:cNvSpPr/>
          <p:nvPr/>
        </p:nvSpPr>
        <p:spPr>
          <a:xfrm>
            <a:off x="4453200" y="2148840"/>
            <a:ext cx="3520080" cy="109440"/>
          </a:xfrm>
          <a:prstGeom prst="rect">
            <a:avLst/>
          </a:prstGeom>
          <a:solidFill>
            <a:srgbClr val="0F8B8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5" name="Text 11"/>
          <p:cNvSpPr/>
          <p:nvPr/>
        </p:nvSpPr>
        <p:spPr>
          <a:xfrm>
            <a:off x="4773240" y="2468880"/>
            <a:ext cx="2880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201">
                <a:solidFill>
                  <a:srgbClr val="0F8B8D"/>
                </a:solidFill>
                <a:effectLst/>
                <a:uFillTx/>
                <a:latin typeface="Calibri"/>
                <a:ea typeface="Calibri"/>
              </a:rPr>
              <a:t>RANDOM</a:t>
            </a:r>
            <a:endParaRPr lang="en-US" sz="1300" b="0" u="none" strike="noStrike">
              <a:solidFill>
                <a:srgbClr val="000000"/>
              </a:solidFill>
              <a:effectLst/>
              <a:uFillTx/>
              <a:latin typeface="Arial"/>
            </a:endParaRPr>
          </a:p>
        </p:txBody>
      </p:sp>
      <p:sp>
        <p:nvSpPr>
          <p:cNvPr id="96" name="Text 12"/>
          <p:cNvSpPr/>
          <p:nvPr/>
        </p:nvSpPr>
        <p:spPr>
          <a:xfrm>
            <a:off x="4773240" y="2788920"/>
            <a:ext cx="2880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1A1A2E"/>
                </a:solidFill>
                <a:effectLst/>
                <a:uFillTx/>
                <a:latin typeface="Georgia"/>
                <a:ea typeface="Georgia"/>
              </a:rPr>
              <a:t>Erdős–Rényi</a:t>
            </a:r>
            <a:endParaRPr lang="en-US" sz="2300" b="0" u="none" strike="noStrike">
              <a:solidFill>
                <a:srgbClr val="000000"/>
              </a:solidFill>
              <a:effectLst/>
              <a:uFillTx/>
              <a:latin typeface="Arial"/>
            </a:endParaRPr>
          </a:p>
        </p:txBody>
      </p:sp>
      <p:sp>
        <p:nvSpPr>
          <p:cNvPr id="97" name="Shape 13"/>
          <p:cNvSpPr/>
          <p:nvPr/>
        </p:nvSpPr>
        <p:spPr>
          <a:xfrm>
            <a:off x="4791240" y="3456360"/>
            <a:ext cx="640080" cy="360"/>
          </a:xfrm>
          <a:prstGeom prst="line">
            <a:avLst/>
          </a:prstGeom>
          <a:ln w="25400">
            <a:solidFill>
              <a:srgbClr val="0F8B8D"/>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sp>
        <p:nvSpPr>
          <p:cNvPr id="98" name="Text 14"/>
          <p:cNvSpPr/>
          <p:nvPr/>
        </p:nvSpPr>
        <p:spPr>
          <a:xfrm>
            <a:off x="4773240" y="3657600"/>
            <a:ext cx="288000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00"/>
              </a:lnSpc>
              <a:tabLst>
                <a:tab pos="0" algn="l"/>
              </a:tabLst>
            </a:pPr>
            <a:r>
              <a:rPr lang="en-US" sz="1300" b="0" u="none" strike="noStrike" dirty="0">
                <a:solidFill>
                  <a:srgbClr val="6B6B7B"/>
                </a:solidFill>
                <a:effectLst/>
                <a:uFillTx/>
                <a:latin typeface="Calibri"/>
                <a:ea typeface="Calibri"/>
              </a:rPr>
              <a:t>Same nodes and edges, but every link placed by pure chance. A null model: what cinema would look like with no underlying structure.</a:t>
            </a:r>
            <a:endParaRPr lang="en-US" sz="1300" b="0" u="none" strike="noStrike" dirty="0">
              <a:solidFill>
                <a:srgbClr val="000000"/>
              </a:solidFill>
              <a:effectLst/>
              <a:uFillTx/>
              <a:latin typeface="Arial"/>
            </a:endParaRPr>
          </a:p>
        </p:txBody>
      </p:sp>
      <p:sp>
        <p:nvSpPr>
          <p:cNvPr id="99" name="Shape 15"/>
          <p:cNvSpPr/>
          <p:nvPr/>
        </p:nvSpPr>
        <p:spPr>
          <a:xfrm>
            <a:off x="8266320" y="2148840"/>
            <a:ext cx="3520080" cy="3931560"/>
          </a:xfrm>
          <a:prstGeom prst="rect">
            <a:avLst/>
          </a:prstGeom>
          <a:solidFill>
            <a:srgbClr val="F4F4F7"/>
          </a:solidFill>
          <a:ln w="12700">
            <a:solidFill>
              <a:srgbClr val="E2E2E8"/>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0" name="Shape 16"/>
          <p:cNvSpPr/>
          <p:nvPr/>
        </p:nvSpPr>
        <p:spPr>
          <a:xfrm>
            <a:off x="8266320" y="2148840"/>
            <a:ext cx="3520080" cy="109440"/>
          </a:xfrm>
          <a:prstGeom prst="rect">
            <a:avLst/>
          </a:prstGeom>
          <a:solidFill>
            <a:srgbClr val="E8A3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1" name="Text 17"/>
          <p:cNvSpPr/>
          <p:nvPr/>
        </p:nvSpPr>
        <p:spPr>
          <a:xfrm>
            <a:off x="8586360" y="2468880"/>
            <a:ext cx="2880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201">
                <a:solidFill>
                  <a:srgbClr val="E8A317"/>
                </a:solidFill>
                <a:effectLst/>
                <a:uFillTx/>
                <a:latin typeface="Calibri"/>
                <a:ea typeface="Calibri"/>
              </a:rPr>
              <a:t>SCALE-FREE</a:t>
            </a:r>
            <a:endParaRPr lang="en-US" sz="1300" b="0" u="none" strike="noStrike">
              <a:solidFill>
                <a:srgbClr val="000000"/>
              </a:solidFill>
              <a:effectLst/>
              <a:uFillTx/>
              <a:latin typeface="Arial"/>
            </a:endParaRPr>
          </a:p>
        </p:txBody>
      </p:sp>
      <p:sp>
        <p:nvSpPr>
          <p:cNvPr id="102" name="Text 18"/>
          <p:cNvSpPr/>
          <p:nvPr/>
        </p:nvSpPr>
        <p:spPr>
          <a:xfrm>
            <a:off x="8586360" y="2788920"/>
            <a:ext cx="2880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300" b="1" u="none" strike="noStrike">
                <a:solidFill>
                  <a:srgbClr val="1A1A2E"/>
                </a:solidFill>
                <a:effectLst/>
                <a:uFillTx/>
                <a:latin typeface="Georgia"/>
                <a:ea typeface="Georgia"/>
              </a:rPr>
              <a:t>Barabási–Albert</a:t>
            </a:r>
            <a:endParaRPr lang="en-US" sz="2300" b="0" u="none" strike="noStrike">
              <a:solidFill>
                <a:srgbClr val="000000"/>
              </a:solidFill>
              <a:effectLst/>
              <a:uFillTx/>
              <a:latin typeface="Arial"/>
            </a:endParaRPr>
          </a:p>
        </p:txBody>
      </p:sp>
      <p:sp>
        <p:nvSpPr>
          <p:cNvPr id="103" name="Shape 19"/>
          <p:cNvSpPr/>
          <p:nvPr/>
        </p:nvSpPr>
        <p:spPr>
          <a:xfrm>
            <a:off x="8604360" y="3456360"/>
            <a:ext cx="640080" cy="360"/>
          </a:xfrm>
          <a:prstGeom prst="line">
            <a:avLst/>
          </a:prstGeom>
          <a:ln w="25400">
            <a:solidFill>
              <a:srgbClr val="E8A317"/>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sp>
        <p:nvSpPr>
          <p:cNvPr id="104" name="Text 20"/>
          <p:cNvSpPr/>
          <p:nvPr/>
        </p:nvSpPr>
        <p:spPr>
          <a:xfrm>
            <a:off x="8586360" y="3657600"/>
            <a:ext cx="288000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00"/>
              </a:lnSpc>
              <a:tabLst>
                <a:tab pos="0" algn="l"/>
              </a:tabLst>
            </a:pPr>
            <a:r>
              <a:rPr lang="en-US" sz="1300" b="0" u="none" strike="noStrike" dirty="0">
                <a:solidFill>
                  <a:srgbClr val="6B6B7B"/>
                </a:solidFill>
                <a:effectLst/>
                <a:uFillTx/>
                <a:latin typeface="Calibri"/>
                <a:ea typeface="Calibri"/>
              </a:rPr>
              <a:t>Grown so new actors prefer to link to already-popular ones. A "rich-get-richer" model that naturally produces hubs.</a:t>
            </a:r>
            <a:endParaRPr lang="en-US" sz="1300" b="0" u="none" strike="noStrike" dirty="0">
              <a:solidFill>
                <a:srgbClr val="000000"/>
              </a:solidFill>
              <a:effectLst/>
              <a:uFillTx/>
              <a:latin typeface="Arial"/>
            </a:endParaRPr>
          </a:p>
        </p:txBody>
      </p:sp>
      <p:sp>
        <p:nvSpPr>
          <p:cNvPr id="105" name="Text 21"/>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4</a:t>
            </a:r>
            <a:endParaRPr lang="en-US" sz="11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RESULTS</a:t>
            </a:r>
            <a:endParaRPr lang="en-US" sz="1300" b="0" u="none" strike="noStrike">
              <a:solidFill>
                <a:srgbClr val="000000"/>
              </a:solidFill>
              <a:effectLst/>
              <a:uFillTx/>
              <a:latin typeface="Arial"/>
            </a:endParaRPr>
          </a:p>
        </p:txBody>
      </p:sp>
      <p:sp>
        <p:nvSpPr>
          <p:cNvPr id="107"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Network properties at a glance</a:t>
            </a:r>
            <a:endParaRPr lang="en-US" sz="3200" b="0" u="none" strike="noStrike">
              <a:solidFill>
                <a:srgbClr val="000000"/>
              </a:solidFill>
              <a:effectLst/>
              <a:uFillTx/>
              <a:latin typeface="Arial"/>
            </a:endParaRPr>
          </a:p>
        </p:txBody>
      </p:sp>
      <p:graphicFrame>
        <p:nvGraphicFramePr>
          <p:cNvPr id="108" name="Table 0"/>
          <p:cNvGraphicFramePr/>
          <p:nvPr/>
        </p:nvGraphicFramePr>
        <p:xfrm>
          <a:off x="640080" y="1783080"/>
          <a:ext cx="8229600" cy="4204800"/>
        </p:xfrm>
        <a:graphic>
          <a:graphicData uri="http://schemas.openxmlformats.org/drawingml/2006/table">
            <a:tbl>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20480">
                <a:tc>
                  <a:txBody>
                    <a:bodyPr/>
                    <a:lstStyle/>
                    <a:p>
                      <a:pPr algn="ctr" defTabSz="914400">
                        <a:lnSpc>
                          <a:spcPct val="100000"/>
                        </a:lnSpc>
                        <a:tabLst>
                          <a:tab pos="0" algn="l"/>
                        </a:tabLst>
                      </a:pPr>
                      <a:endParaRPr lang="en-US" sz="1300" b="0" u="none" strike="noStrike">
                        <a:solidFill>
                          <a:schemeClr val="dk1"/>
                        </a:solidFill>
                        <a:effectLst/>
                        <a:uFillTx/>
                        <a:latin typeface="Calibri"/>
                        <a:ea typeface="Calibri"/>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1A1A2E"/>
                    </a:solidFill>
                  </a:tcPr>
                </a:tc>
                <a:tc>
                  <a:txBody>
                    <a:bodyPr/>
                    <a:lstStyle/>
                    <a:p>
                      <a:pPr algn="ctr" defTabSz="914400">
                        <a:lnSpc>
                          <a:spcPct val="100000"/>
                        </a:lnSpc>
                        <a:tabLst>
                          <a:tab pos="0" algn="l"/>
                        </a:tabLst>
                      </a:pPr>
                      <a:r>
                        <a:rPr lang="en-US" sz="1300" b="1" u="none" strike="noStrike">
                          <a:solidFill>
                            <a:srgbClr val="FFFFFF"/>
                          </a:solidFill>
                          <a:effectLst/>
                          <a:uFillTx/>
                          <a:latin typeface="Calibri"/>
                          <a:ea typeface="Calibri"/>
                        </a:rPr>
                        <a:t>Real</a:t>
                      </a:r>
                      <a:endParaRPr lang="en-US" sz="1300" b="0" u="none" strike="noStrike">
                        <a:solidFill>
                          <a:srgbClr val="FFFFFF"/>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1A1A2E"/>
                    </a:solidFill>
                  </a:tcPr>
                </a:tc>
                <a:tc>
                  <a:txBody>
                    <a:bodyPr/>
                    <a:lstStyle/>
                    <a:p>
                      <a:pPr algn="ctr" defTabSz="914400">
                        <a:lnSpc>
                          <a:spcPct val="100000"/>
                        </a:lnSpc>
                        <a:tabLst>
                          <a:tab pos="0" algn="l"/>
                        </a:tabLst>
                      </a:pPr>
                      <a:r>
                        <a:rPr lang="en-US" sz="1300" b="1" u="none" strike="noStrike">
                          <a:solidFill>
                            <a:srgbClr val="FFFFFF"/>
                          </a:solidFill>
                          <a:effectLst/>
                          <a:uFillTx/>
                          <a:latin typeface="Calibri"/>
                          <a:ea typeface="Calibri"/>
                        </a:rPr>
                        <a:t>Random (ER)</a:t>
                      </a:r>
                      <a:endParaRPr lang="en-US" sz="1300" b="0" u="none" strike="noStrike">
                        <a:solidFill>
                          <a:srgbClr val="FFFFFF"/>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1A1A2E"/>
                    </a:solidFill>
                  </a:tcPr>
                </a:tc>
                <a:tc>
                  <a:txBody>
                    <a:bodyPr/>
                    <a:lstStyle/>
                    <a:p>
                      <a:pPr algn="ctr" defTabSz="914400">
                        <a:lnSpc>
                          <a:spcPct val="100000"/>
                        </a:lnSpc>
                        <a:tabLst>
                          <a:tab pos="0" algn="l"/>
                        </a:tabLst>
                      </a:pPr>
                      <a:r>
                        <a:rPr lang="en-US" sz="1300" b="1" u="none" strike="noStrike">
                          <a:solidFill>
                            <a:srgbClr val="FFFFFF"/>
                          </a:solidFill>
                          <a:effectLst/>
                          <a:uFillTx/>
                          <a:latin typeface="Calibri"/>
                          <a:ea typeface="Calibri"/>
                        </a:rPr>
                        <a:t>Scale-Free (BA)</a:t>
                      </a:r>
                      <a:endParaRPr lang="en-US" sz="1300" b="0" u="none" strike="noStrike">
                        <a:solidFill>
                          <a:srgbClr val="FFFFFF"/>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1A1A2E"/>
                    </a:solidFill>
                  </a:tcPr>
                </a:tc>
                <a:extLst>
                  <a:ext uri="{0D108BD9-81ED-4DB2-BD59-A6C34878D82A}">
                    <a16:rowId xmlns:a16="http://schemas.microsoft.com/office/drawing/2014/main" val="10000"/>
                  </a:ext>
                </a:extLst>
              </a:tr>
              <a:tr h="420480">
                <a:tc>
                  <a:txBody>
                    <a:bodyPr/>
                    <a:lstStyle/>
                    <a:p>
                      <a:pPr defTabSz="914400">
                        <a:lnSpc>
                          <a:spcPct val="100000"/>
                        </a:lnSpc>
                        <a:tabLst>
                          <a:tab pos="0" algn="l"/>
                        </a:tabLst>
                      </a:pPr>
                      <a:r>
                        <a:rPr lang="en-US" sz="1250" b="1" u="none" strike="noStrike">
                          <a:solidFill>
                            <a:srgbClr val="1A1A2E"/>
                          </a:solidFill>
                          <a:effectLst/>
                          <a:uFillTx/>
                          <a:latin typeface="Calibri"/>
                          <a:ea typeface="Calibri"/>
                        </a:rPr>
                        <a:t>Nodes</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3,446</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3,446</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3,446</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extLst>
                  <a:ext uri="{0D108BD9-81ED-4DB2-BD59-A6C34878D82A}">
                    <a16:rowId xmlns:a16="http://schemas.microsoft.com/office/drawing/2014/main" val="10001"/>
                  </a:ext>
                </a:extLst>
              </a:tr>
              <a:tr h="420480">
                <a:tc>
                  <a:txBody>
                    <a:bodyPr/>
                    <a:lstStyle/>
                    <a:p>
                      <a:pPr defTabSz="914400">
                        <a:lnSpc>
                          <a:spcPct val="100000"/>
                        </a:lnSpc>
                        <a:tabLst>
                          <a:tab pos="0" algn="l"/>
                        </a:tabLst>
                      </a:pPr>
                      <a:r>
                        <a:rPr lang="en-US" sz="1250" b="1" u="none" strike="noStrike">
                          <a:solidFill>
                            <a:srgbClr val="1A1A2E"/>
                          </a:solidFill>
                          <a:effectLst/>
                          <a:uFillTx/>
                          <a:latin typeface="Calibri"/>
                          <a:ea typeface="Calibri"/>
                        </a:rPr>
                        <a:t>Edges</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8,375</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8,375</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6,888</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extLst>
                  <a:ext uri="{0D108BD9-81ED-4DB2-BD59-A6C34878D82A}">
                    <a16:rowId xmlns:a16="http://schemas.microsoft.com/office/drawing/2014/main" val="10002"/>
                  </a:ext>
                </a:extLst>
              </a:tr>
              <a:tr h="420480">
                <a:tc>
                  <a:txBody>
                    <a:bodyPr/>
                    <a:lstStyle/>
                    <a:p>
                      <a:pPr defTabSz="914400">
                        <a:lnSpc>
                          <a:spcPct val="100000"/>
                        </a:lnSpc>
                        <a:tabLst>
                          <a:tab pos="0" algn="l"/>
                        </a:tabLst>
                      </a:pPr>
                      <a:r>
                        <a:rPr lang="en-US" sz="1250" b="1" u="none" strike="noStrike">
                          <a:solidFill>
                            <a:srgbClr val="1A1A2E"/>
                          </a:solidFill>
                          <a:effectLst/>
                          <a:uFillTx/>
                          <a:latin typeface="Calibri"/>
                          <a:ea typeface="Calibri"/>
                        </a:rPr>
                        <a:t>Average degree</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4.86</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4.86</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4.0</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extLst>
                  <a:ext uri="{0D108BD9-81ED-4DB2-BD59-A6C34878D82A}">
                    <a16:rowId xmlns:a16="http://schemas.microsoft.com/office/drawing/2014/main" val="10003"/>
                  </a:ext>
                </a:extLst>
              </a:tr>
              <a:tr h="420480">
                <a:tc>
                  <a:txBody>
                    <a:bodyPr/>
                    <a:lstStyle/>
                    <a:p>
                      <a:pPr defTabSz="914400">
                        <a:lnSpc>
                          <a:spcPct val="100000"/>
                        </a:lnSpc>
                        <a:tabLst>
                          <a:tab pos="0" algn="l"/>
                        </a:tabLst>
                      </a:pPr>
                      <a:r>
                        <a:rPr lang="en-US" sz="1250" b="1" u="none" strike="noStrike">
                          <a:solidFill>
                            <a:srgbClr val="1A1A2E"/>
                          </a:solidFill>
                          <a:effectLst/>
                          <a:uFillTx/>
                          <a:latin typeface="Calibri"/>
                          <a:ea typeface="Calibri"/>
                        </a:rPr>
                        <a:t>Maximum degree</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algn="ctr" defTabSz="914400">
                        <a:lnSpc>
                          <a:spcPct val="100000"/>
                        </a:lnSpc>
                        <a:tabLst>
                          <a:tab pos="0" algn="l"/>
                        </a:tabLst>
                      </a:pPr>
                      <a:r>
                        <a:rPr lang="en-US" sz="1250" b="1" u="none" strike="noStrike">
                          <a:solidFill>
                            <a:srgbClr val="E94560"/>
                          </a:solidFill>
                          <a:effectLst/>
                          <a:uFillTx/>
                          <a:latin typeface="Calibri"/>
                          <a:ea typeface="Calibri"/>
                        </a:rPr>
                        <a:t>77</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13</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160</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extLst>
                  <a:ext uri="{0D108BD9-81ED-4DB2-BD59-A6C34878D82A}">
                    <a16:rowId xmlns:a16="http://schemas.microsoft.com/office/drawing/2014/main" val="10004"/>
                  </a:ext>
                </a:extLst>
              </a:tr>
              <a:tr h="420480">
                <a:tc>
                  <a:txBody>
                    <a:bodyPr/>
                    <a:lstStyle/>
                    <a:p>
                      <a:pPr defTabSz="914400">
                        <a:lnSpc>
                          <a:spcPct val="100000"/>
                        </a:lnSpc>
                        <a:tabLst>
                          <a:tab pos="0" algn="l"/>
                        </a:tabLst>
                      </a:pPr>
                      <a:r>
                        <a:rPr lang="en-US" sz="1250" b="1" u="none" strike="noStrike">
                          <a:solidFill>
                            <a:srgbClr val="1A1A2E"/>
                          </a:solidFill>
                          <a:effectLst/>
                          <a:uFillTx/>
                          <a:latin typeface="Calibri"/>
                          <a:ea typeface="Calibri"/>
                        </a:rPr>
                        <a:t>Connected components</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algn="ctr" defTabSz="914400">
                        <a:lnSpc>
                          <a:spcPct val="100000"/>
                        </a:lnSpc>
                        <a:tabLst>
                          <a:tab pos="0" algn="l"/>
                        </a:tabLst>
                      </a:pPr>
                      <a:r>
                        <a:rPr lang="en-US" sz="1250" b="1" u="none" strike="noStrike">
                          <a:solidFill>
                            <a:srgbClr val="E94560"/>
                          </a:solidFill>
                          <a:effectLst/>
                          <a:uFillTx/>
                          <a:latin typeface="Calibri"/>
                          <a:ea typeface="Calibri"/>
                        </a:rPr>
                        <a:t>213</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28</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1</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extLst>
                  <a:ext uri="{0D108BD9-81ED-4DB2-BD59-A6C34878D82A}">
                    <a16:rowId xmlns:a16="http://schemas.microsoft.com/office/drawing/2014/main" val="10005"/>
                  </a:ext>
                </a:extLst>
              </a:tr>
              <a:tr h="420480">
                <a:tc>
                  <a:txBody>
                    <a:bodyPr/>
                    <a:lstStyle/>
                    <a:p>
                      <a:pPr defTabSz="914400">
                        <a:lnSpc>
                          <a:spcPct val="100000"/>
                        </a:lnSpc>
                        <a:tabLst>
                          <a:tab pos="0" algn="l"/>
                        </a:tabLst>
                      </a:pPr>
                      <a:r>
                        <a:rPr lang="en-US" sz="1250" b="1" u="none" strike="noStrike">
                          <a:solidFill>
                            <a:srgbClr val="1A1A2E"/>
                          </a:solidFill>
                          <a:effectLst/>
                          <a:uFillTx/>
                          <a:latin typeface="Calibri"/>
                          <a:ea typeface="Calibri"/>
                        </a:rPr>
                        <a:t>Largest component</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2,692  (78%)</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3,419</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3,446</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extLst>
                  <a:ext uri="{0D108BD9-81ED-4DB2-BD59-A6C34878D82A}">
                    <a16:rowId xmlns:a16="http://schemas.microsoft.com/office/drawing/2014/main" val="10006"/>
                  </a:ext>
                </a:extLst>
              </a:tr>
              <a:tr h="420480">
                <a:tc>
                  <a:txBody>
                    <a:bodyPr/>
                    <a:lstStyle/>
                    <a:p>
                      <a:pPr defTabSz="914400">
                        <a:lnSpc>
                          <a:spcPct val="100000"/>
                        </a:lnSpc>
                        <a:tabLst>
                          <a:tab pos="0" algn="l"/>
                        </a:tabLst>
                      </a:pPr>
                      <a:r>
                        <a:rPr lang="en-US" sz="1250" b="1" u="none" strike="noStrike">
                          <a:solidFill>
                            <a:srgbClr val="1A1A2E"/>
                          </a:solidFill>
                          <a:effectLst/>
                          <a:uFillTx/>
                          <a:latin typeface="Calibri"/>
                          <a:ea typeface="Calibri"/>
                        </a:rPr>
                        <a:t>Average clustering</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algn="ctr" defTabSz="914400">
                        <a:lnSpc>
                          <a:spcPct val="100000"/>
                        </a:lnSpc>
                        <a:tabLst>
                          <a:tab pos="0" algn="l"/>
                        </a:tabLst>
                      </a:pPr>
                      <a:r>
                        <a:rPr lang="en-US" sz="1250" b="1" u="none" strike="noStrike">
                          <a:solidFill>
                            <a:srgbClr val="E94560"/>
                          </a:solidFill>
                          <a:effectLst/>
                          <a:uFillTx/>
                          <a:latin typeface="Calibri"/>
                          <a:ea typeface="Calibri"/>
                        </a:rPr>
                        <a:t>0.72</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0.001</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0.01</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extLst>
                  <a:ext uri="{0D108BD9-81ED-4DB2-BD59-A6C34878D82A}">
                    <a16:rowId xmlns:a16="http://schemas.microsoft.com/office/drawing/2014/main" val="10007"/>
                  </a:ext>
                </a:extLst>
              </a:tr>
              <a:tr h="420480">
                <a:tc>
                  <a:txBody>
                    <a:bodyPr/>
                    <a:lstStyle/>
                    <a:p>
                      <a:pPr defTabSz="914400">
                        <a:lnSpc>
                          <a:spcPct val="100000"/>
                        </a:lnSpc>
                        <a:tabLst>
                          <a:tab pos="0" algn="l"/>
                        </a:tabLst>
                      </a:pPr>
                      <a:r>
                        <a:rPr lang="en-US" sz="1250" b="1" u="none" strike="noStrike">
                          <a:solidFill>
                            <a:srgbClr val="1A1A2E"/>
                          </a:solidFill>
                          <a:effectLst/>
                          <a:uFillTx/>
                          <a:latin typeface="Calibri"/>
                          <a:ea typeface="Calibri"/>
                        </a:rPr>
                        <a:t>Avg. path length (GC)</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4.59</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5.33</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4.59</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extLst>
                  <a:ext uri="{0D108BD9-81ED-4DB2-BD59-A6C34878D82A}">
                    <a16:rowId xmlns:a16="http://schemas.microsoft.com/office/drawing/2014/main" val="10008"/>
                  </a:ext>
                </a:extLst>
              </a:tr>
              <a:tr h="420480">
                <a:tc>
                  <a:txBody>
                    <a:bodyPr/>
                    <a:lstStyle/>
                    <a:p>
                      <a:pPr defTabSz="914400">
                        <a:lnSpc>
                          <a:spcPct val="100000"/>
                        </a:lnSpc>
                        <a:tabLst>
                          <a:tab pos="0" algn="l"/>
                        </a:tabLst>
                      </a:pPr>
                      <a:r>
                        <a:rPr lang="en-US" sz="1250" b="1" u="none" strike="noStrike">
                          <a:solidFill>
                            <a:srgbClr val="1A1A2E"/>
                          </a:solidFill>
                          <a:effectLst/>
                          <a:uFillTx/>
                          <a:latin typeface="Calibri"/>
                          <a:ea typeface="Calibri"/>
                        </a:rPr>
                        <a:t>Diameter (GC)</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15</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11</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algn="ctr" defTabSz="914400">
                        <a:lnSpc>
                          <a:spcPct val="100000"/>
                        </a:lnSpc>
                        <a:tabLst>
                          <a:tab pos="0" algn="l"/>
                        </a:tabLst>
                      </a:pPr>
                      <a:r>
                        <a:rPr lang="en-US" sz="1250" b="0" u="none" strike="noStrike">
                          <a:solidFill>
                            <a:srgbClr val="1A1A2E"/>
                          </a:solidFill>
                          <a:effectLst/>
                          <a:uFillTx/>
                          <a:latin typeface="Calibri"/>
                          <a:ea typeface="Calibri"/>
                        </a:rPr>
                        <a:t>8</a:t>
                      </a:r>
                      <a:endParaRPr lang="en-US" sz="125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extLst>
                  <a:ext uri="{0D108BD9-81ED-4DB2-BD59-A6C34878D82A}">
                    <a16:rowId xmlns:a16="http://schemas.microsoft.com/office/drawing/2014/main" val="10009"/>
                  </a:ext>
                </a:extLst>
              </a:tr>
            </a:tbl>
          </a:graphicData>
        </a:graphic>
      </p:graphicFrame>
      <p:sp>
        <p:nvSpPr>
          <p:cNvPr id="109" name="Shape 2"/>
          <p:cNvSpPr/>
          <p:nvPr/>
        </p:nvSpPr>
        <p:spPr>
          <a:xfrm>
            <a:off x="9144000" y="1783080"/>
            <a:ext cx="2404440" cy="4297320"/>
          </a:xfrm>
          <a:prstGeom prst="rect">
            <a:avLst/>
          </a:prstGeom>
          <a:solidFill>
            <a:srgbClr val="1A1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0" name="Text 3"/>
          <p:cNvSpPr/>
          <p:nvPr/>
        </p:nvSpPr>
        <p:spPr>
          <a:xfrm>
            <a:off x="9372600" y="2011680"/>
            <a:ext cx="2011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E94560"/>
                </a:solidFill>
                <a:effectLst/>
                <a:uFillTx/>
                <a:latin typeface="Calibri"/>
                <a:ea typeface="Calibri"/>
              </a:rPr>
              <a:t>HOW TO READ IT</a:t>
            </a:r>
            <a:endParaRPr lang="en-US" sz="1100" b="0" u="none" strike="noStrike">
              <a:solidFill>
                <a:srgbClr val="000000"/>
              </a:solidFill>
              <a:effectLst/>
              <a:uFillTx/>
              <a:latin typeface="Arial"/>
            </a:endParaRPr>
          </a:p>
        </p:txBody>
      </p:sp>
      <p:sp>
        <p:nvSpPr>
          <p:cNvPr id="111" name="Text 4"/>
          <p:cNvSpPr/>
          <p:nvPr/>
        </p:nvSpPr>
        <p:spPr>
          <a:xfrm>
            <a:off x="9372600" y="2377440"/>
            <a:ext cx="1992960" cy="365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150" b="1" u="none" strike="noStrike" dirty="0">
                <a:solidFill>
                  <a:srgbClr val="FFFFFF"/>
                </a:solidFill>
                <a:effectLst/>
                <a:uFillTx/>
                <a:latin typeface="Calibri"/>
                <a:ea typeface="Calibri"/>
              </a:rPr>
              <a:t>Clustering 0.72 vs 0.001</a:t>
            </a:r>
            <a:endParaRPr lang="en-US" sz="1150" b="0" u="none" strike="noStrike" dirty="0">
              <a:solidFill>
                <a:srgbClr val="000000"/>
              </a:solidFill>
              <a:effectLst/>
              <a:uFillTx/>
              <a:latin typeface="Arial"/>
            </a:endParaRPr>
          </a:p>
          <a:p>
            <a:pPr defTabSz="914400">
              <a:lnSpc>
                <a:spcPts val="1500"/>
              </a:lnSpc>
              <a:spcAft>
                <a:spcPts val="1199"/>
              </a:spcAft>
              <a:tabLst>
                <a:tab pos="0" algn="l"/>
              </a:tabLst>
            </a:pPr>
            <a:r>
              <a:rPr lang="en-US" sz="1150" b="0" u="none" strike="noStrike" dirty="0">
                <a:solidFill>
                  <a:srgbClr val="C9C9D4"/>
                </a:solidFill>
                <a:effectLst/>
                <a:uFillTx/>
                <a:latin typeface="Calibri"/>
                <a:ea typeface="Calibri"/>
              </a:rPr>
              <a:t>The real network is ~700× more clustered than chance.</a:t>
            </a:r>
            <a:endParaRPr lang="en-US" sz="1150" b="0" u="none" strike="noStrike" dirty="0">
              <a:solidFill>
                <a:srgbClr val="000000"/>
              </a:solidFill>
              <a:effectLst/>
              <a:uFillTx/>
              <a:latin typeface="Arial"/>
            </a:endParaRPr>
          </a:p>
          <a:p>
            <a:pPr defTabSz="914400">
              <a:lnSpc>
                <a:spcPts val="1500"/>
              </a:lnSpc>
              <a:tabLst>
                <a:tab pos="0" algn="l"/>
              </a:tabLst>
            </a:pPr>
            <a:r>
              <a:rPr lang="en-US" sz="1150" b="1" u="none" strike="noStrike" dirty="0">
                <a:solidFill>
                  <a:srgbClr val="FFFFFF"/>
                </a:solidFill>
                <a:effectLst/>
                <a:uFillTx/>
                <a:latin typeface="Calibri"/>
                <a:ea typeface="Calibri"/>
              </a:rPr>
              <a:t>Max degree 77 vs 13</a:t>
            </a:r>
            <a:endParaRPr lang="en-US" sz="1150" b="0" u="none" strike="noStrike" dirty="0">
              <a:solidFill>
                <a:srgbClr val="000000"/>
              </a:solidFill>
              <a:effectLst/>
              <a:uFillTx/>
              <a:latin typeface="Arial"/>
            </a:endParaRPr>
          </a:p>
          <a:p>
            <a:pPr defTabSz="914400">
              <a:lnSpc>
                <a:spcPts val="1500"/>
              </a:lnSpc>
              <a:spcAft>
                <a:spcPts val="1199"/>
              </a:spcAft>
              <a:tabLst>
                <a:tab pos="0" algn="l"/>
              </a:tabLst>
            </a:pPr>
            <a:r>
              <a:rPr lang="en-US" sz="1150" b="0" u="none" strike="noStrike" dirty="0">
                <a:solidFill>
                  <a:srgbClr val="C9C9D4"/>
                </a:solidFill>
                <a:effectLst/>
                <a:uFillTx/>
                <a:latin typeface="Calibri"/>
                <a:ea typeface="Calibri"/>
              </a:rPr>
              <a:t>Real cinema has hubs that random wiring never produces.</a:t>
            </a:r>
            <a:endParaRPr lang="en-US" sz="1150" b="0" u="none" strike="noStrike" dirty="0">
              <a:solidFill>
                <a:srgbClr val="000000"/>
              </a:solidFill>
              <a:effectLst/>
              <a:uFillTx/>
              <a:latin typeface="Arial"/>
            </a:endParaRPr>
          </a:p>
          <a:p>
            <a:pPr defTabSz="914400">
              <a:lnSpc>
                <a:spcPts val="1500"/>
              </a:lnSpc>
              <a:tabLst>
                <a:tab pos="0" algn="l"/>
              </a:tabLst>
            </a:pPr>
            <a:r>
              <a:rPr lang="en-US" sz="1150" b="1" u="none" strike="noStrike" dirty="0">
                <a:solidFill>
                  <a:srgbClr val="FFFFFF"/>
                </a:solidFill>
                <a:effectLst/>
                <a:uFillTx/>
                <a:latin typeface="Calibri"/>
                <a:ea typeface="Calibri"/>
              </a:rPr>
              <a:t>213 components</a:t>
            </a:r>
            <a:endParaRPr lang="en-US" sz="1150" b="0" u="none" strike="noStrike" dirty="0">
              <a:solidFill>
                <a:srgbClr val="000000"/>
              </a:solidFill>
              <a:effectLst/>
              <a:uFillTx/>
              <a:latin typeface="Arial"/>
            </a:endParaRPr>
          </a:p>
          <a:p>
            <a:pPr defTabSz="914400">
              <a:lnSpc>
                <a:spcPts val="1500"/>
              </a:lnSpc>
              <a:tabLst>
                <a:tab pos="0" algn="l"/>
              </a:tabLst>
            </a:pPr>
            <a:r>
              <a:rPr lang="en-US" sz="1150" b="0" u="none" strike="noStrike" dirty="0">
                <a:solidFill>
                  <a:srgbClr val="C9C9D4"/>
                </a:solidFill>
                <a:effectLst/>
                <a:uFillTx/>
                <a:latin typeface="Calibri"/>
                <a:ea typeface="Calibri"/>
              </a:rPr>
              <a:t>The network is fragmented, but 78% sit in one giant piece.</a:t>
            </a:r>
            <a:endParaRPr lang="en-US" sz="1150" b="0" u="none" strike="noStrike" dirty="0">
              <a:solidFill>
                <a:srgbClr val="000000"/>
              </a:solidFill>
              <a:effectLst/>
              <a:uFillTx/>
              <a:latin typeface="Arial"/>
            </a:endParaRPr>
          </a:p>
        </p:txBody>
      </p:sp>
      <p:sp>
        <p:nvSpPr>
          <p:cNvPr id="112" name="Text 5"/>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5</a:t>
            </a:r>
            <a:endParaRPr lang="en-US" sz="11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113"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THE BIG PICTURE</a:t>
            </a:r>
            <a:endParaRPr lang="en-US" sz="1300" b="0" u="none" strike="noStrike">
              <a:solidFill>
                <a:srgbClr val="FFFFFF"/>
              </a:solidFill>
              <a:effectLst/>
              <a:uFillTx/>
              <a:latin typeface="Arial"/>
            </a:endParaRPr>
          </a:p>
        </p:txBody>
      </p:sp>
      <p:sp>
        <p:nvSpPr>
          <p:cNvPr id="114"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FFFFFF"/>
                </a:solidFill>
                <a:effectLst/>
                <a:uFillTx/>
                <a:latin typeface="Georgia"/>
                <a:ea typeface="Georgia"/>
              </a:rPr>
              <a:t>Four numbers that define the network</a:t>
            </a:r>
            <a:endParaRPr lang="en-US" sz="3200" b="0" u="none" strike="noStrike">
              <a:solidFill>
                <a:srgbClr val="FFFFFF"/>
              </a:solidFill>
              <a:effectLst/>
              <a:uFillTx/>
              <a:latin typeface="Arial"/>
            </a:endParaRPr>
          </a:p>
        </p:txBody>
      </p:sp>
      <p:sp>
        <p:nvSpPr>
          <p:cNvPr id="115" name="Shape 2"/>
          <p:cNvSpPr/>
          <p:nvPr/>
        </p:nvSpPr>
        <p:spPr>
          <a:xfrm>
            <a:off x="640080" y="2103120"/>
            <a:ext cx="2559960" cy="3382920"/>
          </a:xfrm>
          <a:prstGeom prst="rect">
            <a:avLst/>
          </a:prstGeom>
          <a:solidFill>
            <a:srgbClr val="232342"/>
          </a:solidFill>
          <a:ln w="12700">
            <a:solidFill>
              <a:srgbClr val="33334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6" name="Shape 3"/>
          <p:cNvSpPr/>
          <p:nvPr/>
        </p:nvSpPr>
        <p:spPr>
          <a:xfrm>
            <a:off x="640080" y="2103120"/>
            <a:ext cx="2559960" cy="91080"/>
          </a:xfrm>
          <a:prstGeom prst="rect">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7" name="Text 4"/>
          <p:cNvSpPr/>
          <p:nvPr/>
        </p:nvSpPr>
        <p:spPr>
          <a:xfrm>
            <a:off x="731520" y="2468880"/>
            <a:ext cx="23770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5800" b="1" u="none" strike="noStrike">
                <a:solidFill>
                  <a:srgbClr val="E94560"/>
                </a:solidFill>
                <a:effectLst/>
                <a:uFillTx/>
                <a:latin typeface="Georgia"/>
                <a:ea typeface="Georgia"/>
              </a:rPr>
              <a:t>0.72</a:t>
            </a:r>
            <a:endParaRPr lang="en-US" sz="5800" b="0" u="none" strike="noStrike">
              <a:solidFill>
                <a:srgbClr val="FFFFFF"/>
              </a:solidFill>
              <a:effectLst/>
              <a:uFillTx/>
              <a:latin typeface="Arial"/>
            </a:endParaRPr>
          </a:p>
        </p:txBody>
      </p:sp>
      <p:sp>
        <p:nvSpPr>
          <p:cNvPr id="118" name="Text 5"/>
          <p:cNvSpPr/>
          <p:nvPr/>
        </p:nvSpPr>
        <p:spPr>
          <a:xfrm>
            <a:off x="822960" y="3657600"/>
            <a:ext cx="21942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Average clustering</a:t>
            </a:r>
            <a:endParaRPr lang="en-US" sz="1400" b="0" u="none" strike="noStrike">
              <a:solidFill>
                <a:srgbClr val="FFFFFF"/>
              </a:solidFill>
              <a:effectLst/>
              <a:uFillTx/>
              <a:latin typeface="Arial"/>
            </a:endParaRPr>
          </a:p>
        </p:txBody>
      </p:sp>
      <p:sp>
        <p:nvSpPr>
          <p:cNvPr id="119" name="Text 6"/>
          <p:cNvSpPr/>
          <p:nvPr/>
        </p:nvSpPr>
        <p:spPr>
          <a:xfrm>
            <a:off x="822960" y="4297680"/>
            <a:ext cx="21942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1500"/>
              </a:lnSpc>
              <a:tabLst>
                <a:tab pos="0" algn="l"/>
              </a:tabLst>
            </a:pPr>
            <a:r>
              <a:rPr lang="en-US" sz="1150" b="0" u="none" strike="noStrike">
                <a:solidFill>
                  <a:srgbClr val="9A9AAB"/>
                </a:solidFill>
                <a:effectLst/>
                <a:uFillTx/>
                <a:latin typeface="Calibri"/>
                <a:ea typeface="Calibri"/>
              </a:rPr>
              <a:t>Co-stars of co-stars are usually co-stars too</a:t>
            </a:r>
            <a:endParaRPr lang="en-US" sz="1150" b="0" u="none" strike="noStrike">
              <a:solidFill>
                <a:srgbClr val="FFFFFF"/>
              </a:solidFill>
              <a:effectLst/>
              <a:uFillTx/>
              <a:latin typeface="Arial"/>
            </a:endParaRPr>
          </a:p>
        </p:txBody>
      </p:sp>
      <p:sp>
        <p:nvSpPr>
          <p:cNvPr id="120" name="Shape 7"/>
          <p:cNvSpPr/>
          <p:nvPr/>
        </p:nvSpPr>
        <p:spPr>
          <a:xfrm>
            <a:off x="3429000" y="2103120"/>
            <a:ext cx="2559960" cy="3382920"/>
          </a:xfrm>
          <a:prstGeom prst="rect">
            <a:avLst/>
          </a:prstGeom>
          <a:solidFill>
            <a:srgbClr val="232342"/>
          </a:solidFill>
          <a:ln w="12700">
            <a:solidFill>
              <a:srgbClr val="33334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1" name="Shape 8"/>
          <p:cNvSpPr/>
          <p:nvPr/>
        </p:nvSpPr>
        <p:spPr>
          <a:xfrm>
            <a:off x="3429000" y="2103120"/>
            <a:ext cx="2559960" cy="91080"/>
          </a:xfrm>
          <a:prstGeom prst="rect">
            <a:avLst/>
          </a:prstGeom>
          <a:solidFill>
            <a:srgbClr val="0F8B8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2" name="Text 9"/>
          <p:cNvSpPr/>
          <p:nvPr/>
        </p:nvSpPr>
        <p:spPr>
          <a:xfrm>
            <a:off x="3520440" y="2468880"/>
            <a:ext cx="23770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5800" b="1" u="none" strike="noStrike">
                <a:solidFill>
                  <a:srgbClr val="0F8B8D"/>
                </a:solidFill>
                <a:effectLst/>
                <a:uFillTx/>
                <a:latin typeface="Georgia"/>
                <a:ea typeface="Georgia"/>
              </a:rPr>
              <a:t>4.6</a:t>
            </a:r>
            <a:endParaRPr lang="en-US" sz="5800" b="0" u="none" strike="noStrike">
              <a:solidFill>
                <a:srgbClr val="FFFFFF"/>
              </a:solidFill>
              <a:effectLst/>
              <a:uFillTx/>
              <a:latin typeface="Arial"/>
            </a:endParaRPr>
          </a:p>
        </p:txBody>
      </p:sp>
      <p:sp>
        <p:nvSpPr>
          <p:cNvPr id="123" name="Text 10"/>
          <p:cNvSpPr/>
          <p:nvPr/>
        </p:nvSpPr>
        <p:spPr>
          <a:xfrm>
            <a:off x="3611880" y="3657600"/>
            <a:ext cx="21942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Steps between any two actors</a:t>
            </a:r>
            <a:endParaRPr lang="en-US" sz="1400" b="0" u="none" strike="noStrike">
              <a:solidFill>
                <a:srgbClr val="FFFFFF"/>
              </a:solidFill>
              <a:effectLst/>
              <a:uFillTx/>
              <a:latin typeface="Arial"/>
            </a:endParaRPr>
          </a:p>
        </p:txBody>
      </p:sp>
      <p:sp>
        <p:nvSpPr>
          <p:cNvPr id="124" name="Text 11"/>
          <p:cNvSpPr/>
          <p:nvPr/>
        </p:nvSpPr>
        <p:spPr>
          <a:xfrm>
            <a:off x="3611880" y="4297680"/>
            <a:ext cx="21942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1500"/>
              </a:lnSpc>
              <a:tabLst>
                <a:tab pos="0" algn="l"/>
              </a:tabLst>
            </a:pPr>
            <a:r>
              <a:rPr lang="en-US" sz="1150" b="0" u="none" strike="noStrike">
                <a:solidFill>
                  <a:srgbClr val="9A9AAB"/>
                </a:solidFill>
                <a:effectLst/>
                <a:uFillTx/>
                <a:latin typeface="Calibri"/>
                <a:ea typeface="Calibri"/>
              </a:rPr>
              <a:t>"Six degrees" — confirmed in our data</a:t>
            </a:r>
            <a:endParaRPr lang="en-US" sz="1150" b="0" u="none" strike="noStrike">
              <a:solidFill>
                <a:srgbClr val="FFFFFF"/>
              </a:solidFill>
              <a:effectLst/>
              <a:uFillTx/>
              <a:latin typeface="Arial"/>
            </a:endParaRPr>
          </a:p>
        </p:txBody>
      </p:sp>
      <p:sp>
        <p:nvSpPr>
          <p:cNvPr id="125" name="Shape 12"/>
          <p:cNvSpPr/>
          <p:nvPr/>
        </p:nvSpPr>
        <p:spPr>
          <a:xfrm>
            <a:off x="6217920" y="2103120"/>
            <a:ext cx="2559960" cy="3382920"/>
          </a:xfrm>
          <a:prstGeom prst="rect">
            <a:avLst/>
          </a:prstGeom>
          <a:solidFill>
            <a:srgbClr val="232342"/>
          </a:solidFill>
          <a:ln w="12700">
            <a:solidFill>
              <a:srgbClr val="33334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6" name="Shape 13"/>
          <p:cNvSpPr/>
          <p:nvPr/>
        </p:nvSpPr>
        <p:spPr>
          <a:xfrm>
            <a:off x="6217920" y="2103120"/>
            <a:ext cx="2559960" cy="91080"/>
          </a:xfrm>
          <a:prstGeom prst="rect">
            <a:avLst/>
          </a:prstGeom>
          <a:solidFill>
            <a:srgbClr val="E8A3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7" name="Text 14"/>
          <p:cNvSpPr/>
          <p:nvPr/>
        </p:nvSpPr>
        <p:spPr>
          <a:xfrm>
            <a:off x="6309360" y="2468880"/>
            <a:ext cx="23770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5800" b="1" u="none" strike="noStrike">
                <a:solidFill>
                  <a:srgbClr val="E8A317"/>
                </a:solidFill>
                <a:effectLst/>
                <a:uFillTx/>
                <a:latin typeface="Georgia"/>
                <a:ea typeface="Georgia"/>
              </a:rPr>
              <a:t>77</a:t>
            </a:r>
            <a:endParaRPr lang="en-US" sz="5800" b="0" u="none" strike="noStrike">
              <a:solidFill>
                <a:srgbClr val="FFFFFF"/>
              </a:solidFill>
              <a:effectLst/>
              <a:uFillTx/>
              <a:latin typeface="Arial"/>
            </a:endParaRPr>
          </a:p>
        </p:txBody>
      </p:sp>
      <p:sp>
        <p:nvSpPr>
          <p:cNvPr id="128" name="Text 15"/>
          <p:cNvSpPr/>
          <p:nvPr/>
        </p:nvSpPr>
        <p:spPr>
          <a:xfrm>
            <a:off x="6400800" y="3657600"/>
            <a:ext cx="21942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Co-stars of the top hub</a:t>
            </a:r>
            <a:endParaRPr lang="en-US" sz="1400" b="0" u="none" strike="noStrike">
              <a:solidFill>
                <a:srgbClr val="FFFFFF"/>
              </a:solidFill>
              <a:effectLst/>
              <a:uFillTx/>
              <a:latin typeface="Arial"/>
            </a:endParaRPr>
          </a:p>
        </p:txBody>
      </p:sp>
      <p:sp>
        <p:nvSpPr>
          <p:cNvPr id="129" name="Text 16"/>
          <p:cNvSpPr/>
          <p:nvPr/>
        </p:nvSpPr>
        <p:spPr>
          <a:xfrm>
            <a:off x="6400800" y="4297680"/>
            <a:ext cx="21942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1500"/>
              </a:lnSpc>
              <a:tabLst>
                <a:tab pos="0" algn="l"/>
              </a:tabLst>
            </a:pPr>
            <a:r>
              <a:rPr lang="en-US" sz="1150" b="0" u="none" strike="noStrike">
                <a:solidFill>
                  <a:srgbClr val="9A9AAB"/>
                </a:solidFill>
                <a:effectLst/>
                <a:uFillTx/>
                <a:latin typeface="Calibri"/>
                <a:ea typeface="Calibri"/>
              </a:rPr>
              <a:t>Tom Hanks, the most connected actor</a:t>
            </a:r>
            <a:endParaRPr lang="en-US" sz="1150" b="0" u="none" strike="noStrike">
              <a:solidFill>
                <a:srgbClr val="FFFFFF"/>
              </a:solidFill>
              <a:effectLst/>
              <a:uFillTx/>
              <a:latin typeface="Arial"/>
            </a:endParaRPr>
          </a:p>
        </p:txBody>
      </p:sp>
      <p:sp>
        <p:nvSpPr>
          <p:cNvPr id="130" name="Shape 17"/>
          <p:cNvSpPr/>
          <p:nvPr/>
        </p:nvSpPr>
        <p:spPr>
          <a:xfrm>
            <a:off x="9006840" y="2103120"/>
            <a:ext cx="2559960" cy="3382920"/>
          </a:xfrm>
          <a:prstGeom prst="rect">
            <a:avLst/>
          </a:prstGeom>
          <a:solidFill>
            <a:srgbClr val="232342"/>
          </a:solidFill>
          <a:ln w="12700">
            <a:solidFill>
              <a:srgbClr val="33334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1" name="Shape 18"/>
          <p:cNvSpPr/>
          <p:nvPr/>
        </p:nvSpPr>
        <p:spPr>
          <a:xfrm>
            <a:off x="9006840" y="2103120"/>
            <a:ext cx="2559960" cy="91080"/>
          </a:xfrm>
          <a:prstGeom prst="rect">
            <a:avLst/>
          </a:prstGeom>
          <a:solidFill>
            <a:srgbClr val="9B7E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2" name="Text 19"/>
          <p:cNvSpPr/>
          <p:nvPr/>
        </p:nvSpPr>
        <p:spPr>
          <a:xfrm>
            <a:off x="9098280" y="2468880"/>
            <a:ext cx="23770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5800" b="1" u="none" strike="noStrike">
                <a:solidFill>
                  <a:srgbClr val="9B7EDE"/>
                </a:solidFill>
                <a:effectLst/>
                <a:uFillTx/>
                <a:latin typeface="Georgia"/>
                <a:ea typeface="Georgia"/>
              </a:rPr>
              <a:t>30</a:t>
            </a:r>
            <a:endParaRPr lang="en-US" sz="5800" b="0" u="none" strike="noStrike">
              <a:solidFill>
                <a:srgbClr val="FFFFFF"/>
              </a:solidFill>
              <a:effectLst/>
              <a:uFillTx/>
              <a:latin typeface="Arial"/>
            </a:endParaRPr>
          </a:p>
        </p:txBody>
      </p:sp>
      <p:sp>
        <p:nvSpPr>
          <p:cNvPr id="133" name="Text 20"/>
          <p:cNvSpPr/>
          <p:nvPr/>
        </p:nvSpPr>
        <p:spPr>
          <a:xfrm>
            <a:off x="9189720" y="3657600"/>
            <a:ext cx="21942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ea typeface="Calibri"/>
              </a:rPr>
              <a:t>Communities detected</a:t>
            </a:r>
            <a:endParaRPr lang="en-US" sz="1400" b="0" u="none" strike="noStrike">
              <a:solidFill>
                <a:srgbClr val="FFFFFF"/>
              </a:solidFill>
              <a:effectLst/>
              <a:uFillTx/>
              <a:latin typeface="Arial"/>
            </a:endParaRPr>
          </a:p>
        </p:txBody>
      </p:sp>
      <p:sp>
        <p:nvSpPr>
          <p:cNvPr id="134" name="Text 21"/>
          <p:cNvSpPr/>
          <p:nvPr/>
        </p:nvSpPr>
        <p:spPr>
          <a:xfrm>
            <a:off x="9189720" y="4297680"/>
            <a:ext cx="21942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1500"/>
              </a:lnSpc>
              <a:tabLst>
                <a:tab pos="0" algn="l"/>
              </a:tabLst>
            </a:pPr>
            <a:r>
              <a:rPr lang="en-US" sz="1150" b="0" u="none" strike="noStrike">
                <a:solidFill>
                  <a:srgbClr val="9A9AAB"/>
                </a:solidFill>
                <a:effectLst/>
                <a:uFillTx/>
                <a:latin typeface="Calibri"/>
                <a:ea typeface="Calibri"/>
              </a:rPr>
              <a:t>Distinct working circles by era &amp; genre</a:t>
            </a:r>
            <a:endParaRPr lang="en-US" sz="1150" b="0" u="none" strike="noStrike">
              <a:solidFill>
                <a:srgbClr val="FFFFFF"/>
              </a:solidFill>
              <a:effectLst/>
              <a:uFillTx/>
              <a:latin typeface="Arial"/>
            </a:endParaRPr>
          </a:p>
        </p:txBody>
      </p:sp>
      <p:sp>
        <p:nvSpPr>
          <p:cNvPr id="136" name="Text 23"/>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6</a:t>
            </a:r>
            <a:endParaRPr lang="en-US" sz="1100" b="0" u="none" strike="noStrike">
              <a:solidFill>
                <a:srgbClr val="FFFFFF"/>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IMPORTANT NODES</a:t>
            </a:r>
            <a:endParaRPr lang="en-US" sz="1300" b="0" u="none" strike="noStrike">
              <a:solidFill>
                <a:srgbClr val="000000"/>
              </a:solidFill>
              <a:effectLst/>
              <a:uFillTx/>
              <a:latin typeface="Arial"/>
            </a:endParaRPr>
          </a:p>
        </p:txBody>
      </p:sp>
      <p:sp>
        <p:nvSpPr>
          <p:cNvPr id="138"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Who are the most important actors?</a:t>
            </a:r>
            <a:endParaRPr lang="en-US" sz="3200" b="0" u="none" strike="noStrike">
              <a:solidFill>
                <a:srgbClr val="000000"/>
              </a:solidFill>
              <a:effectLst/>
              <a:uFillTx/>
              <a:latin typeface="Arial"/>
            </a:endParaRPr>
          </a:p>
        </p:txBody>
      </p:sp>
      <p:sp>
        <p:nvSpPr>
          <p:cNvPr id="139" name="Text 2"/>
          <p:cNvSpPr/>
          <p:nvPr/>
        </p:nvSpPr>
        <p:spPr>
          <a:xfrm>
            <a:off x="640080" y="1554480"/>
            <a:ext cx="108810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6B6B7B"/>
                </a:solidFill>
                <a:effectLst/>
                <a:uFillTx/>
                <a:latin typeface="Calibri"/>
                <a:ea typeface="Calibri"/>
              </a:rPr>
              <a:t>"Important" depends on what you mean — so we measured it four ways. The lists overlap, but the differences are the insight.</a:t>
            </a:r>
            <a:endParaRPr lang="en-US" sz="1400" b="0" u="none" strike="noStrike">
              <a:solidFill>
                <a:srgbClr val="000000"/>
              </a:solidFill>
              <a:effectLst/>
              <a:uFillTx/>
              <a:latin typeface="Arial"/>
            </a:endParaRPr>
          </a:p>
        </p:txBody>
      </p:sp>
      <p:sp>
        <p:nvSpPr>
          <p:cNvPr id="140" name="Shape 3"/>
          <p:cNvSpPr/>
          <p:nvPr/>
        </p:nvSpPr>
        <p:spPr>
          <a:xfrm>
            <a:off x="640080" y="2103120"/>
            <a:ext cx="2578320" cy="3977280"/>
          </a:xfrm>
          <a:prstGeom prst="rect">
            <a:avLst/>
          </a:prstGeom>
          <a:solidFill>
            <a:srgbClr val="F4F4F7"/>
          </a:solidFill>
          <a:ln w="12700">
            <a:solidFill>
              <a:srgbClr val="E2E2E8"/>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1" name="Shape 4"/>
          <p:cNvSpPr/>
          <p:nvPr/>
        </p:nvSpPr>
        <p:spPr>
          <a:xfrm>
            <a:off x="640080" y="2103120"/>
            <a:ext cx="91080" cy="3977280"/>
          </a:xfrm>
          <a:prstGeom prst="rect">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2" name="Text 5"/>
          <p:cNvSpPr/>
          <p:nvPr/>
        </p:nvSpPr>
        <p:spPr>
          <a:xfrm>
            <a:off x="896040" y="2286000"/>
            <a:ext cx="22399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A1A2E"/>
                </a:solidFill>
                <a:effectLst/>
                <a:uFillTx/>
                <a:latin typeface="Georgia"/>
                <a:ea typeface="Georgia"/>
              </a:rPr>
              <a:t>Degree</a:t>
            </a:r>
            <a:endParaRPr lang="en-US" sz="1800" b="0" u="none" strike="noStrike">
              <a:solidFill>
                <a:srgbClr val="000000"/>
              </a:solidFill>
              <a:effectLst/>
              <a:uFillTx/>
              <a:latin typeface="Arial"/>
            </a:endParaRPr>
          </a:p>
        </p:txBody>
      </p:sp>
      <p:sp>
        <p:nvSpPr>
          <p:cNvPr id="143" name="Text 6"/>
          <p:cNvSpPr/>
          <p:nvPr/>
        </p:nvSpPr>
        <p:spPr>
          <a:xfrm>
            <a:off x="896040" y="2670120"/>
            <a:ext cx="2239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1" u="none" strike="noStrike" spc="99">
                <a:solidFill>
                  <a:srgbClr val="E94560"/>
                </a:solidFill>
                <a:effectLst/>
                <a:uFillTx/>
                <a:latin typeface="Calibri"/>
                <a:ea typeface="Calibri"/>
              </a:rPr>
              <a:t>MOST CO-STARS</a:t>
            </a:r>
            <a:endParaRPr lang="en-US" sz="950" b="0" u="none" strike="noStrike">
              <a:solidFill>
                <a:srgbClr val="000000"/>
              </a:solidFill>
              <a:effectLst/>
              <a:uFillTx/>
              <a:latin typeface="Arial"/>
            </a:endParaRPr>
          </a:p>
        </p:txBody>
      </p:sp>
      <p:sp>
        <p:nvSpPr>
          <p:cNvPr id="144" name="Shape 7"/>
          <p:cNvSpPr/>
          <p:nvPr/>
        </p:nvSpPr>
        <p:spPr>
          <a:xfrm>
            <a:off x="896040" y="3108960"/>
            <a:ext cx="310680" cy="310680"/>
          </a:xfrm>
          <a:prstGeom prst="ellipse">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5" name="Text 8"/>
          <p:cNvSpPr/>
          <p:nvPr/>
        </p:nvSpPr>
        <p:spPr>
          <a:xfrm>
            <a:off x="896040" y="31089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1</a:t>
            </a:r>
            <a:endParaRPr lang="en-US" sz="1100" b="0" u="none" strike="noStrike">
              <a:solidFill>
                <a:srgbClr val="000000"/>
              </a:solidFill>
              <a:effectLst/>
              <a:uFillTx/>
              <a:latin typeface="Arial"/>
            </a:endParaRPr>
          </a:p>
        </p:txBody>
      </p:sp>
      <p:sp>
        <p:nvSpPr>
          <p:cNvPr id="146" name="Text 9"/>
          <p:cNvSpPr/>
          <p:nvPr/>
        </p:nvSpPr>
        <p:spPr>
          <a:xfrm>
            <a:off x="1298520" y="30816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A1A2E"/>
                </a:solidFill>
                <a:effectLst/>
                <a:uFillTx/>
                <a:latin typeface="Calibri"/>
                <a:ea typeface="Calibri"/>
              </a:rPr>
              <a:t>Tom Hanks</a:t>
            </a:r>
            <a:endParaRPr lang="en-US" sz="1250" b="0" u="none" strike="noStrike">
              <a:solidFill>
                <a:srgbClr val="000000"/>
              </a:solidFill>
              <a:effectLst/>
              <a:uFillTx/>
              <a:latin typeface="Arial"/>
            </a:endParaRPr>
          </a:p>
        </p:txBody>
      </p:sp>
      <p:sp>
        <p:nvSpPr>
          <p:cNvPr id="147" name="Shape 10"/>
          <p:cNvSpPr/>
          <p:nvPr/>
        </p:nvSpPr>
        <p:spPr>
          <a:xfrm>
            <a:off x="896040" y="3675960"/>
            <a:ext cx="310680" cy="310680"/>
          </a:xfrm>
          <a:prstGeom prst="ellipse">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8" name="Text 11"/>
          <p:cNvSpPr/>
          <p:nvPr/>
        </p:nvSpPr>
        <p:spPr>
          <a:xfrm>
            <a:off x="896040" y="36759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2</a:t>
            </a:r>
            <a:endParaRPr lang="en-US" sz="1100" b="0" u="none" strike="noStrike">
              <a:solidFill>
                <a:srgbClr val="000000"/>
              </a:solidFill>
              <a:effectLst/>
              <a:uFillTx/>
              <a:latin typeface="Arial"/>
            </a:endParaRPr>
          </a:p>
        </p:txBody>
      </p:sp>
      <p:sp>
        <p:nvSpPr>
          <p:cNvPr id="149" name="Text 12"/>
          <p:cNvSpPr/>
          <p:nvPr/>
        </p:nvSpPr>
        <p:spPr>
          <a:xfrm>
            <a:off x="1298520" y="36486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A1A2E"/>
                </a:solidFill>
                <a:effectLst/>
                <a:uFillTx/>
                <a:latin typeface="Calibri"/>
                <a:ea typeface="Calibri"/>
              </a:rPr>
              <a:t>Robert De Niro</a:t>
            </a:r>
            <a:endParaRPr lang="en-US" sz="1250" b="0" u="none" strike="noStrike">
              <a:solidFill>
                <a:srgbClr val="000000"/>
              </a:solidFill>
              <a:effectLst/>
              <a:uFillTx/>
              <a:latin typeface="Arial"/>
            </a:endParaRPr>
          </a:p>
        </p:txBody>
      </p:sp>
      <p:sp>
        <p:nvSpPr>
          <p:cNvPr id="150" name="Shape 13"/>
          <p:cNvSpPr/>
          <p:nvPr/>
        </p:nvSpPr>
        <p:spPr>
          <a:xfrm>
            <a:off x="896040" y="4242960"/>
            <a:ext cx="310680" cy="310680"/>
          </a:xfrm>
          <a:prstGeom prst="ellipse">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1" name="Text 14"/>
          <p:cNvSpPr/>
          <p:nvPr/>
        </p:nvSpPr>
        <p:spPr>
          <a:xfrm>
            <a:off x="896040" y="42429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3</a:t>
            </a:r>
            <a:endParaRPr lang="en-US" sz="1100" b="0" u="none" strike="noStrike">
              <a:solidFill>
                <a:srgbClr val="000000"/>
              </a:solidFill>
              <a:effectLst/>
              <a:uFillTx/>
              <a:latin typeface="Arial"/>
            </a:endParaRPr>
          </a:p>
        </p:txBody>
      </p:sp>
      <p:sp>
        <p:nvSpPr>
          <p:cNvPr id="152" name="Text 15"/>
          <p:cNvSpPr/>
          <p:nvPr/>
        </p:nvSpPr>
        <p:spPr>
          <a:xfrm>
            <a:off x="1298520" y="421524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A1A2E"/>
                </a:solidFill>
                <a:effectLst/>
                <a:uFillTx/>
                <a:latin typeface="Calibri"/>
                <a:ea typeface="Calibri"/>
              </a:rPr>
              <a:t>Nicolas Cage</a:t>
            </a:r>
            <a:endParaRPr lang="en-US" sz="1250" b="0" u="none" strike="noStrike">
              <a:solidFill>
                <a:srgbClr val="000000"/>
              </a:solidFill>
              <a:effectLst/>
              <a:uFillTx/>
              <a:latin typeface="Arial"/>
            </a:endParaRPr>
          </a:p>
        </p:txBody>
      </p:sp>
      <p:sp>
        <p:nvSpPr>
          <p:cNvPr id="153" name="Text 16"/>
          <p:cNvSpPr/>
          <p:nvPr/>
        </p:nvSpPr>
        <p:spPr>
          <a:xfrm>
            <a:off x="896040" y="5029200"/>
            <a:ext cx="22125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400"/>
              </a:lnSpc>
              <a:tabLst>
                <a:tab pos="0" algn="l"/>
              </a:tabLst>
            </a:pPr>
            <a:r>
              <a:rPr lang="en-US" sz="1050" b="0" i="1" u="none" strike="noStrike">
                <a:solidFill>
                  <a:srgbClr val="6B6B7B"/>
                </a:solidFill>
                <a:effectLst/>
                <a:uFillTx/>
                <a:latin typeface="Calibri"/>
                <a:ea typeface="Calibri"/>
              </a:rPr>
              <a:t>Prolific — long careers, many films.</a:t>
            </a:r>
            <a:endParaRPr lang="en-US" sz="1050" b="0" u="none" strike="noStrike">
              <a:solidFill>
                <a:srgbClr val="000000"/>
              </a:solidFill>
              <a:effectLst/>
              <a:uFillTx/>
              <a:latin typeface="Arial"/>
            </a:endParaRPr>
          </a:p>
        </p:txBody>
      </p:sp>
      <p:sp>
        <p:nvSpPr>
          <p:cNvPr id="154" name="Shape 17"/>
          <p:cNvSpPr/>
          <p:nvPr/>
        </p:nvSpPr>
        <p:spPr>
          <a:xfrm>
            <a:off x="3429000" y="2103120"/>
            <a:ext cx="2578320" cy="3977280"/>
          </a:xfrm>
          <a:prstGeom prst="rect">
            <a:avLst/>
          </a:prstGeom>
          <a:solidFill>
            <a:srgbClr val="F4F4F7"/>
          </a:solidFill>
          <a:ln w="12700">
            <a:solidFill>
              <a:srgbClr val="E2E2E8"/>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5" name="Shape 18"/>
          <p:cNvSpPr/>
          <p:nvPr/>
        </p:nvSpPr>
        <p:spPr>
          <a:xfrm>
            <a:off x="3429000" y="2103120"/>
            <a:ext cx="91080" cy="3977280"/>
          </a:xfrm>
          <a:prstGeom prst="rect">
            <a:avLst/>
          </a:prstGeom>
          <a:solidFill>
            <a:srgbClr val="0F8B8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6" name="Text 19"/>
          <p:cNvSpPr/>
          <p:nvPr/>
        </p:nvSpPr>
        <p:spPr>
          <a:xfrm>
            <a:off x="3684960" y="2286000"/>
            <a:ext cx="22399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A1A2E"/>
                </a:solidFill>
                <a:effectLst/>
                <a:uFillTx/>
                <a:latin typeface="Georgia"/>
                <a:ea typeface="Georgia"/>
              </a:rPr>
              <a:t>Betweenness</a:t>
            </a:r>
            <a:endParaRPr lang="en-US" sz="1800" b="0" u="none" strike="noStrike">
              <a:solidFill>
                <a:srgbClr val="000000"/>
              </a:solidFill>
              <a:effectLst/>
              <a:uFillTx/>
              <a:latin typeface="Arial"/>
            </a:endParaRPr>
          </a:p>
        </p:txBody>
      </p:sp>
      <p:sp>
        <p:nvSpPr>
          <p:cNvPr id="157" name="Text 20"/>
          <p:cNvSpPr/>
          <p:nvPr/>
        </p:nvSpPr>
        <p:spPr>
          <a:xfrm>
            <a:off x="3684960" y="2670120"/>
            <a:ext cx="2239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1" u="none" strike="noStrike" spc="99">
                <a:solidFill>
                  <a:srgbClr val="0F8B8D"/>
                </a:solidFill>
                <a:effectLst/>
                <a:uFillTx/>
                <a:latin typeface="Calibri"/>
                <a:ea typeface="Calibri"/>
              </a:rPr>
              <a:t>BRIDGES BETWEEN WORLDS</a:t>
            </a:r>
            <a:endParaRPr lang="en-US" sz="950" b="0" u="none" strike="noStrike">
              <a:solidFill>
                <a:srgbClr val="000000"/>
              </a:solidFill>
              <a:effectLst/>
              <a:uFillTx/>
              <a:latin typeface="Arial"/>
            </a:endParaRPr>
          </a:p>
        </p:txBody>
      </p:sp>
      <p:sp>
        <p:nvSpPr>
          <p:cNvPr id="158" name="Shape 21"/>
          <p:cNvSpPr/>
          <p:nvPr/>
        </p:nvSpPr>
        <p:spPr>
          <a:xfrm>
            <a:off x="3684960" y="3108960"/>
            <a:ext cx="310680" cy="310680"/>
          </a:xfrm>
          <a:prstGeom prst="ellipse">
            <a:avLst/>
          </a:prstGeom>
          <a:solidFill>
            <a:srgbClr val="0F8B8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9" name="Text 22"/>
          <p:cNvSpPr/>
          <p:nvPr/>
        </p:nvSpPr>
        <p:spPr>
          <a:xfrm>
            <a:off x="3684960" y="31089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1</a:t>
            </a:r>
            <a:endParaRPr lang="en-US" sz="1100" b="0" u="none" strike="noStrike">
              <a:solidFill>
                <a:srgbClr val="000000"/>
              </a:solidFill>
              <a:effectLst/>
              <a:uFillTx/>
              <a:latin typeface="Arial"/>
            </a:endParaRPr>
          </a:p>
        </p:txBody>
      </p:sp>
      <p:sp>
        <p:nvSpPr>
          <p:cNvPr id="160" name="Text 23"/>
          <p:cNvSpPr/>
          <p:nvPr/>
        </p:nvSpPr>
        <p:spPr>
          <a:xfrm>
            <a:off x="4087440" y="30816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A1A2E"/>
                </a:solidFill>
                <a:effectLst/>
                <a:uFillTx/>
                <a:latin typeface="Calibri"/>
                <a:ea typeface="Calibri"/>
              </a:rPr>
              <a:t>Tom Hanks</a:t>
            </a:r>
            <a:endParaRPr lang="en-US" sz="1250" b="0" u="none" strike="noStrike">
              <a:solidFill>
                <a:srgbClr val="000000"/>
              </a:solidFill>
              <a:effectLst/>
              <a:uFillTx/>
              <a:latin typeface="Arial"/>
            </a:endParaRPr>
          </a:p>
        </p:txBody>
      </p:sp>
      <p:sp>
        <p:nvSpPr>
          <p:cNvPr id="161" name="Shape 24"/>
          <p:cNvSpPr/>
          <p:nvPr/>
        </p:nvSpPr>
        <p:spPr>
          <a:xfrm>
            <a:off x="3684960" y="3675960"/>
            <a:ext cx="310680" cy="310680"/>
          </a:xfrm>
          <a:prstGeom prst="ellipse">
            <a:avLst/>
          </a:prstGeom>
          <a:solidFill>
            <a:srgbClr val="0F8B8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2" name="Text 25"/>
          <p:cNvSpPr/>
          <p:nvPr/>
        </p:nvSpPr>
        <p:spPr>
          <a:xfrm>
            <a:off x="3684960" y="36759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2</a:t>
            </a:r>
            <a:endParaRPr lang="en-US" sz="1100" b="0" u="none" strike="noStrike">
              <a:solidFill>
                <a:srgbClr val="000000"/>
              </a:solidFill>
              <a:effectLst/>
              <a:uFillTx/>
              <a:latin typeface="Arial"/>
            </a:endParaRPr>
          </a:p>
        </p:txBody>
      </p:sp>
      <p:sp>
        <p:nvSpPr>
          <p:cNvPr id="163" name="Text 26"/>
          <p:cNvSpPr/>
          <p:nvPr/>
        </p:nvSpPr>
        <p:spPr>
          <a:xfrm>
            <a:off x="4087440" y="36486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A1A2E"/>
                </a:solidFill>
                <a:effectLst/>
                <a:uFillTx/>
                <a:latin typeface="Calibri"/>
                <a:ea typeface="Calibri"/>
              </a:rPr>
              <a:t>Robert De Niro</a:t>
            </a:r>
            <a:endParaRPr lang="en-US" sz="1250" b="0" u="none" strike="noStrike">
              <a:solidFill>
                <a:srgbClr val="000000"/>
              </a:solidFill>
              <a:effectLst/>
              <a:uFillTx/>
              <a:latin typeface="Arial"/>
            </a:endParaRPr>
          </a:p>
        </p:txBody>
      </p:sp>
      <p:sp>
        <p:nvSpPr>
          <p:cNvPr id="164" name="Shape 27"/>
          <p:cNvSpPr/>
          <p:nvPr/>
        </p:nvSpPr>
        <p:spPr>
          <a:xfrm>
            <a:off x="3684960" y="4242960"/>
            <a:ext cx="310680" cy="310680"/>
          </a:xfrm>
          <a:prstGeom prst="ellipse">
            <a:avLst/>
          </a:prstGeom>
          <a:solidFill>
            <a:srgbClr val="0F8B8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5" name="Text 28"/>
          <p:cNvSpPr/>
          <p:nvPr/>
        </p:nvSpPr>
        <p:spPr>
          <a:xfrm>
            <a:off x="3684960" y="42429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3</a:t>
            </a:r>
            <a:endParaRPr lang="en-US" sz="1100" b="0" u="none" strike="noStrike">
              <a:solidFill>
                <a:srgbClr val="000000"/>
              </a:solidFill>
              <a:effectLst/>
              <a:uFillTx/>
              <a:latin typeface="Arial"/>
            </a:endParaRPr>
          </a:p>
        </p:txBody>
      </p:sp>
      <p:sp>
        <p:nvSpPr>
          <p:cNvPr id="166" name="Text 29"/>
          <p:cNvSpPr/>
          <p:nvPr/>
        </p:nvSpPr>
        <p:spPr>
          <a:xfrm>
            <a:off x="4087440" y="421524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A1A2E"/>
                </a:solidFill>
                <a:effectLst/>
                <a:uFillTx/>
                <a:latin typeface="Calibri"/>
                <a:ea typeface="Calibri"/>
              </a:rPr>
              <a:t>Mark Wahlberg</a:t>
            </a:r>
            <a:endParaRPr lang="en-US" sz="1250" b="0" u="none" strike="noStrike">
              <a:solidFill>
                <a:srgbClr val="000000"/>
              </a:solidFill>
              <a:effectLst/>
              <a:uFillTx/>
              <a:latin typeface="Arial"/>
            </a:endParaRPr>
          </a:p>
        </p:txBody>
      </p:sp>
      <p:sp>
        <p:nvSpPr>
          <p:cNvPr id="167" name="Text 30"/>
          <p:cNvSpPr/>
          <p:nvPr/>
        </p:nvSpPr>
        <p:spPr>
          <a:xfrm>
            <a:off x="3684960" y="5029200"/>
            <a:ext cx="22125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400"/>
              </a:lnSpc>
              <a:tabLst>
                <a:tab pos="0" algn="l"/>
              </a:tabLst>
            </a:pPr>
            <a:r>
              <a:rPr lang="en-US" sz="1050" b="0" i="1" u="none" strike="noStrike">
                <a:solidFill>
                  <a:srgbClr val="6B6B7B"/>
                </a:solidFill>
                <a:effectLst/>
                <a:uFillTx/>
                <a:latin typeface="Calibri"/>
                <a:ea typeface="Calibri"/>
              </a:rPr>
              <a:t>Connect otherwise-separate film circles.</a:t>
            </a:r>
            <a:endParaRPr lang="en-US" sz="1050" b="0" u="none" strike="noStrike">
              <a:solidFill>
                <a:srgbClr val="000000"/>
              </a:solidFill>
              <a:effectLst/>
              <a:uFillTx/>
              <a:latin typeface="Arial"/>
            </a:endParaRPr>
          </a:p>
        </p:txBody>
      </p:sp>
      <p:sp>
        <p:nvSpPr>
          <p:cNvPr id="168" name="Shape 31"/>
          <p:cNvSpPr/>
          <p:nvPr/>
        </p:nvSpPr>
        <p:spPr>
          <a:xfrm>
            <a:off x="6217920" y="2103120"/>
            <a:ext cx="2578320" cy="3977280"/>
          </a:xfrm>
          <a:prstGeom prst="rect">
            <a:avLst/>
          </a:prstGeom>
          <a:solidFill>
            <a:srgbClr val="F4F4F7"/>
          </a:solidFill>
          <a:ln w="12700">
            <a:solidFill>
              <a:srgbClr val="E2E2E8"/>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9" name="Shape 32"/>
          <p:cNvSpPr/>
          <p:nvPr/>
        </p:nvSpPr>
        <p:spPr>
          <a:xfrm>
            <a:off x="6217920" y="2103120"/>
            <a:ext cx="91080" cy="3977280"/>
          </a:xfrm>
          <a:prstGeom prst="rect">
            <a:avLst/>
          </a:prstGeom>
          <a:solidFill>
            <a:srgbClr val="E8A3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0" name="Text 33"/>
          <p:cNvSpPr/>
          <p:nvPr/>
        </p:nvSpPr>
        <p:spPr>
          <a:xfrm>
            <a:off x="6473880" y="2286000"/>
            <a:ext cx="22399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A1A2E"/>
                </a:solidFill>
                <a:effectLst/>
                <a:uFillTx/>
                <a:latin typeface="Georgia"/>
                <a:ea typeface="Georgia"/>
              </a:rPr>
              <a:t>Closeness</a:t>
            </a:r>
            <a:endParaRPr lang="en-US" sz="1800" b="0" u="none" strike="noStrike">
              <a:solidFill>
                <a:srgbClr val="000000"/>
              </a:solidFill>
              <a:effectLst/>
              <a:uFillTx/>
              <a:latin typeface="Arial"/>
            </a:endParaRPr>
          </a:p>
        </p:txBody>
      </p:sp>
      <p:sp>
        <p:nvSpPr>
          <p:cNvPr id="171" name="Text 34"/>
          <p:cNvSpPr/>
          <p:nvPr/>
        </p:nvSpPr>
        <p:spPr>
          <a:xfrm>
            <a:off x="6473880" y="2670120"/>
            <a:ext cx="2239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1" u="none" strike="noStrike" spc="99">
                <a:solidFill>
                  <a:srgbClr val="E8A317"/>
                </a:solidFill>
                <a:effectLst/>
                <a:uFillTx/>
                <a:latin typeface="Calibri"/>
                <a:ea typeface="Calibri"/>
              </a:rPr>
              <a:t>BEST-POSITIONED</a:t>
            </a:r>
            <a:endParaRPr lang="en-US" sz="950" b="0" u="none" strike="noStrike">
              <a:solidFill>
                <a:srgbClr val="000000"/>
              </a:solidFill>
              <a:effectLst/>
              <a:uFillTx/>
              <a:latin typeface="Arial"/>
            </a:endParaRPr>
          </a:p>
        </p:txBody>
      </p:sp>
      <p:sp>
        <p:nvSpPr>
          <p:cNvPr id="172" name="Shape 35"/>
          <p:cNvSpPr/>
          <p:nvPr/>
        </p:nvSpPr>
        <p:spPr>
          <a:xfrm>
            <a:off x="6473880" y="3108960"/>
            <a:ext cx="310680" cy="310680"/>
          </a:xfrm>
          <a:prstGeom prst="ellipse">
            <a:avLst/>
          </a:prstGeom>
          <a:solidFill>
            <a:srgbClr val="E8A3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3" name="Text 36"/>
          <p:cNvSpPr/>
          <p:nvPr/>
        </p:nvSpPr>
        <p:spPr>
          <a:xfrm>
            <a:off x="6473880" y="31089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1</a:t>
            </a:r>
            <a:endParaRPr lang="en-US" sz="1100" b="0" u="none" strike="noStrike">
              <a:solidFill>
                <a:srgbClr val="000000"/>
              </a:solidFill>
              <a:effectLst/>
              <a:uFillTx/>
              <a:latin typeface="Arial"/>
            </a:endParaRPr>
          </a:p>
        </p:txBody>
      </p:sp>
      <p:sp>
        <p:nvSpPr>
          <p:cNvPr id="174" name="Text 37"/>
          <p:cNvSpPr/>
          <p:nvPr/>
        </p:nvSpPr>
        <p:spPr>
          <a:xfrm>
            <a:off x="6876360" y="30816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A1A2E"/>
                </a:solidFill>
                <a:effectLst/>
                <a:uFillTx/>
                <a:latin typeface="Calibri"/>
                <a:ea typeface="Calibri"/>
              </a:rPr>
              <a:t>Robert De Niro</a:t>
            </a:r>
            <a:endParaRPr lang="en-US" sz="1250" b="0" u="none" strike="noStrike">
              <a:solidFill>
                <a:srgbClr val="000000"/>
              </a:solidFill>
              <a:effectLst/>
              <a:uFillTx/>
              <a:latin typeface="Arial"/>
            </a:endParaRPr>
          </a:p>
        </p:txBody>
      </p:sp>
      <p:sp>
        <p:nvSpPr>
          <p:cNvPr id="175" name="Shape 38"/>
          <p:cNvSpPr/>
          <p:nvPr/>
        </p:nvSpPr>
        <p:spPr>
          <a:xfrm>
            <a:off x="6473880" y="3675960"/>
            <a:ext cx="310680" cy="310680"/>
          </a:xfrm>
          <a:prstGeom prst="ellipse">
            <a:avLst/>
          </a:prstGeom>
          <a:solidFill>
            <a:srgbClr val="E8A3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6" name="Text 39"/>
          <p:cNvSpPr/>
          <p:nvPr/>
        </p:nvSpPr>
        <p:spPr>
          <a:xfrm>
            <a:off x="6473880" y="36759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2</a:t>
            </a:r>
            <a:endParaRPr lang="en-US" sz="1100" b="0" u="none" strike="noStrike">
              <a:solidFill>
                <a:srgbClr val="000000"/>
              </a:solidFill>
              <a:effectLst/>
              <a:uFillTx/>
              <a:latin typeface="Arial"/>
            </a:endParaRPr>
          </a:p>
        </p:txBody>
      </p:sp>
      <p:sp>
        <p:nvSpPr>
          <p:cNvPr id="177" name="Text 40"/>
          <p:cNvSpPr/>
          <p:nvPr/>
        </p:nvSpPr>
        <p:spPr>
          <a:xfrm>
            <a:off x="6876360" y="36486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A1A2E"/>
                </a:solidFill>
                <a:effectLst/>
                <a:uFillTx/>
                <a:latin typeface="Calibri"/>
                <a:ea typeface="Calibri"/>
              </a:rPr>
              <a:t>Matt Damon</a:t>
            </a:r>
            <a:endParaRPr lang="en-US" sz="1250" b="0" u="none" strike="noStrike">
              <a:solidFill>
                <a:srgbClr val="000000"/>
              </a:solidFill>
              <a:effectLst/>
              <a:uFillTx/>
              <a:latin typeface="Arial"/>
            </a:endParaRPr>
          </a:p>
        </p:txBody>
      </p:sp>
      <p:sp>
        <p:nvSpPr>
          <p:cNvPr id="178" name="Shape 41"/>
          <p:cNvSpPr/>
          <p:nvPr/>
        </p:nvSpPr>
        <p:spPr>
          <a:xfrm>
            <a:off x="6473880" y="4242960"/>
            <a:ext cx="310680" cy="310680"/>
          </a:xfrm>
          <a:prstGeom prst="ellipse">
            <a:avLst/>
          </a:prstGeom>
          <a:solidFill>
            <a:srgbClr val="E8A3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9" name="Text 42"/>
          <p:cNvSpPr/>
          <p:nvPr/>
        </p:nvSpPr>
        <p:spPr>
          <a:xfrm>
            <a:off x="6473880" y="42429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3</a:t>
            </a:r>
            <a:endParaRPr lang="en-US" sz="1100" b="0" u="none" strike="noStrike">
              <a:solidFill>
                <a:srgbClr val="000000"/>
              </a:solidFill>
              <a:effectLst/>
              <a:uFillTx/>
              <a:latin typeface="Arial"/>
            </a:endParaRPr>
          </a:p>
        </p:txBody>
      </p:sp>
      <p:sp>
        <p:nvSpPr>
          <p:cNvPr id="180" name="Text 43"/>
          <p:cNvSpPr/>
          <p:nvPr/>
        </p:nvSpPr>
        <p:spPr>
          <a:xfrm>
            <a:off x="6876360" y="421524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A1A2E"/>
                </a:solidFill>
                <a:effectLst/>
                <a:uFillTx/>
                <a:latin typeface="Calibri"/>
                <a:ea typeface="Calibri"/>
              </a:rPr>
              <a:t>Brad Pitt</a:t>
            </a:r>
            <a:endParaRPr lang="en-US" sz="1250" b="0" u="none" strike="noStrike">
              <a:solidFill>
                <a:srgbClr val="000000"/>
              </a:solidFill>
              <a:effectLst/>
              <a:uFillTx/>
              <a:latin typeface="Arial"/>
            </a:endParaRPr>
          </a:p>
        </p:txBody>
      </p:sp>
      <p:sp>
        <p:nvSpPr>
          <p:cNvPr id="181" name="Text 44"/>
          <p:cNvSpPr/>
          <p:nvPr/>
        </p:nvSpPr>
        <p:spPr>
          <a:xfrm>
            <a:off x="6473880" y="5029200"/>
            <a:ext cx="22125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400"/>
              </a:lnSpc>
              <a:tabLst>
                <a:tab pos="0" algn="l"/>
              </a:tabLst>
            </a:pPr>
            <a:r>
              <a:rPr lang="en-US" sz="1050" b="0" i="1" u="none" strike="noStrike">
                <a:solidFill>
                  <a:srgbClr val="6B6B7B"/>
                </a:solidFill>
                <a:effectLst/>
                <a:uFillTx/>
                <a:latin typeface="Calibri"/>
                <a:ea typeface="Calibri"/>
              </a:rPr>
              <a:t>Can reach everyone else in few steps.</a:t>
            </a:r>
            <a:endParaRPr lang="en-US" sz="1050" b="0" u="none" strike="noStrike">
              <a:solidFill>
                <a:srgbClr val="000000"/>
              </a:solidFill>
              <a:effectLst/>
              <a:uFillTx/>
              <a:latin typeface="Arial"/>
            </a:endParaRPr>
          </a:p>
        </p:txBody>
      </p:sp>
      <p:sp>
        <p:nvSpPr>
          <p:cNvPr id="182" name="Shape 45"/>
          <p:cNvSpPr/>
          <p:nvPr/>
        </p:nvSpPr>
        <p:spPr>
          <a:xfrm>
            <a:off x="9006840" y="2103120"/>
            <a:ext cx="2578320" cy="3977280"/>
          </a:xfrm>
          <a:prstGeom prst="rect">
            <a:avLst/>
          </a:prstGeom>
          <a:solidFill>
            <a:srgbClr val="F4F4F7"/>
          </a:solidFill>
          <a:ln w="12700">
            <a:solidFill>
              <a:srgbClr val="E2E2E8"/>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3" name="Shape 46"/>
          <p:cNvSpPr/>
          <p:nvPr/>
        </p:nvSpPr>
        <p:spPr>
          <a:xfrm>
            <a:off x="9006840" y="2103120"/>
            <a:ext cx="91080" cy="3977280"/>
          </a:xfrm>
          <a:prstGeom prst="rect">
            <a:avLst/>
          </a:prstGeom>
          <a:solidFill>
            <a:srgbClr val="9B7E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4" name="Text 47"/>
          <p:cNvSpPr/>
          <p:nvPr/>
        </p:nvSpPr>
        <p:spPr>
          <a:xfrm>
            <a:off x="9262800" y="2286000"/>
            <a:ext cx="22399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A1A2E"/>
                </a:solidFill>
                <a:effectLst/>
                <a:uFillTx/>
                <a:latin typeface="Georgia"/>
                <a:ea typeface="Georgia"/>
              </a:rPr>
              <a:t>Eigenvector</a:t>
            </a:r>
            <a:endParaRPr lang="en-US" sz="1800" b="0" u="none" strike="noStrike">
              <a:solidFill>
                <a:srgbClr val="000000"/>
              </a:solidFill>
              <a:effectLst/>
              <a:uFillTx/>
              <a:latin typeface="Arial"/>
            </a:endParaRPr>
          </a:p>
        </p:txBody>
      </p:sp>
      <p:sp>
        <p:nvSpPr>
          <p:cNvPr id="185" name="Text 48"/>
          <p:cNvSpPr/>
          <p:nvPr/>
        </p:nvSpPr>
        <p:spPr>
          <a:xfrm>
            <a:off x="9262800" y="2670120"/>
            <a:ext cx="2239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50" b="1" u="none" strike="noStrike" spc="99">
                <a:solidFill>
                  <a:srgbClr val="9B7EDE"/>
                </a:solidFill>
                <a:effectLst/>
                <a:uFillTx/>
                <a:latin typeface="Calibri"/>
                <a:ea typeface="Calibri"/>
              </a:rPr>
              <a:t>IN THE DENSE CORE</a:t>
            </a:r>
            <a:endParaRPr lang="en-US" sz="950" b="0" u="none" strike="noStrike">
              <a:solidFill>
                <a:srgbClr val="000000"/>
              </a:solidFill>
              <a:effectLst/>
              <a:uFillTx/>
              <a:latin typeface="Arial"/>
            </a:endParaRPr>
          </a:p>
        </p:txBody>
      </p:sp>
      <p:sp>
        <p:nvSpPr>
          <p:cNvPr id="186" name="Shape 49"/>
          <p:cNvSpPr/>
          <p:nvPr/>
        </p:nvSpPr>
        <p:spPr>
          <a:xfrm>
            <a:off x="9262800" y="3108960"/>
            <a:ext cx="310680" cy="310680"/>
          </a:xfrm>
          <a:prstGeom prst="ellipse">
            <a:avLst/>
          </a:prstGeom>
          <a:solidFill>
            <a:srgbClr val="9B7E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7" name="Text 50"/>
          <p:cNvSpPr/>
          <p:nvPr/>
        </p:nvSpPr>
        <p:spPr>
          <a:xfrm>
            <a:off x="9262800" y="31089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1</a:t>
            </a:r>
            <a:endParaRPr lang="en-US" sz="1100" b="0" u="none" strike="noStrike">
              <a:solidFill>
                <a:srgbClr val="000000"/>
              </a:solidFill>
              <a:effectLst/>
              <a:uFillTx/>
              <a:latin typeface="Arial"/>
            </a:endParaRPr>
          </a:p>
        </p:txBody>
      </p:sp>
      <p:sp>
        <p:nvSpPr>
          <p:cNvPr id="188" name="Text 51"/>
          <p:cNvSpPr/>
          <p:nvPr/>
        </p:nvSpPr>
        <p:spPr>
          <a:xfrm>
            <a:off x="9665280" y="30816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A1A2E"/>
                </a:solidFill>
                <a:effectLst/>
                <a:uFillTx/>
                <a:latin typeface="Calibri"/>
                <a:ea typeface="Calibri"/>
              </a:rPr>
              <a:t>Robert De Niro</a:t>
            </a:r>
            <a:endParaRPr lang="en-US" sz="1250" b="0" u="none" strike="noStrike">
              <a:solidFill>
                <a:srgbClr val="000000"/>
              </a:solidFill>
              <a:effectLst/>
              <a:uFillTx/>
              <a:latin typeface="Arial"/>
            </a:endParaRPr>
          </a:p>
        </p:txBody>
      </p:sp>
      <p:sp>
        <p:nvSpPr>
          <p:cNvPr id="189" name="Shape 52"/>
          <p:cNvSpPr/>
          <p:nvPr/>
        </p:nvSpPr>
        <p:spPr>
          <a:xfrm>
            <a:off x="9262800" y="3675960"/>
            <a:ext cx="310680" cy="310680"/>
          </a:xfrm>
          <a:prstGeom prst="ellipse">
            <a:avLst/>
          </a:prstGeom>
          <a:solidFill>
            <a:srgbClr val="9B7E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90" name="Text 53"/>
          <p:cNvSpPr/>
          <p:nvPr/>
        </p:nvSpPr>
        <p:spPr>
          <a:xfrm>
            <a:off x="9262800" y="36759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2</a:t>
            </a:r>
            <a:endParaRPr lang="en-US" sz="1100" b="0" u="none" strike="noStrike">
              <a:solidFill>
                <a:srgbClr val="000000"/>
              </a:solidFill>
              <a:effectLst/>
              <a:uFillTx/>
              <a:latin typeface="Arial"/>
            </a:endParaRPr>
          </a:p>
        </p:txBody>
      </p:sp>
      <p:sp>
        <p:nvSpPr>
          <p:cNvPr id="191" name="Text 54"/>
          <p:cNvSpPr/>
          <p:nvPr/>
        </p:nvSpPr>
        <p:spPr>
          <a:xfrm>
            <a:off x="9665280" y="364860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A1A2E"/>
                </a:solidFill>
                <a:effectLst/>
                <a:uFillTx/>
                <a:latin typeface="Calibri"/>
                <a:ea typeface="Calibri"/>
              </a:rPr>
              <a:t>Matt Damon</a:t>
            </a:r>
            <a:endParaRPr lang="en-US" sz="1250" b="0" u="none" strike="noStrike">
              <a:solidFill>
                <a:srgbClr val="000000"/>
              </a:solidFill>
              <a:effectLst/>
              <a:uFillTx/>
              <a:latin typeface="Arial"/>
            </a:endParaRPr>
          </a:p>
        </p:txBody>
      </p:sp>
      <p:sp>
        <p:nvSpPr>
          <p:cNvPr id="192" name="Shape 55"/>
          <p:cNvSpPr/>
          <p:nvPr/>
        </p:nvSpPr>
        <p:spPr>
          <a:xfrm>
            <a:off x="9262800" y="4242960"/>
            <a:ext cx="310680" cy="310680"/>
          </a:xfrm>
          <a:prstGeom prst="ellipse">
            <a:avLst/>
          </a:prstGeom>
          <a:solidFill>
            <a:srgbClr val="9B7E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93" name="Text 56"/>
          <p:cNvSpPr/>
          <p:nvPr/>
        </p:nvSpPr>
        <p:spPr>
          <a:xfrm>
            <a:off x="9262800" y="42429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ea typeface="Calibri"/>
              </a:rPr>
              <a:t>3</a:t>
            </a:r>
            <a:endParaRPr lang="en-US" sz="1100" b="0" u="none" strike="noStrike">
              <a:solidFill>
                <a:srgbClr val="000000"/>
              </a:solidFill>
              <a:effectLst/>
              <a:uFillTx/>
              <a:latin typeface="Arial"/>
            </a:endParaRPr>
          </a:p>
        </p:txBody>
      </p:sp>
      <p:sp>
        <p:nvSpPr>
          <p:cNvPr id="194" name="Text 57"/>
          <p:cNvSpPr/>
          <p:nvPr/>
        </p:nvSpPr>
        <p:spPr>
          <a:xfrm>
            <a:off x="9665280" y="4215240"/>
            <a:ext cx="1828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A1A2E"/>
                </a:solidFill>
                <a:effectLst/>
                <a:uFillTx/>
                <a:latin typeface="Calibri"/>
                <a:ea typeface="Calibri"/>
              </a:rPr>
              <a:t>Brad Pitt</a:t>
            </a:r>
            <a:endParaRPr lang="en-US" sz="1250" b="0" u="none" strike="noStrike">
              <a:solidFill>
                <a:srgbClr val="000000"/>
              </a:solidFill>
              <a:effectLst/>
              <a:uFillTx/>
              <a:latin typeface="Arial"/>
            </a:endParaRPr>
          </a:p>
        </p:txBody>
      </p:sp>
      <p:sp>
        <p:nvSpPr>
          <p:cNvPr id="195" name="Text 58"/>
          <p:cNvSpPr/>
          <p:nvPr/>
        </p:nvSpPr>
        <p:spPr>
          <a:xfrm>
            <a:off x="9262800" y="5029200"/>
            <a:ext cx="22125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400"/>
              </a:lnSpc>
              <a:tabLst>
                <a:tab pos="0" algn="l"/>
              </a:tabLst>
            </a:pPr>
            <a:r>
              <a:rPr lang="en-US" sz="1050" b="0" i="1" u="none" strike="noStrike">
                <a:solidFill>
                  <a:srgbClr val="6B6B7B"/>
                </a:solidFill>
                <a:effectLst/>
                <a:uFillTx/>
                <a:latin typeface="Calibri"/>
                <a:ea typeface="Calibri"/>
              </a:rPr>
              <a:t>Linked to other highly-connected actors.</a:t>
            </a:r>
            <a:endParaRPr lang="en-US" sz="1050" b="0" u="none" strike="noStrike">
              <a:solidFill>
                <a:srgbClr val="000000"/>
              </a:solidFill>
              <a:effectLst/>
              <a:uFillTx/>
              <a:latin typeface="Arial"/>
            </a:endParaRPr>
          </a:p>
        </p:txBody>
      </p:sp>
      <p:sp>
        <p:nvSpPr>
          <p:cNvPr id="196" name="Text 59"/>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7</a:t>
            </a:r>
            <a:endParaRPr lang="en-US" sz="11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IMPORTANT NODES</a:t>
            </a:r>
            <a:endParaRPr lang="en-US" sz="1300" b="0" u="none" strike="noStrike">
              <a:solidFill>
                <a:srgbClr val="000000"/>
              </a:solidFill>
              <a:effectLst/>
              <a:uFillTx/>
              <a:latin typeface="Arial"/>
            </a:endParaRPr>
          </a:p>
        </p:txBody>
      </p:sp>
      <p:sp>
        <p:nvSpPr>
          <p:cNvPr id="198"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A handful of actors carry the network</a:t>
            </a:r>
            <a:endParaRPr lang="en-US" sz="3200" b="0" u="none" strike="noStrike">
              <a:solidFill>
                <a:srgbClr val="000000"/>
              </a:solidFill>
              <a:effectLst/>
              <a:uFillTx/>
              <a:latin typeface="Arial"/>
            </a:endParaRPr>
          </a:p>
        </p:txBody>
      </p:sp>
      <p:graphicFrame>
        <p:nvGraphicFramePr>
          <p:cNvPr id="199" name="Chart 0"/>
          <p:cNvGraphicFramePr/>
          <p:nvPr/>
        </p:nvGraphicFramePr>
        <p:xfrm>
          <a:off x="640080" y="1828800"/>
          <a:ext cx="7040520" cy="4114440"/>
        </p:xfrm>
        <a:graphic>
          <a:graphicData uri="http://schemas.openxmlformats.org/drawingml/2006/chart">
            <c:chart xmlns:c="http://schemas.openxmlformats.org/drawingml/2006/chart" xmlns:r="http://schemas.openxmlformats.org/officeDocument/2006/relationships" r:id="rId3"/>
          </a:graphicData>
        </a:graphic>
      </p:graphicFrame>
      <p:sp>
        <p:nvSpPr>
          <p:cNvPr id="200" name="Shape 2"/>
          <p:cNvSpPr/>
          <p:nvPr/>
        </p:nvSpPr>
        <p:spPr>
          <a:xfrm>
            <a:off x="7955280" y="1828800"/>
            <a:ext cx="3593160" cy="4114440"/>
          </a:xfrm>
          <a:prstGeom prst="rect">
            <a:avLst/>
          </a:prstGeom>
          <a:solidFill>
            <a:srgbClr val="F4F4F7"/>
          </a:solidFill>
          <a:ln w="12700">
            <a:solidFill>
              <a:srgbClr val="E2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01" name="Text 3"/>
          <p:cNvSpPr/>
          <p:nvPr/>
        </p:nvSpPr>
        <p:spPr>
          <a:xfrm>
            <a:off x="8183880" y="2057400"/>
            <a:ext cx="31086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E94560"/>
                </a:solidFill>
                <a:effectLst/>
                <a:uFillTx/>
                <a:latin typeface="Calibri"/>
                <a:ea typeface="Calibri"/>
              </a:rPr>
              <a:t>WHAT IT MEANS</a:t>
            </a:r>
            <a:endParaRPr lang="en-US" sz="1100" b="0" u="none" strike="noStrike">
              <a:solidFill>
                <a:srgbClr val="000000"/>
              </a:solidFill>
              <a:effectLst/>
              <a:uFillTx/>
              <a:latin typeface="Arial"/>
            </a:endParaRPr>
          </a:p>
        </p:txBody>
      </p:sp>
      <p:sp>
        <p:nvSpPr>
          <p:cNvPr id="202" name="Text 4"/>
          <p:cNvSpPr/>
          <p:nvPr/>
        </p:nvSpPr>
        <p:spPr>
          <a:xfrm>
            <a:off x="8183880" y="2423160"/>
            <a:ext cx="315432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899"/>
              </a:lnSpc>
              <a:tabLst>
                <a:tab pos="0" algn="l"/>
              </a:tabLst>
            </a:pPr>
            <a:r>
              <a:rPr lang="en-US" sz="1350" b="0" u="none" strike="noStrike">
                <a:solidFill>
                  <a:srgbClr val="6B6B7B"/>
                </a:solidFill>
                <a:effectLst/>
                <a:uFillTx/>
                <a:latin typeface="Calibri"/>
                <a:ea typeface="Calibri"/>
              </a:rPr>
              <a:t>The average actor has just </a:t>
            </a:r>
            <a:r>
              <a:rPr lang="en-US" sz="1350" b="1" u="none" strike="noStrike">
                <a:solidFill>
                  <a:srgbClr val="1A1A2E"/>
                </a:solidFill>
                <a:effectLst/>
                <a:uFillTx/>
                <a:latin typeface="Calibri"/>
                <a:ea typeface="Calibri"/>
              </a:rPr>
              <a:t>5 co-stars</a:t>
            </a:r>
            <a:r>
              <a:rPr lang="en-US" sz="1350" b="0" u="none" strike="noStrike">
                <a:solidFill>
                  <a:srgbClr val="6B6B7B"/>
                </a:solidFill>
                <a:effectLst/>
                <a:uFillTx/>
                <a:latin typeface="Calibri"/>
                <a:ea typeface="Calibri"/>
              </a:rPr>
              <a:t> — but the busiest has </a:t>
            </a:r>
            <a:r>
              <a:rPr lang="en-US" sz="1350" b="1" u="none" strike="noStrike">
                <a:solidFill>
                  <a:srgbClr val="E94560"/>
                </a:solidFill>
                <a:effectLst/>
                <a:uFillTx/>
                <a:latin typeface="Calibri"/>
                <a:ea typeface="Calibri"/>
              </a:rPr>
              <a:t>77</a:t>
            </a:r>
            <a:r>
              <a:rPr lang="en-US" sz="1350" b="0" u="none" strike="noStrike">
                <a:solidFill>
                  <a:srgbClr val="6B6B7B"/>
                </a:solidFill>
                <a:effectLst/>
                <a:uFillTx/>
                <a:latin typeface="Calibri"/>
                <a:ea typeface="Calibri"/>
              </a:rPr>
              <a:t>.</a:t>
            </a:r>
            <a:endParaRPr lang="en-US" sz="1350" b="0" u="none" strike="noStrike">
              <a:solidFill>
                <a:srgbClr val="000000"/>
              </a:solidFill>
              <a:effectLst/>
              <a:uFillTx/>
              <a:latin typeface="Arial"/>
            </a:endParaRPr>
          </a:p>
        </p:txBody>
      </p:sp>
      <p:sp>
        <p:nvSpPr>
          <p:cNvPr id="203" name="Text 5"/>
          <p:cNvSpPr/>
          <p:nvPr/>
        </p:nvSpPr>
        <p:spPr>
          <a:xfrm>
            <a:off x="8183880" y="3429000"/>
            <a:ext cx="315432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spcAft>
                <a:spcPts val="799"/>
              </a:spcAft>
              <a:tabLst>
                <a:tab pos="0" algn="l"/>
              </a:tabLst>
            </a:pPr>
            <a:r>
              <a:rPr lang="en-US" sz="1250" b="1" u="none" strike="noStrike">
                <a:solidFill>
                  <a:srgbClr val="1A1A2E"/>
                </a:solidFill>
                <a:effectLst/>
                <a:uFillTx/>
                <a:latin typeface="Calibri"/>
                <a:ea typeface="Calibri"/>
              </a:rPr>
              <a:t>There is no "typical" actor. </a:t>
            </a:r>
            <a:endParaRPr lang="en-US" sz="1250" b="0" u="none" strike="noStrike">
              <a:solidFill>
                <a:srgbClr val="000000"/>
              </a:solidFill>
              <a:effectLst/>
              <a:uFillTx/>
              <a:latin typeface="Arial"/>
            </a:endParaRPr>
          </a:p>
          <a:p>
            <a:pPr defTabSz="914400">
              <a:lnSpc>
                <a:spcPts val="1701"/>
              </a:lnSpc>
              <a:tabLst>
                <a:tab pos="0" algn="l"/>
              </a:tabLst>
            </a:pPr>
            <a:r>
              <a:rPr lang="en-US" sz="1250" b="0" u="none" strike="noStrike">
                <a:solidFill>
                  <a:srgbClr val="6B6B7B"/>
                </a:solidFill>
                <a:effectLst/>
                <a:uFillTx/>
                <a:latin typeface="Calibri"/>
                <a:ea typeface="Calibri"/>
              </a:rPr>
              <a:t>A few hubs tower over a long tail of actors with only one or two connections. This heavy-tailed shape is the fingerprint of a scale-free-like network — and the opposite of the bell curve a random network would produce.</a:t>
            </a:r>
            <a:endParaRPr lang="en-US" sz="1250" b="0" u="none" strike="noStrike">
              <a:solidFill>
                <a:srgbClr val="000000"/>
              </a:solidFill>
              <a:effectLst/>
              <a:uFillTx/>
              <a:latin typeface="Arial"/>
            </a:endParaRPr>
          </a:p>
        </p:txBody>
      </p:sp>
      <p:sp>
        <p:nvSpPr>
          <p:cNvPr id="204" name="Text 6"/>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8</a:t>
            </a:r>
            <a:endParaRPr lang="en-US" sz="11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VISUALIZATION</a:t>
            </a:r>
            <a:endParaRPr lang="en-US" sz="1300" b="0" u="none" strike="noStrike">
              <a:solidFill>
                <a:srgbClr val="000000"/>
              </a:solidFill>
              <a:effectLst/>
              <a:uFillTx/>
              <a:latin typeface="Arial"/>
            </a:endParaRPr>
          </a:p>
        </p:txBody>
      </p:sp>
      <p:sp>
        <p:nvSpPr>
          <p:cNvPr id="206"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The network, coloured by community</a:t>
            </a:r>
            <a:endParaRPr lang="en-US" sz="3200" b="0" u="none" strike="noStrike">
              <a:solidFill>
                <a:srgbClr val="000000"/>
              </a:solidFill>
              <a:effectLst/>
              <a:uFillTx/>
              <a:latin typeface="Arial"/>
            </a:endParaRPr>
          </a:p>
        </p:txBody>
      </p:sp>
      <p:sp>
        <p:nvSpPr>
          <p:cNvPr id="208" name="Shape 2"/>
          <p:cNvSpPr/>
          <p:nvPr/>
        </p:nvSpPr>
        <p:spPr>
          <a:xfrm>
            <a:off x="7772400" y="1783080"/>
            <a:ext cx="3776040" cy="4388760"/>
          </a:xfrm>
          <a:prstGeom prst="rect">
            <a:avLst/>
          </a:prstGeom>
          <a:solidFill>
            <a:srgbClr val="F4F4F7"/>
          </a:solidFill>
          <a:ln w="12700">
            <a:solidFill>
              <a:srgbClr val="E2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09" name="Text 3"/>
          <p:cNvSpPr/>
          <p:nvPr/>
        </p:nvSpPr>
        <p:spPr>
          <a:xfrm>
            <a:off x="8001000" y="2011680"/>
            <a:ext cx="32914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E94560"/>
                </a:solidFill>
                <a:effectLst/>
                <a:uFillTx/>
                <a:latin typeface="Calibri"/>
                <a:ea typeface="Calibri"/>
              </a:rPr>
              <a:t>WHAT YOU'RE LOOKING AT</a:t>
            </a:r>
            <a:endParaRPr lang="en-US" sz="1100" b="0" u="none" strike="noStrike">
              <a:solidFill>
                <a:srgbClr val="000000"/>
              </a:solidFill>
              <a:effectLst/>
              <a:uFillTx/>
              <a:latin typeface="Arial"/>
            </a:endParaRPr>
          </a:p>
        </p:txBody>
      </p:sp>
      <p:sp>
        <p:nvSpPr>
          <p:cNvPr id="210" name="Text 4"/>
          <p:cNvSpPr/>
          <p:nvPr/>
        </p:nvSpPr>
        <p:spPr>
          <a:xfrm>
            <a:off x="8001000" y="2377440"/>
            <a:ext cx="3337200" cy="365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spcAft>
                <a:spcPts val="1001"/>
              </a:spcAft>
              <a:tabLst>
                <a:tab pos="0" algn="l"/>
              </a:tabLst>
            </a:pPr>
            <a:r>
              <a:rPr lang="en-US" sz="1250" b="0" u="none" strike="noStrike">
                <a:solidFill>
                  <a:srgbClr val="6B6B7B"/>
                </a:solidFill>
                <a:effectLst/>
                <a:uFillTx/>
                <a:latin typeface="Calibri"/>
                <a:ea typeface="Calibri"/>
              </a:rPr>
              <a:t>A sample of the giant component. Each dot is an actor; size reflects number of co-stars; colour marks the community it belongs to.</a:t>
            </a:r>
            <a:endParaRPr lang="en-US" sz="1250" b="0" u="none" strike="noStrike">
              <a:solidFill>
                <a:srgbClr val="000000"/>
              </a:solidFill>
              <a:effectLst/>
              <a:uFillTx/>
              <a:latin typeface="Arial"/>
            </a:endParaRPr>
          </a:p>
          <a:p>
            <a:pPr defTabSz="914400">
              <a:lnSpc>
                <a:spcPts val="1701"/>
              </a:lnSpc>
              <a:tabLst>
                <a:tab pos="0" algn="l"/>
              </a:tabLst>
            </a:pPr>
            <a:r>
              <a:rPr lang="en-US" sz="1250" b="1" u="none" strike="noStrike">
                <a:solidFill>
                  <a:srgbClr val="1A1A2E"/>
                </a:solidFill>
                <a:effectLst/>
                <a:uFillTx/>
                <a:latin typeface="Calibri"/>
                <a:ea typeface="Calibri"/>
              </a:rPr>
              <a:t>The eye can already see it: </a:t>
            </a:r>
            <a:r>
              <a:rPr lang="en-US" sz="1250" b="0" u="none" strike="noStrike">
                <a:solidFill>
                  <a:srgbClr val="6B6B7B"/>
                </a:solidFill>
                <a:effectLst/>
                <a:uFillTx/>
                <a:latin typeface="Calibri"/>
                <a:ea typeface="Calibri"/>
              </a:rPr>
              <a:t>the network is not an even mesh. It clumps into dense, coloured neighbourhoods loosely stitched together — exactly the structure community detection picks up next.</a:t>
            </a:r>
            <a:endParaRPr lang="en-US" sz="1250" b="0" u="none" strike="noStrike">
              <a:solidFill>
                <a:srgbClr val="000000"/>
              </a:solidFill>
              <a:effectLst/>
              <a:uFillTx/>
              <a:latin typeface="Arial"/>
            </a:endParaRPr>
          </a:p>
        </p:txBody>
      </p:sp>
      <p:sp>
        <p:nvSpPr>
          <p:cNvPr id="211" name="Text 5"/>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9</a:t>
            </a:r>
            <a:endParaRPr lang="en-US" sz="110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5E157B59-3B15-779C-F21A-9BD41D3F3E71}"/>
              </a:ext>
            </a:extLst>
          </p:cNvPr>
          <p:cNvPicPr>
            <a:picLocks noChangeAspect="1"/>
          </p:cNvPicPr>
          <p:nvPr/>
        </p:nvPicPr>
        <p:blipFill>
          <a:blip r:embed="rId3"/>
          <a:stretch>
            <a:fillRect/>
          </a:stretch>
        </p:blipFill>
        <p:spPr>
          <a:xfrm>
            <a:off x="640080" y="1618200"/>
            <a:ext cx="6027428" cy="50135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2"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VISUALIZATION</a:t>
            </a:r>
            <a:endParaRPr lang="en-US" sz="1300" b="0" u="none" strike="noStrike">
              <a:solidFill>
                <a:srgbClr val="000000"/>
              </a:solidFill>
              <a:effectLst/>
              <a:uFillTx/>
              <a:latin typeface="Arial"/>
            </a:endParaRPr>
          </a:p>
        </p:txBody>
      </p:sp>
      <p:sp>
        <p:nvSpPr>
          <p:cNvPr id="213"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The core — actors with 25+ co-stars</a:t>
            </a:r>
            <a:endParaRPr lang="en-US" sz="3200" b="0" u="none" strike="noStrike">
              <a:solidFill>
                <a:srgbClr val="000000"/>
              </a:solidFill>
              <a:effectLst/>
              <a:uFillTx/>
              <a:latin typeface="Arial"/>
            </a:endParaRPr>
          </a:p>
        </p:txBody>
      </p:sp>
      <p:pic>
        <p:nvPicPr>
          <p:cNvPr id="214" name="Image 0" descr="assets/network_core.png"/>
          <p:cNvPicPr/>
          <p:nvPr/>
        </p:nvPicPr>
        <p:blipFill>
          <a:blip r:embed="rId3"/>
          <a:stretch/>
        </p:blipFill>
        <p:spPr>
          <a:xfrm>
            <a:off x="548640" y="1691640"/>
            <a:ext cx="6949080" cy="4617360"/>
          </a:xfrm>
          <a:prstGeom prst="rect">
            <a:avLst/>
          </a:prstGeom>
          <a:noFill/>
          <a:ln w="0">
            <a:noFill/>
          </a:ln>
        </p:spPr>
      </p:pic>
      <p:sp>
        <p:nvSpPr>
          <p:cNvPr id="215" name="Shape 2"/>
          <p:cNvSpPr/>
          <p:nvPr/>
        </p:nvSpPr>
        <p:spPr>
          <a:xfrm>
            <a:off x="7772400" y="1783080"/>
            <a:ext cx="3776040" cy="4388760"/>
          </a:xfrm>
          <a:prstGeom prst="rect">
            <a:avLst/>
          </a:prstGeom>
          <a:solidFill>
            <a:srgbClr val="1A1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16" name="Text 3"/>
          <p:cNvSpPr/>
          <p:nvPr/>
        </p:nvSpPr>
        <p:spPr>
          <a:xfrm>
            <a:off x="8001000" y="2011680"/>
            <a:ext cx="32914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E94560"/>
                </a:solidFill>
                <a:effectLst/>
                <a:uFillTx/>
                <a:latin typeface="Calibri"/>
                <a:ea typeface="Calibri"/>
              </a:rPr>
              <a:t>THE INNER CIRCLE</a:t>
            </a:r>
            <a:endParaRPr lang="en-US" sz="1100" b="0" u="none" strike="noStrike">
              <a:solidFill>
                <a:srgbClr val="000000"/>
              </a:solidFill>
              <a:effectLst/>
              <a:uFillTx/>
              <a:latin typeface="Arial"/>
            </a:endParaRPr>
          </a:p>
        </p:txBody>
      </p:sp>
      <p:sp>
        <p:nvSpPr>
          <p:cNvPr id="217" name="Text 4"/>
          <p:cNvSpPr/>
          <p:nvPr/>
        </p:nvSpPr>
        <p:spPr>
          <a:xfrm>
            <a:off x="8001000" y="2377440"/>
            <a:ext cx="3337200" cy="365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spcAft>
                <a:spcPts val="1001"/>
              </a:spcAft>
              <a:tabLst>
                <a:tab pos="0" algn="l"/>
              </a:tabLst>
            </a:pPr>
            <a:r>
              <a:rPr lang="en-US" sz="1250" b="0" u="none" strike="noStrike">
                <a:solidFill>
                  <a:srgbClr val="C9C9D4"/>
                </a:solidFill>
                <a:effectLst/>
                <a:uFillTx/>
                <a:latin typeface="Calibri"/>
                <a:ea typeface="Calibri"/>
              </a:rPr>
              <a:t>Strip the network down to only its most-connected actors and 106 remain — and they are nearly all linked to each other.</a:t>
            </a:r>
            <a:endParaRPr lang="en-US" sz="1250" b="0" u="none" strike="noStrike">
              <a:solidFill>
                <a:srgbClr val="000000"/>
              </a:solidFill>
              <a:effectLst/>
              <a:uFillTx/>
              <a:latin typeface="Arial"/>
            </a:endParaRPr>
          </a:p>
          <a:p>
            <a:pPr defTabSz="914400">
              <a:lnSpc>
                <a:spcPts val="1701"/>
              </a:lnSpc>
              <a:tabLst>
                <a:tab pos="0" algn="l"/>
              </a:tabLst>
            </a:pPr>
            <a:r>
              <a:rPr lang="en-US" sz="1250" b="1" u="none" strike="noStrike">
                <a:solidFill>
                  <a:srgbClr val="FFFFFF"/>
                </a:solidFill>
                <a:effectLst/>
                <a:uFillTx/>
                <a:latin typeface="Calibri"/>
                <a:ea typeface="Calibri"/>
              </a:rPr>
              <a:t>This is the dense Hollywood core: </a:t>
            </a:r>
            <a:r>
              <a:rPr lang="en-US" sz="1250" b="0" u="none" strike="noStrike">
                <a:solidFill>
                  <a:srgbClr val="C9C9D4"/>
                </a:solidFill>
                <a:effectLst/>
                <a:uFillTx/>
                <a:latin typeface="Calibri"/>
                <a:ea typeface="Calibri"/>
              </a:rPr>
              <a:t>the A-list works with the A-list. It is what gives the network short paths despite being split into hundreds of fragments elsewhere.</a:t>
            </a:r>
            <a:endParaRPr lang="en-US" sz="1250" b="0" u="none" strike="noStrike">
              <a:solidFill>
                <a:srgbClr val="000000"/>
              </a:solidFill>
              <a:effectLst/>
              <a:uFillTx/>
              <a:latin typeface="Arial"/>
            </a:endParaRPr>
          </a:p>
        </p:txBody>
      </p:sp>
      <p:sp>
        <p:nvSpPr>
          <p:cNvPr id="218" name="Text 5"/>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10</a:t>
            </a:r>
            <a:endParaRPr lang="en-US" sz="11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9"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COMMUNITIES</a:t>
            </a:r>
            <a:endParaRPr lang="en-US" sz="1300" b="0" u="none" strike="noStrike">
              <a:solidFill>
                <a:srgbClr val="000000"/>
              </a:solidFill>
              <a:effectLst/>
              <a:uFillTx/>
              <a:latin typeface="Arial"/>
            </a:endParaRPr>
          </a:p>
        </p:txBody>
      </p:sp>
      <p:sp>
        <p:nvSpPr>
          <p:cNvPr id="220"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Distinct cinematic groups</a:t>
            </a:r>
            <a:endParaRPr lang="en-US" sz="3200" b="0" u="none" strike="noStrike">
              <a:solidFill>
                <a:srgbClr val="000000"/>
              </a:solidFill>
              <a:effectLst/>
              <a:uFillTx/>
              <a:latin typeface="Arial"/>
            </a:endParaRPr>
          </a:p>
        </p:txBody>
      </p:sp>
      <p:sp>
        <p:nvSpPr>
          <p:cNvPr id="221" name="Text 2"/>
          <p:cNvSpPr/>
          <p:nvPr/>
        </p:nvSpPr>
        <p:spPr>
          <a:xfrm>
            <a:off x="640080" y="1554480"/>
            <a:ext cx="108810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dirty="0">
                <a:solidFill>
                  <a:srgbClr val="6B6B7B"/>
                </a:solidFill>
                <a:effectLst/>
                <a:uFillTx/>
                <a:latin typeface="Calibri"/>
                <a:ea typeface="Calibri"/>
              </a:rPr>
              <a:t>We found 30 communities at modularity 0.55 — a clear sign of genuine grouping. The largest, named by their best-known members:</a:t>
            </a:r>
            <a:endParaRPr lang="en-US" sz="1400" b="0" u="none" strike="noStrike" dirty="0">
              <a:solidFill>
                <a:srgbClr val="000000"/>
              </a:solidFill>
              <a:effectLst/>
              <a:uFillTx/>
              <a:latin typeface="Arial"/>
            </a:endParaRPr>
          </a:p>
        </p:txBody>
      </p:sp>
      <p:sp>
        <p:nvSpPr>
          <p:cNvPr id="222" name="Shape 3"/>
          <p:cNvSpPr/>
          <p:nvPr/>
        </p:nvSpPr>
        <p:spPr>
          <a:xfrm>
            <a:off x="640080" y="2194560"/>
            <a:ext cx="5348880" cy="1737000"/>
          </a:xfrm>
          <a:prstGeom prst="rect">
            <a:avLst/>
          </a:prstGeom>
          <a:solidFill>
            <a:srgbClr val="F4F4F7"/>
          </a:solidFill>
          <a:ln w="12700">
            <a:solidFill>
              <a:srgbClr val="E2E2E8"/>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23" name="Shape 4"/>
          <p:cNvSpPr/>
          <p:nvPr/>
        </p:nvSpPr>
        <p:spPr>
          <a:xfrm>
            <a:off x="640080" y="2194560"/>
            <a:ext cx="91080" cy="1737000"/>
          </a:xfrm>
          <a:prstGeom prst="rect">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24" name="Text 5"/>
          <p:cNvSpPr/>
          <p:nvPr/>
        </p:nvSpPr>
        <p:spPr>
          <a:xfrm>
            <a:off x="914400" y="2423160"/>
            <a:ext cx="118836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u="none" strike="noStrike">
                <a:solidFill>
                  <a:srgbClr val="E94560"/>
                </a:solidFill>
                <a:effectLst/>
                <a:uFillTx/>
                <a:latin typeface="Georgia"/>
                <a:ea typeface="Georgia"/>
              </a:rPr>
              <a:t>170</a:t>
            </a:r>
            <a:endParaRPr lang="en-US" sz="4000" b="0" u="none" strike="noStrike">
              <a:solidFill>
                <a:srgbClr val="000000"/>
              </a:solidFill>
              <a:effectLst/>
              <a:uFillTx/>
              <a:latin typeface="Arial"/>
            </a:endParaRPr>
          </a:p>
        </p:txBody>
      </p:sp>
      <p:sp>
        <p:nvSpPr>
          <p:cNvPr id="225" name="Text 6"/>
          <p:cNvSpPr/>
          <p:nvPr/>
        </p:nvSpPr>
        <p:spPr>
          <a:xfrm>
            <a:off x="932760" y="3246120"/>
            <a:ext cx="1188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6B6B7B"/>
                </a:solidFill>
                <a:effectLst/>
                <a:uFillTx/>
                <a:latin typeface="Calibri"/>
                <a:ea typeface="Calibri"/>
              </a:rPr>
              <a:t>ACTORS</a:t>
            </a:r>
            <a:endParaRPr lang="en-US" sz="900" b="0" u="none" strike="noStrike">
              <a:solidFill>
                <a:srgbClr val="000000"/>
              </a:solidFill>
              <a:effectLst/>
              <a:uFillTx/>
              <a:latin typeface="Arial"/>
            </a:endParaRPr>
          </a:p>
        </p:txBody>
      </p:sp>
      <p:sp>
        <p:nvSpPr>
          <p:cNvPr id="226" name="Text 7"/>
          <p:cNvSpPr/>
          <p:nvPr/>
        </p:nvSpPr>
        <p:spPr>
          <a:xfrm>
            <a:off x="2240280" y="2450520"/>
            <a:ext cx="36115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50" b="1" u="none" strike="noStrike">
                <a:solidFill>
                  <a:srgbClr val="1A1A2E"/>
                </a:solidFill>
                <a:effectLst/>
                <a:uFillTx/>
                <a:latin typeface="Georgia"/>
                <a:ea typeface="Georgia"/>
              </a:rPr>
              <a:t>Old-Guard Drama &amp; Crime</a:t>
            </a:r>
            <a:endParaRPr lang="en-US" sz="1650" b="0" u="none" strike="noStrike">
              <a:solidFill>
                <a:srgbClr val="000000"/>
              </a:solidFill>
              <a:effectLst/>
              <a:uFillTx/>
              <a:latin typeface="Arial"/>
            </a:endParaRPr>
          </a:p>
        </p:txBody>
      </p:sp>
      <p:sp>
        <p:nvSpPr>
          <p:cNvPr id="227" name="Text 8"/>
          <p:cNvSpPr/>
          <p:nvPr/>
        </p:nvSpPr>
        <p:spPr>
          <a:xfrm>
            <a:off x="2240280" y="3063240"/>
            <a:ext cx="36115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150" b="0" u="none" strike="noStrike">
                <a:solidFill>
                  <a:srgbClr val="6B6B7B"/>
                </a:solidFill>
                <a:effectLst/>
                <a:uFillTx/>
                <a:latin typeface="Calibri"/>
                <a:ea typeface="Calibri"/>
              </a:rPr>
              <a:t>De Niro · Pacino · Hackman · Denzel Washington</a:t>
            </a:r>
            <a:endParaRPr lang="en-US" sz="1150" b="0" u="none" strike="noStrike">
              <a:solidFill>
                <a:srgbClr val="000000"/>
              </a:solidFill>
              <a:effectLst/>
              <a:uFillTx/>
              <a:latin typeface="Arial"/>
            </a:endParaRPr>
          </a:p>
        </p:txBody>
      </p:sp>
      <p:sp>
        <p:nvSpPr>
          <p:cNvPr id="228" name="Shape 9"/>
          <p:cNvSpPr/>
          <p:nvPr/>
        </p:nvSpPr>
        <p:spPr>
          <a:xfrm>
            <a:off x="6172200" y="2194560"/>
            <a:ext cx="5348880" cy="1737000"/>
          </a:xfrm>
          <a:prstGeom prst="rect">
            <a:avLst/>
          </a:prstGeom>
          <a:solidFill>
            <a:srgbClr val="F4F4F7"/>
          </a:solidFill>
          <a:ln w="12700">
            <a:solidFill>
              <a:srgbClr val="E2E2E8"/>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29" name="Shape 10"/>
          <p:cNvSpPr/>
          <p:nvPr/>
        </p:nvSpPr>
        <p:spPr>
          <a:xfrm>
            <a:off x="6172200" y="2194560"/>
            <a:ext cx="91080" cy="1737000"/>
          </a:xfrm>
          <a:prstGeom prst="rect">
            <a:avLst/>
          </a:prstGeom>
          <a:solidFill>
            <a:srgbClr val="0F8B8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30" name="Text 11"/>
          <p:cNvSpPr/>
          <p:nvPr/>
        </p:nvSpPr>
        <p:spPr>
          <a:xfrm>
            <a:off x="6446520" y="2423160"/>
            <a:ext cx="118836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u="none" strike="noStrike">
                <a:solidFill>
                  <a:srgbClr val="0F8B8D"/>
                </a:solidFill>
                <a:effectLst/>
                <a:uFillTx/>
                <a:latin typeface="Georgia"/>
                <a:ea typeface="Georgia"/>
              </a:rPr>
              <a:t>159</a:t>
            </a:r>
            <a:endParaRPr lang="en-US" sz="4000" b="0" u="none" strike="noStrike">
              <a:solidFill>
                <a:srgbClr val="000000"/>
              </a:solidFill>
              <a:effectLst/>
              <a:uFillTx/>
              <a:latin typeface="Arial"/>
            </a:endParaRPr>
          </a:p>
        </p:txBody>
      </p:sp>
      <p:sp>
        <p:nvSpPr>
          <p:cNvPr id="231" name="Text 12"/>
          <p:cNvSpPr/>
          <p:nvPr/>
        </p:nvSpPr>
        <p:spPr>
          <a:xfrm>
            <a:off x="6464880" y="3246120"/>
            <a:ext cx="1188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6B6B7B"/>
                </a:solidFill>
                <a:effectLst/>
                <a:uFillTx/>
                <a:latin typeface="Calibri"/>
                <a:ea typeface="Calibri"/>
              </a:rPr>
              <a:t>ACTORS</a:t>
            </a:r>
            <a:endParaRPr lang="en-US" sz="900" b="0" u="none" strike="noStrike">
              <a:solidFill>
                <a:srgbClr val="000000"/>
              </a:solidFill>
              <a:effectLst/>
              <a:uFillTx/>
              <a:latin typeface="Arial"/>
            </a:endParaRPr>
          </a:p>
        </p:txBody>
      </p:sp>
      <p:sp>
        <p:nvSpPr>
          <p:cNvPr id="232" name="Text 13"/>
          <p:cNvSpPr/>
          <p:nvPr/>
        </p:nvSpPr>
        <p:spPr>
          <a:xfrm>
            <a:off x="7772400" y="2450520"/>
            <a:ext cx="36115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50" b="1" u="none" strike="noStrike">
                <a:solidFill>
                  <a:srgbClr val="1A1A2E"/>
                </a:solidFill>
                <a:effectLst/>
                <a:uFillTx/>
                <a:latin typeface="Georgia"/>
                <a:ea typeface="Georgia"/>
              </a:rPr>
              <a:t>Modern Blockbuster</a:t>
            </a:r>
            <a:endParaRPr lang="en-US" sz="1650" b="0" u="none" strike="noStrike">
              <a:solidFill>
                <a:srgbClr val="000000"/>
              </a:solidFill>
              <a:effectLst/>
              <a:uFillTx/>
              <a:latin typeface="Arial"/>
            </a:endParaRPr>
          </a:p>
        </p:txBody>
      </p:sp>
      <p:sp>
        <p:nvSpPr>
          <p:cNvPr id="233" name="Text 14"/>
          <p:cNvSpPr/>
          <p:nvPr/>
        </p:nvSpPr>
        <p:spPr>
          <a:xfrm>
            <a:off x="7772400" y="3063240"/>
            <a:ext cx="36115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150" b="0" u="none" strike="noStrike">
                <a:solidFill>
                  <a:srgbClr val="6B6B7B"/>
                </a:solidFill>
                <a:effectLst/>
                <a:uFillTx/>
                <a:latin typeface="Calibri"/>
                <a:ea typeface="Calibri"/>
              </a:rPr>
              <a:t>S. L. Jackson · Scarlett Johansson · Chris Evans</a:t>
            </a:r>
            <a:endParaRPr lang="en-US" sz="1150" b="0" u="none" strike="noStrike">
              <a:solidFill>
                <a:srgbClr val="000000"/>
              </a:solidFill>
              <a:effectLst/>
              <a:uFillTx/>
              <a:latin typeface="Arial"/>
            </a:endParaRPr>
          </a:p>
        </p:txBody>
      </p:sp>
      <p:sp>
        <p:nvSpPr>
          <p:cNvPr id="234" name="Shape 15"/>
          <p:cNvSpPr/>
          <p:nvPr/>
        </p:nvSpPr>
        <p:spPr>
          <a:xfrm>
            <a:off x="640080" y="4160520"/>
            <a:ext cx="5348880" cy="1737000"/>
          </a:xfrm>
          <a:prstGeom prst="rect">
            <a:avLst/>
          </a:prstGeom>
          <a:solidFill>
            <a:srgbClr val="F4F4F7"/>
          </a:solidFill>
          <a:ln w="12700">
            <a:solidFill>
              <a:srgbClr val="E2E2E8"/>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35" name="Shape 16"/>
          <p:cNvSpPr/>
          <p:nvPr/>
        </p:nvSpPr>
        <p:spPr>
          <a:xfrm>
            <a:off x="640080" y="4160520"/>
            <a:ext cx="91080" cy="1737000"/>
          </a:xfrm>
          <a:prstGeom prst="rect">
            <a:avLst/>
          </a:prstGeom>
          <a:solidFill>
            <a:srgbClr val="E8A3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36" name="Text 17"/>
          <p:cNvSpPr/>
          <p:nvPr/>
        </p:nvSpPr>
        <p:spPr>
          <a:xfrm>
            <a:off x="914400" y="4389120"/>
            <a:ext cx="118836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u="none" strike="noStrike">
                <a:solidFill>
                  <a:srgbClr val="E8A317"/>
                </a:solidFill>
                <a:effectLst/>
                <a:uFillTx/>
                <a:latin typeface="Georgia"/>
                <a:ea typeface="Georgia"/>
              </a:rPr>
              <a:t>144</a:t>
            </a:r>
            <a:endParaRPr lang="en-US" sz="4000" b="0" u="none" strike="noStrike">
              <a:solidFill>
                <a:srgbClr val="000000"/>
              </a:solidFill>
              <a:effectLst/>
              <a:uFillTx/>
              <a:latin typeface="Arial"/>
            </a:endParaRPr>
          </a:p>
        </p:txBody>
      </p:sp>
      <p:sp>
        <p:nvSpPr>
          <p:cNvPr id="237" name="Text 18"/>
          <p:cNvSpPr/>
          <p:nvPr/>
        </p:nvSpPr>
        <p:spPr>
          <a:xfrm>
            <a:off x="932760" y="5212080"/>
            <a:ext cx="1188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6B6B7B"/>
                </a:solidFill>
                <a:effectLst/>
                <a:uFillTx/>
                <a:latin typeface="Calibri"/>
                <a:ea typeface="Calibri"/>
              </a:rPr>
              <a:t>ACTORS</a:t>
            </a:r>
            <a:endParaRPr lang="en-US" sz="900" b="0" u="none" strike="noStrike">
              <a:solidFill>
                <a:srgbClr val="000000"/>
              </a:solidFill>
              <a:effectLst/>
              <a:uFillTx/>
              <a:latin typeface="Arial"/>
            </a:endParaRPr>
          </a:p>
        </p:txBody>
      </p:sp>
      <p:sp>
        <p:nvSpPr>
          <p:cNvPr id="238" name="Text 19"/>
          <p:cNvSpPr/>
          <p:nvPr/>
        </p:nvSpPr>
        <p:spPr>
          <a:xfrm>
            <a:off x="2240280" y="4416480"/>
            <a:ext cx="36115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50" b="1" u="none" strike="noStrike">
                <a:solidFill>
                  <a:srgbClr val="1A1A2E"/>
                </a:solidFill>
                <a:effectLst/>
                <a:uFillTx/>
                <a:latin typeface="Georgia"/>
                <a:ea typeface="Georgia"/>
              </a:rPr>
              <a:t>Action Franchise</a:t>
            </a:r>
            <a:endParaRPr lang="en-US" sz="1650" b="0" u="none" strike="noStrike">
              <a:solidFill>
                <a:srgbClr val="000000"/>
              </a:solidFill>
              <a:effectLst/>
              <a:uFillTx/>
              <a:latin typeface="Arial"/>
            </a:endParaRPr>
          </a:p>
        </p:txBody>
      </p:sp>
      <p:sp>
        <p:nvSpPr>
          <p:cNvPr id="239" name="Text 20"/>
          <p:cNvSpPr/>
          <p:nvPr/>
        </p:nvSpPr>
        <p:spPr>
          <a:xfrm>
            <a:off x="2240280" y="5029200"/>
            <a:ext cx="36115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150" b="0" u="none" strike="noStrike">
                <a:solidFill>
                  <a:srgbClr val="6B6B7B"/>
                </a:solidFill>
                <a:effectLst/>
                <a:uFillTx/>
                <a:latin typeface="Calibri"/>
                <a:ea typeface="Calibri"/>
              </a:rPr>
              <a:t>Dwayne Johnson · Vin Diesel · Jason Statham</a:t>
            </a:r>
            <a:endParaRPr lang="en-US" sz="1150" b="0" u="none" strike="noStrike">
              <a:solidFill>
                <a:srgbClr val="000000"/>
              </a:solidFill>
              <a:effectLst/>
              <a:uFillTx/>
              <a:latin typeface="Arial"/>
            </a:endParaRPr>
          </a:p>
        </p:txBody>
      </p:sp>
      <p:sp>
        <p:nvSpPr>
          <p:cNvPr id="240" name="Shape 21"/>
          <p:cNvSpPr/>
          <p:nvPr/>
        </p:nvSpPr>
        <p:spPr>
          <a:xfrm>
            <a:off x="6172200" y="4160520"/>
            <a:ext cx="5348880" cy="1737000"/>
          </a:xfrm>
          <a:prstGeom prst="rect">
            <a:avLst/>
          </a:prstGeom>
          <a:solidFill>
            <a:srgbClr val="F4F4F7"/>
          </a:solidFill>
          <a:ln w="12700">
            <a:solidFill>
              <a:srgbClr val="E2E2E8"/>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41" name="Shape 22"/>
          <p:cNvSpPr/>
          <p:nvPr/>
        </p:nvSpPr>
        <p:spPr>
          <a:xfrm>
            <a:off x="6172200" y="4160520"/>
            <a:ext cx="91080" cy="1737000"/>
          </a:xfrm>
          <a:prstGeom prst="rect">
            <a:avLst/>
          </a:prstGeom>
          <a:solidFill>
            <a:srgbClr val="9B7ED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42" name="Text 23"/>
          <p:cNvSpPr/>
          <p:nvPr/>
        </p:nvSpPr>
        <p:spPr>
          <a:xfrm>
            <a:off x="6446520" y="4389120"/>
            <a:ext cx="118836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u="none" strike="noStrike">
                <a:solidFill>
                  <a:srgbClr val="9B7EDE"/>
                </a:solidFill>
                <a:effectLst/>
                <a:uFillTx/>
                <a:latin typeface="Georgia"/>
                <a:ea typeface="Georgia"/>
              </a:rPr>
              <a:t>133</a:t>
            </a:r>
            <a:endParaRPr lang="en-US" sz="4000" b="0" u="none" strike="noStrike">
              <a:solidFill>
                <a:srgbClr val="000000"/>
              </a:solidFill>
              <a:effectLst/>
              <a:uFillTx/>
              <a:latin typeface="Arial"/>
            </a:endParaRPr>
          </a:p>
        </p:txBody>
      </p:sp>
      <p:sp>
        <p:nvSpPr>
          <p:cNvPr id="243" name="Text 24"/>
          <p:cNvSpPr/>
          <p:nvPr/>
        </p:nvSpPr>
        <p:spPr>
          <a:xfrm>
            <a:off x="6464880" y="5212080"/>
            <a:ext cx="1188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6B6B7B"/>
                </a:solidFill>
                <a:effectLst/>
                <a:uFillTx/>
                <a:latin typeface="Calibri"/>
                <a:ea typeface="Calibri"/>
              </a:rPr>
              <a:t>ACTORS</a:t>
            </a:r>
            <a:endParaRPr lang="en-US" sz="900" b="0" u="none" strike="noStrike">
              <a:solidFill>
                <a:srgbClr val="000000"/>
              </a:solidFill>
              <a:effectLst/>
              <a:uFillTx/>
              <a:latin typeface="Arial"/>
            </a:endParaRPr>
          </a:p>
        </p:txBody>
      </p:sp>
      <p:sp>
        <p:nvSpPr>
          <p:cNvPr id="244" name="Text 25"/>
          <p:cNvSpPr/>
          <p:nvPr/>
        </p:nvSpPr>
        <p:spPr>
          <a:xfrm>
            <a:off x="7772400" y="4416480"/>
            <a:ext cx="36115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50" b="1" u="none" strike="noStrike">
                <a:solidFill>
                  <a:srgbClr val="1A1A2E"/>
                </a:solidFill>
                <a:effectLst/>
                <a:uFillTx/>
                <a:latin typeface="Georgia"/>
                <a:ea typeface="Georgia"/>
              </a:rPr>
              <a:t>Prestige Drama</a:t>
            </a:r>
            <a:endParaRPr lang="en-US" sz="1650" b="0" u="none" strike="noStrike">
              <a:solidFill>
                <a:srgbClr val="000000"/>
              </a:solidFill>
              <a:effectLst/>
              <a:uFillTx/>
              <a:latin typeface="Arial"/>
            </a:endParaRPr>
          </a:p>
        </p:txBody>
      </p:sp>
      <p:sp>
        <p:nvSpPr>
          <p:cNvPr id="245" name="Text 26"/>
          <p:cNvSpPr/>
          <p:nvPr/>
        </p:nvSpPr>
        <p:spPr>
          <a:xfrm>
            <a:off x="7772400" y="5029200"/>
            <a:ext cx="36115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150" b="0" u="none" strike="noStrike">
                <a:solidFill>
                  <a:srgbClr val="6B6B7B"/>
                </a:solidFill>
                <a:effectLst/>
                <a:uFillTx/>
                <a:latin typeface="Calibri"/>
                <a:ea typeface="Calibri"/>
              </a:rPr>
              <a:t>DiCaprio · Cate Blanchett · Kate Winslet</a:t>
            </a:r>
            <a:endParaRPr lang="en-US" sz="1150" b="0" u="none" strike="noStrike">
              <a:solidFill>
                <a:srgbClr val="000000"/>
              </a:solidFill>
              <a:effectLst/>
              <a:uFillTx/>
              <a:latin typeface="Arial"/>
            </a:endParaRPr>
          </a:p>
        </p:txBody>
      </p:sp>
      <p:sp>
        <p:nvSpPr>
          <p:cNvPr id="246" name="Text 27"/>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11</a:t>
            </a:r>
            <a:endParaRPr lang="en-US" sz="11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7"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COMMUNITIES</a:t>
            </a:r>
            <a:endParaRPr lang="en-US" sz="1300" b="0" u="none" strike="noStrike">
              <a:solidFill>
                <a:srgbClr val="000000"/>
              </a:solidFill>
              <a:effectLst/>
              <a:uFillTx/>
              <a:latin typeface="Arial"/>
            </a:endParaRPr>
          </a:p>
        </p:txBody>
      </p:sp>
      <p:sp>
        <p:nvSpPr>
          <p:cNvPr id="248"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Did we recover the "Marvel cast"?</a:t>
            </a:r>
            <a:endParaRPr lang="en-US" sz="3200" b="0" u="none" strike="noStrike">
              <a:solidFill>
                <a:srgbClr val="000000"/>
              </a:solidFill>
              <a:effectLst/>
              <a:uFillTx/>
              <a:latin typeface="Arial"/>
            </a:endParaRPr>
          </a:p>
        </p:txBody>
      </p:sp>
      <p:sp>
        <p:nvSpPr>
          <p:cNvPr id="249" name="Shape 2"/>
          <p:cNvSpPr/>
          <p:nvPr/>
        </p:nvSpPr>
        <p:spPr>
          <a:xfrm>
            <a:off x="640080" y="1828800"/>
            <a:ext cx="5348880" cy="4205880"/>
          </a:xfrm>
          <a:prstGeom prst="rect">
            <a:avLst/>
          </a:prstGeom>
          <a:solidFill>
            <a:srgbClr val="F4F4F7"/>
          </a:solidFill>
          <a:ln w="12700">
            <a:solidFill>
              <a:srgbClr val="E2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50" name="Text 3"/>
          <p:cNvSpPr/>
          <p:nvPr/>
        </p:nvSpPr>
        <p:spPr>
          <a:xfrm>
            <a:off x="896040" y="2057400"/>
            <a:ext cx="4845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150">
                <a:solidFill>
                  <a:srgbClr val="E94560"/>
                </a:solidFill>
                <a:effectLst/>
                <a:uFillTx/>
                <a:latin typeface="Calibri"/>
                <a:ea typeface="Calibri"/>
              </a:rPr>
              <a:t>PARTLY — AND THE "WHY" MATTERS</a:t>
            </a:r>
            <a:endParaRPr lang="en-US" sz="1100" b="0" u="none" strike="noStrike">
              <a:solidFill>
                <a:srgbClr val="000000"/>
              </a:solidFill>
              <a:effectLst/>
              <a:uFillTx/>
              <a:latin typeface="Arial"/>
            </a:endParaRPr>
          </a:p>
        </p:txBody>
      </p:sp>
      <p:sp>
        <p:nvSpPr>
          <p:cNvPr id="251" name="Text 4"/>
          <p:cNvSpPr/>
          <p:nvPr/>
        </p:nvSpPr>
        <p:spPr>
          <a:xfrm>
            <a:off x="896040" y="2423160"/>
            <a:ext cx="4845960" cy="3382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spcAft>
                <a:spcPts val="1001"/>
              </a:spcAft>
              <a:tabLst>
                <a:tab pos="0" algn="l"/>
              </a:tabLst>
            </a:pPr>
            <a:r>
              <a:rPr lang="en-US" sz="1300" b="0" u="none" strike="noStrike">
                <a:solidFill>
                  <a:srgbClr val="6B6B7B"/>
                </a:solidFill>
                <a:effectLst/>
                <a:uFillTx/>
                <a:latin typeface="Calibri"/>
                <a:ea typeface="Calibri"/>
              </a:rPr>
              <a:t>The communities clearly track era and genre — old-guard drama, modern blockbusters, action franchises.</a:t>
            </a:r>
            <a:endParaRPr lang="en-US" sz="1300" b="0" u="none" strike="noStrike">
              <a:solidFill>
                <a:srgbClr val="000000"/>
              </a:solidFill>
              <a:effectLst/>
              <a:uFillTx/>
              <a:latin typeface="Arial"/>
            </a:endParaRPr>
          </a:p>
          <a:p>
            <a:pPr defTabSz="914400">
              <a:lnSpc>
                <a:spcPts val="1701"/>
              </a:lnSpc>
              <a:spcAft>
                <a:spcPts val="1001"/>
              </a:spcAft>
              <a:tabLst>
                <a:tab pos="0" algn="l"/>
              </a:tabLst>
            </a:pPr>
            <a:r>
              <a:rPr lang="en-US" sz="1300" b="1" u="none" strike="noStrike">
                <a:solidFill>
                  <a:srgbClr val="1A1A2E"/>
                </a:solidFill>
                <a:effectLst/>
                <a:uFillTx/>
                <a:latin typeface="Calibri"/>
                <a:ea typeface="Calibri"/>
              </a:rPr>
              <a:t>But they do not seal off a single franchise like Marvel. </a:t>
            </a:r>
            <a:r>
              <a:rPr lang="en-US" sz="1300" b="0" u="none" strike="noStrike">
                <a:solidFill>
                  <a:srgbClr val="6B6B7B"/>
                </a:solidFill>
                <a:effectLst/>
                <a:uFillTx/>
                <a:latin typeface="Calibri"/>
                <a:ea typeface="Calibri"/>
              </a:rPr>
              <a:t>Marvel actors scatter across the blockbuster cluster instead of forming their own.</a:t>
            </a:r>
            <a:endParaRPr lang="en-US" sz="1300" b="0" u="none" strike="noStrike">
              <a:solidFill>
                <a:srgbClr val="000000"/>
              </a:solidFill>
              <a:effectLst/>
              <a:uFillTx/>
              <a:latin typeface="Arial"/>
            </a:endParaRPr>
          </a:p>
          <a:p>
            <a:pPr defTabSz="914400">
              <a:lnSpc>
                <a:spcPts val="1701"/>
              </a:lnSpc>
              <a:tabLst>
                <a:tab pos="0" algn="l"/>
              </a:tabLst>
            </a:pPr>
            <a:r>
              <a:rPr lang="en-US" sz="1300" b="1" u="none" strike="noStrike">
                <a:solidFill>
                  <a:srgbClr val="1A1A2E"/>
                </a:solidFill>
                <a:effectLst/>
                <a:uFillTx/>
                <a:latin typeface="Calibri"/>
                <a:ea typeface="Calibri"/>
              </a:rPr>
              <a:t>Why? </a:t>
            </a:r>
            <a:r>
              <a:rPr lang="en-US" sz="1300" b="0" u="none" strike="noStrike">
                <a:solidFill>
                  <a:srgbClr val="6B6B7B"/>
                </a:solidFill>
                <a:effectLst/>
                <a:uFillTx/>
                <a:latin typeface="Calibri"/>
                <a:ea typeface="Calibri"/>
              </a:rPr>
              <a:t>With only 3 actors recorded per film, an actor like Scarlett Johansson is also tied to all her non-Marvel films — which stitches her cluster outward into the rest of cinema.</a:t>
            </a:r>
            <a:endParaRPr lang="en-US" sz="1300" b="0" u="none" strike="noStrike">
              <a:solidFill>
                <a:srgbClr val="000000"/>
              </a:solidFill>
              <a:effectLst/>
              <a:uFillTx/>
              <a:latin typeface="Arial"/>
            </a:endParaRPr>
          </a:p>
        </p:txBody>
      </p:sp>
      <p:sp>
        <p:nvSpPr>
          <p:cNvPr id="252" name="Text 5"/>
          <p:cNvSpPr/>
          <p:nvPr/>
        </p:nvSpPr>
        <p:spPr>
          <a:xfrm>
            <a:off x="6355080" y="1828800"/>
            <a:ext cx="51202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99">
                <a:solidFill>
                  <a:srgbClr val="E94560"/>
                </a:solidFill>
                <a:effectLst/>
                <a:uFillTx/>
                <a:latin typeface="Calibri"/>
                <a:ea typeface="Calibri"/>
              </a:rPr>
              <a:t>MODULARITY — DOES IT PROVE STRUCTURE?</a:t>
            </a:r>
            <a:endParaRPr lang="en-US" sz="1100" b="0" u="none" strike="noStrike">
              <a:solidFill>
                <a:srgbClr val="000000"/>
              </a:solidFill>
              <a:effectLst/>
              <a:uFillTx/>
              <a:latin typeface="Arial"/>
            </a:endParaRPr>
          </a:p>
        </p:txBody>
      </p:sp>
      <p:graphicFrame>
        <p:nvGraphicFramePr>
          <p:cNvPr id="253" name="Chart 0"/>
          <p:cNvGraphicFramePr/>
          <p:nvPr/>
        </p:nvGraphicFramePr>
        <p:xfrm>
          <a:off x="6217920" y="2194560"/>
          <a:ext cx="5348880" cy="2331360"/>
        </p:xfrm>
        <a:graphic>
          <a:graphicData uri="http://schemas.openxmlformats.org/drawingml/2006/chart">
            <c:chart xmlns:c="http://schemas.openxmlformats.org/drawingml/2006/chart" xmlns:r="http://schemas.openxmlformats.org/officeDocument/2006/relationships" r:id="rId3"/>
          </a:graphicData>
        </a:graphic>
      </p:graphicFrame>
      <p:sp>
        <p:nvSpPr>
          <p:cNvPr id="254" name="Text 6"/>
          <p:cNvSpPr/>
          <p:nvPr/>
        </p:nvSpPr>
        <p:spPr>
          <a:xfrm>
            <a:off x="6217920" y="4709160"/>
            <a:ext cx="534888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00" b="1" u="none" strike="noStrike">
                <a:solidFill>
                  <a:srgbClr val="1A1A2E"/>
                </a:solidFill>
                <a:effectLst/>
                <a:uFillTx/>
                <a:latin typeface="Calibri"/>
                <a:ea typeface="Calibri"/>
              </a:rPr>
              <a:t>Even the random network scores 0.45. </a:t>
            </a:r>
            <a:r>
              <a:rPr lang="en-US" sz="1200" b="0" u="none" strike="noStrike">
                <a:solidFill>
                  <a:srgbClr val="6B6B7B"/>
                </a:solidFill>
                <a:effectLst/>
                <a:uFillTx/>
                <a:latin typeface="Calibri"/>
                <a:ea typeface="Calibri"/>
              </a:rPr>
              <a:t>A high modularity number alone is not proof — any large sparse graph can be carved into plausible-looking groups. The real evidence is qualitative: our groups contain interpretable real-world patterns. The random network's do not.</a:t>
            </a:r>
            <a:endParaRPr lang="en-US" sz="1200" b="0" u="none" strike="noStrike">
              <a:solidFill>
                <a:srgbClr val="000000"/>
              </a:solidFill>
              <a:effectLst/>
              <a:uFillTx/>
              <a:latin typeface="Arial"/>
            </a:endParaRPr>
          </a:p>
        </p:txBody>
      </p:sp>
      <p:sp>
        <p:nvSpPr>
          <p:cNvPr id="255" name="Text 7"/>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12</a:t>
            </a:r>
            <a:endParaRPr lang="en-US" sz="11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1A1A2E"/>
        </a:solidFill>
        <a:effectLst/>
      </p:bgPr>
    </p:bg>
    <p:spTree>
      <p:nvGrpSpPr>
        <p:cNvPr id="1" name=""/>
        <p:cNvGrpSpPr/>
        <p:nvPr/>
      </p:nvGrpSpPr>
      <p:grpSpPr>
        <a:xfrm>
          <a:off x="0" y="0"/>
          <a:ext cx="0" cy="0"/>
          <a:chOff x="0" y="0"/>
          <a:chExt cx="0" cy="0"/>
        </a:xfrm>
      </p:grpSpPr>
      <p:sp>
        <p:nvSpPr>
          <p:cNvPr id="256"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STRUCTURE</a:t>
            </a:r>
            <a:endParaRPr lang="en-US" sz="1300" b="0" u="none" strike="noStrike">
              <a:solidFill>
                <a:srgbClr val="FFFFFF"/>
              </a:solidFill>
              <a:effectLst/>
              <a:uFillTx/>
              <a:latin typeface="Arial"/>
            </a:endParaRPr>
          </a:p>
        </p:txBody>
      </p:sp>
      <p:sp>
        <p:nvSpPr>
          <p:cNvPr id="257"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FFFFFF"/>
                </a:solidFill>
                <a:effectLst/>
                <a:uFillTx/>
                <a:latin typeface="Georgia"/>
                <a:ea typeface="Georgia"/>
              </a:rPr>
              <a:t>A small world</a:t>
            </a:r>
            <a:endParaRPr lang="en-US" sz="3200" b="0" u="none" strike="noStrike">
              <a:solidFill>
                <a:srgbClr val="FFFFFF"/>
              </a:solidFill>
              <a:effectLst/>
              <a:uFillTx/>
              <a:latin typeface="Arial"/>
            </a:endParaRPr>
          </a:p>
        </p:txBody>
      </p:sp>
      <p:sp>
        <p:nvSpPr>
          <p:cNvPr id="258" name="Text 2"/>
          <p:cNvSpPr/>
          <p:nvPr/>
        </p:nvSpPr>
        <p:spPr>
          <a:xfrm>
            <a:off x="640080" y="1600200"/>
            <a:ext cx="731484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2001"/>
              </a:lnSpc>
              <a:tabLst>
                <a:tab pos="0" algn="l"/>
              </a:tabLst>
            </a:pPr>
            <a:r>
              <a:rPr lang="en-US" sz="1450" b="0" u="none" strike="noStrike">
                <a:solidFill>
                  <a:srgbClr val="C9C9D4"/>
                </a:solidFill>
                <a:effectLst/>
                <a:uFillTx/>
                <a:latin typeface="Calibri"/>
                <a:ea typeface="Calibri"/>
              </a:rPr>
              <a:t>Two actors, on average, are separated by fewer than five co-starring steps — yet the network is split into tight, cliquey groups. Having both at once is what makes a "small world."</a:t>
            </a:r>
            <a:endParaRPr lang="en-US" sz="1450" b="0" u="none" strike="noStrike">
              <a:solidFill>
                <a:srgbClr val="FFFFFF"/>
              </a:solidFill>
              <a:effectLst/>
              <a:uFillTx/>
              <a:latin typeface="Arial"/>
            </a:endParaRPr>
          </a:p>
        </p:txBody>
      </p:sp>
      <p:sp>
        <p:nvSpPr>
          <p:cNvPr id="259" name="Text 3"/>
          <p:cNvSpPr/>
          <p:nvPr/>
        </p:nvSpPr>
        <p:spPr>
          <a:xfrm>
            <a:off x="640080" y="2697480"/>
            <a:ext cx="3200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9A9AAB"/>
                </a:solidFill>
                <a:effectLst/>
                <a:uFillTx/>
                <a:latin typeface="Calibri"/>
                <a:ea typeface="Calibri"/>
              </a:rPr>
              <a:t>AVERAGE PATH LENGTH</a:t>
            </a:r>
            <a:endParaRPr lang="en-US" sz="1200" b="0" u="none" strike="noStrike">
              <a:solidFill>
                <a:srgbClr val="FFFFFF"/>
              </a:solidFill>
              <a:effectLst/>
              <a:uFillTx/>
              <a:latin typeface="Arial"/>
            </a:endParaRPr>
          </a:p>
        </p:txBody>
      </p:sp>
      <p:sp>
        <p:nvSpPr>
          <p:cNvPr id="260" name="Text 4"/>
          <p:cNvSpPr/>
          <p:nvPr/>
        </p:nvSpPr>
        <p:spPr>
          <a:xfrm>
            <a:off x="640080" y="3017520"/>
            <a:ext cx="155412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u="none" strike="noStrike">
                <a:solidFill>
                  <a:srgbClr val="E94560"/>
                </a:solidFill>
                <a:effectLst/>
                <a:uFillTx/>
                <a:latin typeface="Georgia"/>
                <a:ea typeface="Georgia"/>
              </a:rPr>
              <a:t>4.59</a:t>
            </a:r>
            <a:endParaRPr lang="en-US" sz="4000" b="0" u="none" strike="noStrike">
              <a:solidFill>
                <a:srgbClr val="FFFFFF"/>
              </a:solidFill>
              <a:effectLst/>
              <a:uFillTx/>
              <a:latin typeface="Arial"/>
            </a:endParaRPr>
          </a:p>
        </p:txBody>
      </p:sp>
      <p:sp>
        <p:nvSpPr>
          <p:cNvPr id="261" name="Text 5"/>
          <p:cNvSpPr/>
          <p:nvPr/>
        </p:nvSpPr>
        <p:spPr>
          <a:xfrm>
            <a:off x="667440" y="3749040"/>
            <a:ext cx="1554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6B6B7B"/>
                </a:solidFill>
                <a:effectLst/>
                <a:uFillTx/>
                <a:latin typeface="Calibri"/>
                <a:ea typeface="Calibri"/>
              </a:rPr>
              <a:t>REAL</a:t>
            </a:r>
            <a:endParaRPr lang="en-US" sz="900" b="0" u="none" strike="noStrike">
              <a:solidFill>
                <a:srgbClr val="FFFFFF"/>
              </a:solidFill>
              <a:effectLst/>
              <a:uFillTx/>
              <a:latin typeface="Arial"/>
            </a:endParaRPr>
          </a:p>
        </p:txBody>
      </p:sp>
      <p:sp>
        <p:nvSpPr>
          <p:cNvPr id="262" name="Text 6"/>
          <p:cNvSpPr/>
          <p:nvPr/>
        </p:nvSpPr>
        <p:spPr>
          <a:xfrm>
            <a:off x="2468880" y="3017520"/>
            <a:ext cx="17370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u="none" strike="noStrike">
                <a:solidFill>
                  <a:srgbClr val="5C5C72"/>
                </a:solidFill>
                <a:effectLst/>
                <a:uFillTx/>
                <a:latin typeface="Georgia"/>
                <a:ea typeface="Georgia"/>
              </a:rPr>
              <a:t>5.33</a:t>
            </a:r>
            <a:endParaRPr lang="en-US" sz="4000" b="0" u="none" strike="noStrike">
              <a:solidFill>
                <a:srgbClr val="FFFFFF"/>
              </a:solidFill>
              <a:effectLst/>
              <a:uFillTx/>
              <a:latin typeface="Arial"/>
            </a:endParaRPr>
          </a:p>
        </p:txBody>
      </p:sp>
      <p:sp>
        <p:nvSpPr>
          <p:cNvPr id="263" name="Text 7"/>
          <p:cNvSpPr/>
          <p:nvPr/>
        </p:nvSpPr>
        <p:spPr>
          <a:xfrm>
            <a:off x="2496240" y="3749040"/>
            <a:ext cx="1737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6B6B7B"/>
                </a:solidFill>
                <a:effectLst/>
                <a:uFillTx/>
                <a:latin typeface="Calibri"/>
                <a:ea typeface="Calibri"/>
              </a:rPr>
              <a:t>RANDOM</a:t>
            </a:r>
            <a:endParaRPr lang="en-US" sz="900" b="0" u="none" strike="noStrike">
              <a:solidFill>
                <a:srgbClr val="FFFFFF"/>
              </a:solidFill>
              <a:effectLst/>
              <a:uFillTx/>
              <a:latin typeface="Arial"/>
            </a:endParaRPr>
          </a:p>
        </p:txBody>
      </p:sp>
      <p:sp>
        <p:nvSpPr>
          <p:cNvPr id="264" name="Text 8"/>
          <p:cNvSpPr/>
          <p:nvPr/>
        </p:nvSpPr>
        <p:spPr>
          <a:xfrm>
            <a:off x="4434840" y="3063240"/>
            <a:ext cx="33829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200" b="0" i="1" u="none" strike="noStrike">
                <a:solidFill>
                  <a:srgbClr val="9A9AAB"/>
                </a:solidFill>
                <a:effectLst/>
                <a:uFillTx/>
                <a:latin typeface="Calibri"/>
                <a:ea typeface="Calibri"/>
              </a:rPr>
              <a:t>Real paths are even shorter than random.</a:t>
            </a:r>
            <a:endParaRPr lang="en-US" sz="1200" b="0" u="none" strike="noStrike">
              <a:solidFill>
                <a:srgbClr val="FFFFFF"/>
              </a:solidFill>
              <a:effectLst/>
              <a:uFillTx/>
              <a:latin typeface="Arial"/>
            </a:endParaRPr>
          </a:p>
        </p:txBody>
      </p:sp>
      <p:sp>
        <p:nvSpPr>
          <p:cNvPr id="265" name="Text 9"/>
          <p:cNvSpPr/>
          <p:nvPr/>
        </p:nvSpPr>
        <p:spPr>
          <a:xfrm>
            <a:off x="640080" y="4069080"/>
            <a:ext cx="3200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spc="99">
                <a:solidFill>
                  <a:srgbClr val="9A9AAB"/>
                </a:solidFill>
                <a:effectLst/>
                <a:uFillTx/>
                <a:latin typeface="Calibri"/>
                <a:ea typeface="Calibri"/>
              </a:rPr>
              <a:t>AVERAGE CLUSTERING</a:t>
            </a:r>
            <a:endParaRPr lang="en-US" sz="1200" b="0" u="none" strike="noStrike">
              <a:solidFill>
                <a:srgbClr val="FFFFFF"/>
              </a:solidFill>
              <a:effectLst/>
              <a:uFillTx/>
              <a:latin typeface="Arial"/>
            </a:endParaRPr>
          </a:p>
        </p:txBody>
      </p:sp>
      <p:sp>
        <p:nvSpPr>
          <p:cNvPr id="266" name="Text 10"/>
          <p:cNvSpPr/>
          <p:nvPr/>
        </p:nvSpPr>
        <p:spPr>
          <a:xfrm>
            <a:off x="640080" y="4389120"/>
            <a:ext cx="155412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u="none" strike="noStrike">
                <a:solidFill>
                  <a:srgbClr val="E94560"/>
                </a:solidFill>
                <a:effectLst/>
                <a:uFillTx/>
                <a:latin typeface="Georgia"/>
                <a:ea typeface="Georgia"/>
              </a:rPr>
              <a:t>0.65</a:t>
            </a:r>
            <a:endParaRPr lang="en-US" sz="4000" b="0" u="none" strike="noStrike">
              <a:solidFill>
                <a:srgbClr val="FFFFFF"/>
              </a:solidFill>
              <a:effectLst/>
              <a:uFillTx/>
              <a:latin typeface="Arial"/>
            </a:endParaRPr>
          </a:p>
        </p:txBody>
      </p:sp>
      <p:sp>
        <p:nvSpPr>
          <p:cNvPr id="267" name="Text 11"/>
          <p:cNvSpPr/>
          <p:nvPr/>
        </p:nvSpPr>
        <p:spPr>
          <a:xfrm>
            <a:off x="667440" y="5120640"/>
            <a:ext cx="1554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6B6B7B"/>
                </a:solidFill>
                <a:effectLst/>
                <a:uFillTx/>
                <a:latin typeface="Calibri"/>
                <a:ea typeface="Calibri"/>
              </a:rPr>
              <a:t>REAL</a:t>
            </a:r>
            <a:endParaRPr lang="en-US" sz="900" b="0" u="none" strike="noStrike">
              <a:solidFill>
                <a:srgbClr val="FFFFFF"/>
              </a:solidFill>
              <a:effectLst/>
              <a:uFillTx/>
              <a:latin typeface="Arial"/>
            </a:endParaRPr>
          </a:p>
        </p:txBody>
      </p:sp>
      <p:sp>
        <p:nvSpPr>
          <p:cNvPr id="268" name="Text 12"/>
          <p:cNvSpPr/>
          <p:nvPr/>
        </p:nvSpPr>
        <p:spPr>
          <a:xfrm>
            <a:off x="2468880" y="4389120"/>
            <a:ext cx="17370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u="none" strike="noStrike">
                <a:solidFill>
                  <a:srgbClr val="5C5C72"/>
                </a:solidFill>
                <a:effectLst/>
                <a:uFillTx/>
                <a:latin typeface="Georgia"/>
                <a:ea typeface="Georgia"/>
              </a:rPr>
              <a:t>0.001</a:t>
            </a:r>
            <a:endParaRPr lang="en-US" sz="4000" b="0" u="none" strike="noStrike">
              <a:solidFill>
                <a:srgbClr val="FFFFFF"/>
              </a:solidFill>
              <a:effectLst/>
              <a:uFillTx/>
              <a:latin typeface="Arial"/>
            </a:endParaRPr>
          </a:p>
        </p:txBody>
      </p:sp>
      <p:sp>
        <p:nvSpPr>
          <p:cNvPr id="269" name="Text 13"/>
          <p:cNvSpPr/>
          <p:nvPr/>
        </p:nvSpPr>
        <p:spPr>
          <a:xfrm>
            <a:off x="2496240" y="5120640"/>
            <a:ext cx="1737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6B6B7B"/>
                </a:solidFill>
                <a:effectLst/>
                <a:uFillTx/>
                <a:latin typeface="Calibri"/>
                <a:ea typeface="Calibri"/>
              </a:rPr>
              <a:t>RANDOM</a:t>
            </a:r>
            <a:endParaRPr lang="en-US" sz="900" b="0" u="none" strike="noStrike">
              <a:solidFill>
                <a:srgbClr val="FFFFFF"/>
              </a:solidFill>
              <a:effectLst/>
              <a:uFillTx/>
              <a:latin typeface="Arial"/>
            </a:endParaRPr>
          </a:p>
        </p:txBody>
      </p:sp>
      <p:sp>
        <p:nvSpPr>
          <p:cNvPr id="270" name="Text 14"/>
          <p:cNvSpPr/>
          <p:nvPr/>
        </p:nvSpPr>
        <p:spPr>
          <a:xfrm>
            <a:off x="4434840" y="4434840"/>
            <a:ext cx="33829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00"/>
              </a:lnSpc>
              <a:tabLst>
                <a:tab pos="0" algn="l"/>
              </a:tabLst>
            </a:pPr>
            <a:r>
              <a:rPr lang="en-US" sz="1200" b="0" i="1" u="none" strike="noStrike">
                <a:solidFill>
                  <a:srgbClr val="9A9AAB"/>
                </a:solidFill>
                <a:effectLst/>
                <a:uFillTx/>
                <a:latin typeface="Calibri"/>
                <a:ea typeface="Calibri"/>
              </a:rPr>
              <a:t>Real clustering dwarfs the random baseline.</a:t>
            </a:r>
            <a:endParaRPr lang="en-US" sz="1200" b="0" u="none" strike="noStrike">
              <a:solidFill>
                <a:srgbClr val="FFFFFF"/>
              </a:solidFill>
              <a:effectLst/>
              <a:uFillTx/>
              <a:latin typeface="Arial"/>
            </a:endParaRPr>
          </a:p>
        </p:txBody>
      </p:sp>
      <p:sp>
        <p:nvSpPr>
          <p:cNvPr id="271" name="Shape 15"/>
          <p:cNvSpPr/>
          <p:nvPr/>
        </p:nvSpPr>
        <p:spPr>
          <a:xfrm>
            <a:off x="8321040" y="2286000"/>
            <a:ext cx="3245760" cy="3382920"/>
          </a:xfrm>
          <a:prstGeom prst="rect">
            <a:avLst/>
          </a:prstGeom>
          <a:solidFill>
            <a:srgbClr val="232342"/>
          </a:solidFill>
          <a:ln w="19050">
            <a:solidFill>
              <a:srgbClr val="E9456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72" name="Text 16"/>
          <p:cNvSpPr/>
          <p:nvPr/>
        </p:nvSpPr>
        <p:spPr>
          <a:xfrm>
            <a:off x="8458200" y="2560320"/>
            <a:ext cx="2971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spc="150">
                <a:solidFill>
                  <a:srgbClr val="E94560"/>
                </a:solidFill>
                <a:effectLst/>
                <a:uFillTx/>
                <a:latin typeface="Calibri"/>
                <a:ea typeface="Calibri"/>
              </a:rPr>
              <a:t>SMALL-WORLD RATIO σ</a:t>
            </a:r>
            <a:endParaRPr lang="en-US" sz="1100" b="0" u="none" strike="noStrike">
              <a:solidFill>
                <a:srgbClr val="FFFFFF"/>
              </a:solidFill>
              <a:effectLst/>
              <a:uFillTx/>
              <a:latin typeface="Arial"/>
            </a:endParaRPr>
          </a:p>
        </p:txBody>
      </p:sp>
      <p:sp>
        <p:nvSpPr>
          <p:cNvPr id="273" name="Text 17"/>
          <p:cNvSpPr/>
          <p:nvPr/>
        </p:nvSpPr>
        <p:spPr>
          <a:xfrm>
            <a:off x="8458200" y="2926080"/>
            <a:ext cx="29714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200" b="1" u="none" strike="noStrike">
                <a:solidFill>
                  <a:srgbClr val="FFFFFF"/>
                </a:solidFill>
                <a:effectLst/>
                <a:uFillTx/>
                <a:latin typeface="Georgia"/>
                <a:ea typeface="Georgia"/>
              </a:rPr>
              <a:t>≈ 880</a:t>
            </a:r>
            <a:endParaRPr lang="en-US" sz="7200" b="0" u="none" strike="noStrike">
              <a:solidFill>
                <a:srgbClr val="FFFFFF"/>
              </a:solidFill>
              <a:effectLst/>
              <a:uFillTx/>
              <a:latin typeface="Arial"/>
            </a:endParaRPr>
          </a:p>
        </p:txBody>
      </p:sp>
      <p:sp>
        <p:nvSpPr>
          <p:cNvPr id="274" name="Text 18"/>
          <p:cNvSpPr/>
          <p:nvPr/>
        </p:nvSpPr>
        <p:spPr>
          <a:xfrm>
            <a:off x="8595360" y="4434840"/>
            <a:ext cx="269712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ts val="1500"/>
              </a:lnSpc>
              <a:tabLst>
                <a:tab pos="0" algn="l"/>
              </a:tabLst>
            </a:pPr>
            <a:r>
              <a:rPr lang="en-US" sz="1150" b="0" u="none" strike="noStrike">
                <a:solidFill>
                  <a:srgbClr val="9A9AAB"/>
                </a:solidFill>
                <a:effectLst/>
                <a:uFillTx/>
                <a:latin typeface="Calibri"/>
                <a:ea typeface="Calibri"/>
              </a:rPr>
              <a:t>Far above 1 — the threshold for small-world structure. The actor network clears it by a wide margin.</a:t>
            </a:r>
            <a:endParaRPr lang="en-US" sz="1150" b="0" u="none" strike="noStrike">
              <a:solidFill>
                <a:srgbClr val="FFFFFF"/>
              </a:solidFill>
              <a:effectLst/>
              <a:uFillTx/>
              <a:latin typeface="Arial"/>
            </a:endParaRPr>
          </a:p>
        </p:txBody>
      </p:sp>
      <p:sp>
        <p:nvSpPr>
          <p:cNvPr id="275" name="Text 19"/>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13</a:t>
            </a:r>
            <a:endParaRPr lang="en-US" sz="1100" b="0" u="none" strike="noStrike">
              <a:solidFill>
                <a:srgbClr val="FFFFFF"/>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TextBox 1"/>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300" b="1" u="none" strike="noStrike" spc="300">
                <a:solidFill>
                  <a:srgbClr val="E94560"/>
                </a:solidFill>
                <a:effectLst/>
                <a:uFillTx/>
                <a:latin typeface="Calibri"/>
              </a:rPr>
              <a:t>ROBUSTNESS</a:t>
            </a:r>
            <a:endParaRPr lang="en-US" sz="1300" b="0" u="none" strike="noStrike">
              <a:solidFill>
                <a:srgbClr val="000000"/>
              </a:solidFill>
              <a:effectLst/>
              <a:uFillTx/>
              <a:latin typeface="Arial"/>
            </a:endParaRPr>
          </a:p>
        </p:txBody>
      </p:sp>
      <p:sp>
        <p:nvSpPr>
          <p:cNvPr id="277" name="TextBox 2"/>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3200" b="1" u="none" strike="noStrike">
                <a:solidFill>
                  <a:srgbClr val="1A1A2E"/>
                </a:solidFill>
                <a:effectLst/>
                <a:uFillTx/>
                <a:latin typeface="Georgia"/>
              </a:rPr>
              <a:t>What happens if the hubs disappear?</a:t>
            </a:r>
            <a:endParaRPr lang="en-US" sz="3200" b="0" u="none" strike="noStrike">
              <a:solidFill>
                <a:srgbClr val="000000"/>
              </a:solidFill>
              <a:effectLst/>
              <a:uFillTx/>
              <a:latin typeface="Arial"/>
            </a:endParaRPr>
          </a:p>
        </p:txBody>
      </p:sp>
      <p:sp>
        <p:nvSpPr>
          <p:cNvPr id="278" name="TextBox 3"/>
          <p:cNvSpPr/>
          <p:nvPr/>
        </p:nvSpPr>
        <p:spPr>
          <a:xfrm>
            <a:off x="640080" y="1554480"/>
            <a:ext cx="108810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400" b="0" u="none" strike="noStrike">
                <a:solidFill>
                  <a:srgbClr val="6B6B7B"/>
                </a:solidFill>
                <a:effectLst/>
                <a:uFillTx/>
                <a:latin typeface="Calibri"/>
              </a:rPr>
              <a:t>An interesting question for any social network — how much does the structure depend on a few key players?</a:t>
            </a:r>
            <a:endParaRPr lang="en-US" sz="1400" b="0" u="none" strike="noStrike">
              <a:solidFill>
                <a:srgbClr val="000000"/>
              </a:solidFill>
              <a:effectLst/>
              <a:uFillTx/>
              <a:latin typeface="Arial"/>
            </a:endParaRPr>
          </a:p>
        </p:txBody>
      </p:sp>
      <p:pic>
        <p:nvPicPr>
          <p:cNvPr id="279" name="Picture 4" descr="robustness.png"/>
          <p:cNvPicPr/>
          <p:nvPr/>
        </p:nvPicPr>
        <p:blipFill>
          <a:blip r:embed="rId3"/>
          <a:stretch/>
        </p:blipFill>
        <p:spPr>
          <a:xfrm>
            <a:off x="502920" y="2148840"/>
            <a:ext cx="7131960" cy="4114440"/>
          </a:xfrm>
          <a:prstGeom prst="rect">
            <a:avLst/>
          </a:prstGeom>
          <a:noFill/>
          <a:ln w="0">
            <a:noFill/>
          </a:ln>
        </p:spPr>
      </p:pic>
      <p:sp>
        <p:nvSpPr>
          <p:cNvPr id="280" name="Rectangle 5"/>
          <p:cNvSpPr/>
          <p:nvPr/>
        </p:nvSpPr>
        <p:spPr>
          <a:xfrm>
            <a:off x="7818120" y="2148840"/>
            <a:ext cx="3730320" cy="4114440"/>
          </a:xfrm>
          <a:prstGeom prst="rect">
            <a:avLst/>
          </a:prstGeom>
          <a:solidFill>
            <a:srgbClr val="F4F4F7"/>
          </a:solidFill>
          <a:ln w="12700">
            <a:solidFill>
              <a:srgbClr val="E2E2E8"/>
            </a:solid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81" name="TextBox 6"/>
          <p:cNvSpPr/>
          <p:nvPr/>
        </p:nvSpPr>
        <p:spPr>
          <a:xfrm>
            <a:off x="8046720" y="2331720"/>
            <a:ext cx="32914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100" b="1" u="none" strike="noStrike" spc="201">
                <a:solidFill>
                  <a:srgbClr val="E94560"/>
                </a:solidFill>
                <a:effectLst/>
                <a:uFillTx/>
                <a:latin typeface="Calibri"/>
              </a:rPr>
              <a:t>WHAT WE TESTED</a:t>
            </a:r>
            <a:endParaRPr lang="en-US" sz="1100" b="0" u="none" strike="noStrike">
              <a:solidFill>
                <a:srgbClr val="000000"/>
              </a:solidFill>
              <a:effectLst/>
              <a:uFillTx/>
              <a:latin typeface="Arial"/>
            </a:endParaRPr>
          </a:p>
        </p:txBody>
      </p:sp>
      <p:sp>
        <p:nvSpPr>
          <p:cNvPr id="282" name="TextBox 7"/>
          <p:cNvSpPr/>
          <p:nvPr/>
        </p:nvSpPr>
        <p:spPr>
          <a:xfrm>
            <a:off x="8046720" y="2697480"/>
            <a:ext cx="3291480" cy="365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30000"/>
              </a:lnSpc>
            </a:pPr>
            <a:r>
              <a:rPr lang="en-US" sz="1250" b="0" u="none" strike="noStrike">
                <a:solidFill>
                  <a:srgbClr val="6B6B7B"/>
                </a:solidFill>
                <a:effectLst/>
                <a:uFillTx/>
                <a:latin typeface="Calibri"/>
              </a:rPr>
              <a:t>We removed actors from the network in two ways and tracked the largest connected component.</a:t>
            </a:r>
            <a:endParaRPr lang="en-US" sz="1250" b="0" u="none" strike="noStrike">
              <a:solidFill>
                <a:srgbClr val="000000"/>
              </a:solidFill>
              <a:effectLst/>
              <a:uFillTx/>
              <a:latin typeface="Arial"/>
            </a:endParaRPr>
          </a:p>
          <a:p>
            <a:pPr defTabSz="914400">
              <a:lnSpc>
                <a:spcPct val="130000"/>
              </a:lnSpc>
            </a:pPr>
            <a:r>
              <a:rPr lang="en-US" sz="1250" b="1" u="none" strike="noStrike">
                <a:solidFill>
                  <a:srgbClr val="1A1A2E"/>
                </a:solidFill>
                <a:effectLst/>
                <a:uFillTx/>
                <a:latin typeface="Calibri"/>
              </a:rPr>
              <a:t>Targeted: </a:t>
            </a:r>
            <a:endParaRPr lang="en-US" sz="1250" b="0" u="none" strike="noStrike">
              <a:solidFill>
                <a:srgbClr val="000000"/>
              </a:solidFill>
              <a:effectLst/>
              <a:uFillTx/>
              <a:latin typeface="Arial"/>
            </a:endParaRPr>
          </a:p>
          <a:p>
            <a:pPr defTabSz="914400">
              <a:lnSpc>
                <a:spcPct val="130000"/>
              </a:lnSpc>
            </a:pPr>
            <a:r>
              <a:rPr lang="en-US" sz="1250" b="0" u="none" strike="noStrike">
                <a:solidFill>
                  <a:srgbClr val="6B6B7B"/>
                </a:solidFill>
                <a:effectLst/>
                <a:uFillTx/>
                <a:latin typeface="Calibri"/>
              </a:rPr>
              <a:t>remove the highest-degree actors first.</a:t>
            </a:r>
            <a:endParaRPr lang="en-US" sz="1250" b="0" u="none" strike="noStrike">
              <a:solidFill>
                <a:srgbClr val="000000"/>
              </a:solidFill>
              <a:effectLst/>
              <a:uFillTx/>
              <a:latin typeface="Arial"/>
            </a:endParaRPr>
          </a:p>
          <a:p>
            <a:pPr defTabSz="914400">
              <a:lnSpc>
                <a:spcPct val="130000"/>
              </a:lnSpc>
            </a:pPr>
            <a:r>
              <a:rPr lang="en-US" sz="1250" b="1" u="none" strike="noStrike">
                <a:solidFill>
                  <a:srgbClr val="1A1A2E"/>
                </a:solidFill>
                <a:effectLst/>
                <a:uFillTx/>
                <a:latin typeface="Calibri"/>
              </a:rPr>
              <a:t>Random: </a:t>
            </a:r>
            <a:endParaRPr lang="en-US" sz="1250" b="0" u="none" strike="noStrike">
              <a:solidFill>
                <a:srgbClr val="000000"/>
              </a:solidFill>
              <a:effectLst/>
              <a:uFillTx/>
              <a:latin typeface="Arial"/>
            </a:endParaRPr>
          </a:p>
          <a:p>
            <a:pPr defTabSz="914400">
              <a:lnSpc>
                <a:spcPct val="130000"/>
              </a:lnSpc>
            </a:pPr>
            <a:r>
              <a:rPr lang="en-US" sz="1250" b="0" u="none" strike="noStrike">
                <a:solidFill>
                  <a:srgbClr val="6B6B7B"/>
                </a:solidFill>
                <a:effectLst/>
                <a:uFillTx/>
                <a:latin typeface="Calibri"/>
              </a:rPr>
              <a:t>remove actors picked at random.</a:t>
            </a:r>
            <a:endParaRPr lang="en-US" sz="1250" b="0" u="none" strike="noStrike">
              <a:solidFill>
                <a:srgbClr val="000000"/>
              </a:solidFill>
              <a:effectLst/>
              <a:uFillTx/>
              <a:latin typeface="Arial"/>
            </a:endParaRPr>
          </a:p>
          <a:p>
            <a:pPr defTabSz="914400">
              <a:lnSpc>
                <a:spcPct val="130000"/>
              </a:lnSpc>
            </a:pPr>
            <a:r>
              <a:rPr lang="en-US" sz="1250" b="0" i="1" u="none" strike="noStrike">
                <a:solidFill>
                  <a:srgbClr val="6B6B7B"/>
                </a:solidFill>
                <a:effectLst/>
                <a:uFillTx/>
                <a:latin typeface="Calibri"/>
              </a:rPr>
              <a:t>Remove 500 random actors — 80% of the network still connected. Remove the top 500 hubs — only 2% left. The network is fragile to targeted attacks, resilient to random loss. Classic scale-free behaviour.</a:t>
            </a:r>
            <a:endParaRPr lang="en-US" sz="1250" b="0" u="none" strike="noStrike">
              <a:solidFill>
                <a:srgbClr val="000000"/>
              </a:solidFill>
              <a:effectLst/>
              <a:uFillTx/>
              <a:latin typeface="Arial"/>
            </a:endParaRPr>
          </a:p>
        </p:txBody>
      </p:sp>
      <p:sp>
        <p:nvSpPr>
          <p:cNvPr id="283" name="TextBox 8"/>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100" b="0" u="none" strike="noStrike">
                <a:solidFill>
                  <a:srgbClr val="6B6B7B"/>
                </a:solidFill>
                <a:effectLst/>
                <a:uFillTx/>
                <a:latin typeface="Calibri"/>
              </a:rPr>
              <a:t>14</a:t>
            </a:r>
            <a:endParaRPr lang="en-US" sz="11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4"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DISTRIBUTIONS</a:t>
            </a:r>
            <a:endParaRPr lang="en-US" sz="1300" b="0" u="none" strike="noStrike">
              <a:solidFill>
                <a:srgbClr val="000000"/>
              </a:solidFill>
              <a:effectLst/>
              <a:uFillTx/>
              <a:latin typeface="Arial"/>
            </a:endParaRPr>
          </a:p>
        </p:txBody>
      </p:sp>
      <p:sp>
        <p:nvSpPr>
          <p:cNvPr id="285"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Real network — four distributions</a:t>
            </a:r>
            <a:endParaRPr lang="en-US" sz="3200" b="0" u="none" strike="noStrike">
              <a:solidFill>
                <a:srgbClr val="000000"/>
              </a:solidFill>
              <a:effectLst/>
              <a:uFillTx/>
              <a:latin typeface="Arial"/>
            </a:endParaRPr>
          </a:p>
        </p:txBody>
      </p:sp>
      <p:pic>
        <p:nvPicPr>
          <p:cNvPr id="286" name="Image 0" descr="assets/dist_Real.png"/>
          <p:cNvPicPr/>
          <p:nvPr/>
        </p:nvPicPr>
        <p:blipFill>
          <a:blip r:embed="rId3"/>
          <a:stretch/>
        </p:blipFill>
        <p:spPr>
          <a:xfrm>
            <a:off x="502920" y="1874520"/>
            <a:ext cx="11155320" cy="2742840"/>
          </a:xfrm>
          <a:prstGeom prst="rect">
            <a:avLst/>
          </a:prstGeom>
          <a:noFill/>
          <a:ln w="0">
            <a:noFill/>
          </a:ln>
        </p:spPr>
      </p:pic>
      <p:sp>
        <p:nvSpPr>
          <p:cNvPr id="287" name="Shape 2"/>
          <p:cNvSpPr/>
          <p:nvPr/>
        </p:nvSpPr>
        <p:spPr>
          <a:xfrm>
            <a:off x="640080" y="4983480"/>
            <a:ext cx="10908360" cy="1051200"/>
          </a:xfrm>
          <a:prstGeom prst="rect">
            <a:avLst/>
          </a:prstGeom>
          <a:solidFill>
            <a:srgbClr val="F4F4F7"/>
          </a:solidFill>
          <a:ln w="12700">
            <a:solidFill>
              <a:srgbClr val="E2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88" name="Shape 3"/>
          <p:cNvSpPr/>
          <p:nvPr/>
        </p:nvSpPr>
        <p:spPr>
          <a:xfrm>
            <a:off x="640080" y="4983480"/>
            <a:ext cx="91080" cy="1051200"/>
          </a:xfrm>
          <a:prstGeom prst="rect">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89" name="Text 4"/>
          <p:cNvSpPr/>
          <p:nvPr/>
        </p:nvSpPr>
        <p:spPr>
          <a:xfrm>
            <a:off x="914400" y="510228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50">
                <a:solidFill>
                  <a:srgbClr val="6B6B7B"/>
                </a:solidFill>
                <a:effectLst/>
                <a:uFillTx/>
                <a:latin typeface="Calibri"/>
                <a:ea typeface="Calibri"/>
              </a:rPr>
              <a:t>READING THE ROW</a:t>
            </a:r>
            <a:endParaRPr lang="en-US" sz="1000" b="0" u="none" strike="noStrike">
              <a:solidFill>
                <a:srgbClr val="000000"/>
              </a:solidFill>
              <a:effectLst/>
              <a:uFillTx/>
              <a:latin typeface="Arial"/>
            </a:endParaRPr>
          </a:p>
        </p:txBody>
      </p:sp>
      <p:sp>
        <p:nvSpPr>
          <p:cNvPr id="290" name="Text 5"/>
          <p:cNvSpPr/>
          <p:nvPr/>
        </p:nvSpPr>
        <p:spPr>
          <a:xfrm>
            <a:off x="914400" y="5349240"/>
            <a:ext cx="104238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50" b="0" u="none" strike="noStrike">
                <a:solidFill>
                  <a:srgbClr val="1A1A2E"/>
                </a:solidFill>
                <a:effectLst/>
                <a:uFillTx/>
                <a:latin typeface="Calibri"/>
                <a:ea typeface="Calibri"/>
              </a:rPr>
              <a:t>Degree drops off steeply (heavy tail). Clustering spreads widely toward 1.0. Betweenness is heavy-tailed — a few critical bridges. Components: one giant, many tiny.</a:t>
            </a:r>
            <a:endParaRPr lang="en-US" sz="1250" b="0" u="none" strike="noStrike">
              <a:solidFill>
                <a:srgbClr val="000000"/>
              </a:solidFill>
              <a:effectLst/>
              <a:uFillTx/>
              <a:latin typeface="Arial"/>
            </a:endParaRPr>
          </a:p>
        </p:txBody>
      </p:sp>
      <p:sp>
        <p:nvSpPr>
          <p:cNvPr id="291" name="Text 6"/>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15</a:t>
            </a:r>
            <a:endParaRPr lang="en-US" sz="11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2"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DISTRIBUTIONS</a:t>
            </a:r>
            <a:endParaRPr lang="en-US" sz="1300" b="0" u="none" strike="noStrike">
              <a:solidFill>
                <a:srgbClr val="000000"/>
              </a:solidFill>
              <a:effectLst/>
              <a:uFillTx/>
              <a:latin typeface="Arial"/>
            </a:endParaRPr>
          </a:p>
        </p:txBody>
      </p:sp>
      <p:sp>
        <p:nvSpPr>
          <p:cNvPr id="293"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Random (ER) — four distributions</a:t>
            </a:r>
            <a:endParaRPr lang="en-US" sz="3200" b="0" u="none" strike="noStrike">
              <a:solidFill>
                <a:srgbClr val="000000"/>
              </a:solidFill>
              <a:effectLst/>
              <a:uFillTx/>
              <a:latin typeface="Arial"/>
            </a:endParaRPr>
          </a:p>
        </p:txBody>
      </p:sp>
      <p:pic>
        <p:nvPicPr>
          <p:cNvPr id="294" name="Image 0" descr="assets/dist_ER.png"/>
          <p:cNvPicPr/>
          <p:nvPr/>
        </p:nvPicPr>
        <p:blipFill>
          <a:blip r:embed="rId3"/>
          <a:stretch/>
        </p:blipFill>
        <p:spPr>
          <a:xfrm>
            <a:off x="502920" y="1874520"/>
            <a:ext cx="11155320" cy="2742840"/>
          </a:xfrm>
          <a:prstGeom prst="rect">
            <a:avLst/>
          </a:prstGeom>
          <a:noFill/>
          <a:ln w="0">
            <a:noFill/>
          </a:ln>
        </p:spPr>
      </p:pic>
      <p:sp>
        <p:nvSpPr>
          <p:cNvPr id="295" name="Shape 2"/>
          <p:cNvSpPr/>
          <p:nvPr/>
        </p:nvSpPr>
        <p:spPr>
          <a:xfrm>
            <a:off x="640080" y="4983480"/>
            <a:ext cx="10908360" cy="1051200"/>
          </a:xfrm>
          <a:prstGeom prst="rect">
            <a:avLst/>
          </a:prstGeom>
          <a:solidFill>
            <a:srgbClr val="F4F4F7"/>
          </a:solidFill>
          <a:ln w="12700">
            <a:solidFill>
              <a:srgbClr val="E2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96" name="Shape 3"/>
          <p:cNvSpPr/>
          <p:nvPr/>
        </p:nvSpPr>
        <p:spPr>
          <a:xfrm>
            <a:off x="640080" y="4983480"/>
            <a:ext cx="91080" cy="1051200"/>
          </a:xfrm>
          <a:prstGeom prst="rect">
            <a:avLst/>
          </a:prstGeom>
          <a:solidFill>
            <a:srgbClr val="0F8B8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97" name="Text 4"/>
          <p:cNvSpPr/>
          <p:nvPr/>
        </p:nvSpPr>
        <p:spPr>
          <a:xfrm>
            <a:off x="914400" y="510228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50">
                <a:solidFill>
                  <a:srgbClr val="6B6B7B"/>
                </a:solidFill>
                <a:effectLst/>
                <a:uFillTx/>
                <a:latin typeface="Calibri"/>
                <a:ea typeface="Calibri"/>
              </a:rPr>
              <a:t>READING THE ROW</a:t>
            </a:r>
            <a:endParaRPr lang="en-US" sz="1000" b="0" u="none" strike="noStrike">
              <a:solidFill>
                <a:srgbClr val="000000"/>
              </a:solidFill>
              <a:effectLst/>
              <a:uFillTx/>
              <a:latin typeface="Arial"/>
            </a:endParaRPr>
          </a:p>
        </p:txBody>
      </p:sp>
      <p:sp>
        <p:nvSpPr>
          <p:cNvPr id="298" name="Text 5"/>
          <p:cNvSpPr/>
          <p:nvPr/>
        </p:nvSpPr>
        <p:spPr>
          <a:xfrm>
            <a:off x="914400" y="5349240"/>
            <a:ext cx="104238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50" b="0" u="none" strike="noStrike">
                <a:solidFill>
                  <a:srgbClr val="1A1A2E"/>
                </a:solidFill>
                <a:effectLst/>
                <a:uFillTx/>
                <a:latin typeface="Calibri"/>
                <a:ea typeface="Calibri"/>
              </a:rPr>
              <a:t>Degree is a tight bell curve — no hubs. Clustering is crushed near zero. Betweenness sits in a narrow band. Almost everything is in one component.</a:t>
            </a:r>
            <a:endParaRPr lang="en-US" sz="1250" b="0" u="none" strike="noStrike">
              <a:solidFill>
                <a:srgbClr val="000000"/>
              </a:solidFill>
              <a:effectLst/>
              <a:uFillTx/>
              <a:latin typeface="Arial"/>
            </a:endParaRPr>
          </a:p>
        </p:txBody>
      </p:sp>
      <p:sp>
        <p:nvSpPr>
          <p:cNvPr id="299" name="Text 6"/>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16</a:t>
            </a:r>
            <a:endParaRPr lang="en-US" sz="11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0"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DISTRIBUTIONS</a:t>
            </a:r>
            <a:endParaRPr lang="en-US" sz="1300" b="0" u="none" strike="noStrike">
              <a:solidFill>
                <a:srgbClr val="000000"/>
              </a:solidFill>
              <a:effectLst/>
              <a:uFillTx/>
              <a:latin typeface="Arial"/>
            </a:endParaRPr>
          </a:p>
        </p:txBody>
      </p:sp>
      <p:sp>
        <p:nvSpPr>
          <p:cNvPr id="301"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Scale-Free (BA) — four distributions</a:t>
            </a:r>
            <a:endParaRPr lang="en-US" sz="3200" b="0" u="none" strike="noStrike">
              <a:solidFill>
                <a:srgbClr val="000000"/>
              </a:solidFill>
              <a:effectLst/>
              <a:uFillTx/>
              <a:latin typeface="Arial"/>
            </a:endParaRPr>
          </a:p>
        </p:txBody>
      </p:sp>
      <p:pic>
        <p:nvPicPr>
          <p:cNvPr id="302" name="Image 0" descr="assets/dist_BA.png"/>
          <p:cNvPicPr/>
          <p:nvPr/>
        </p:nvPicPr>
        <p:blipFill>
          <a:blip r:embed="rId3"/>
          <a:stretch/>
        </p:blipFill>
        <p:spPr>
          <a:xfrm>
            <a:off x="502920" y="1874520"/>
            <a:ext cx="11155320" cy="2742840"/>
          </a:xfrm>
          <a:prstGeom prst="rect">
            <a:avLst/>
          </a:prstGeom>
          <a:noFill/>
          <a:ln w="0">
            <a:noFill/>
          </a:ln>
        </p:spPr>
      </p:pic>
      <p:sp>
        <p:nvSpPr>
          <p:cNvPr id="303" name="Shape 2"/>
          <p:cNvSpPr/>
          <p:nvPr/>
        </p:nvSpPr>
        <p:spPr>
          <a:xfrm>
            <a:off x="640080" y="4983480"/>
            <a:ext cx="10908360" cy="1051200"/>
          </a:xfrm>
          <a:prstGeom prst="rect">
            <a:avLst/>
          </a:prstGeom>
          <a:solidFill>
            <a:srgbClr val="F4F4F7"/>
          </a:solidFill>
          <a:ln w="12700">
            <a:solidFill>
              <a:srgbClr val="E2E2E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04" name="Shape 3"/>
          <p:cNvSpPr/>
          <p:nvPr/>
        </p:nvSpPr>
        <p:spPr>
          <a:xfrm>
            <a:off x="640080" y="4983480"/>
            <a:ext cx="91080" cy="1051200"/>
          </a:xfrm>
          <a:prstGeom prst="rect">
            <a:avLst/>
          </a:prstGeom>
          <a:solidFill>
            <a:srgbClr val="E8A3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05" name="Text 4"/>
          <p:cNvSpPr/>
          <p:nvPr/>
        </p:nvSpPr>
        <p:spPr>
          <a:xfrm>
            <a:off x="914400" y="510228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150">
                <a:solidFill>
                  <a:srgbClr val="6B6B7B"/>
                </a:solidFill>
                <a:effectLst/>
                <a:uFillTx/>
                <a:latin typeface="Calibri"/>
                <a:ea typeface="Calibri"/>
              </a:rPr>
              <a:t>READING THE ROW</a:t>
            </a:r>
            <a:endParaRPr lang="en-US" sz="1000" b="0" u="none" strike="noStrike">
              <a:solidFill>
                <a:srgbClr val="000000"/>
              </a:solidFill>
              <a:effectLst/>
              <a:uFillTx/>
              <a:latin typeface="Arial"/>
            </a:endParaRPr>
          </a:p>
        </p:txBody>
      </p:sp>
      <p:sp>
        <p:nvSpPr>
          <p:cNvPr id="306" name="Text 5"/>
          <p:cNvSpPr/>
          <p:nvPr/>
        </p:nvSpPr>
        <p:spPr>
          <a:xfrm>
            <a:off x="914400" y="5349240"/>
            <a:ext cx="104238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50" b="0" u="none" strike="noStrike">
                <a:solidFill>
                  <a:srgbClr val="1A1A2E"/>
                </a:solidFill>
                <a:effectLst/>
                <a:uFillTx/>
                <a:latin typeface="Calibri"/>
                <a:ea typeface="Calibri"/>
              </a:rPr>
              <a:t>Degree shows a power-law tail — like the real network. But clustering is still near zero, and it forms a single component. BA captures hubs, not cohesion.</a:t>
            </a:r>
            <a:endParaRPr lang="en-US" sz="1250" b="0" u="none" strike="noStrike">
              <a:solidFill>
                <a:srgbClr val="000000"/>
              </a:solidFill>
              <a:effectLst/>
              <a:uFillTx/>
              <a:latin typeface="Arial"/>
            </a:endParaRPr>
          </a:p>
        </p:txBody>
      </p:sp>
      <p:sp>
        <p:nvSpPr>
          <p:cNvPr id="307" name="Text 6"/>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17</a:t>
            </a:r>
            <a:endParaRPr lang="en-US" sz="11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8"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VERDICT</a:t>
            </a:r>
            <a:endParaRPr lang="en-US" sz="1300" b="0" u="none" strike="noStrike">
              <a:solidFill>
                <a:srgbClr val="000000"/>
              </a:solidFill>
              <a:effectLst/>
              <a:uFillTx/>
              <a:latin typeface="Arial"/>
            </a:endParaRPr>
          </a:p>
        </p:txBody>
      </p:sp>
      <p:sp>
        <p:nvSpPr>
          <p:cNvPr id="309"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What type of network is this?</a:t>
            </a:r>
            <a:endParaRPr lang="en-US" sz="3200" b="0" u="none" strike="noStrike">
              <a:solidFill>
                <a:srgbClr val="000000"/>
              </a:solidFill>
              <a:effectLst/>
              <a:uFillTx/>
              <a:latin typeface="Arial"/>
            </a:endParaRPr>
          </a:p>
        </p:txBody>
      </p:sp>
      <p:sp>
        <p:nvSpPr>
          <p:cNvPr id="310" name="Shape 2"/>
          <p:cNvSpPr/>
          <p:nvPr/>
        </p:nvSpPr>
        <p:spPr>
          <a:xfrm>
            <a:off x="640080" y="1783080"/>
            <a:ext cx="3474360" cy="2331360"/>
          </a:xfrm>
          <a:prstGeom prst="rect">
            <a:avLst/>
          </a:prstGeom>
          <a:solidFill>
            <a:srgbClr val="F4F4F7"/>
          </a:solidFill>
          <a:ln w="12700">
            <a:solidFill>
              <a:srgbClr val="E2E2E8"/>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11" name="Shape 3"/>
          <p:cNvSpPr/>
          <p:nvPr/>
        </p:nvSpPr>
        <p:spPr>
          <a:xfrm>
            <a:off x="640080" y="1783080"/>
            <a:ext cx="3474360" cy="91080"/>
          </a:xfrm>
          <a:prstGeom prst="rect">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12" name="Text 4"/>
          <p:cNvSpPr/>
          <p:nvPr/>
        </p:nvSpPr>
        <p:spPr>
          <a:xfrm>
            <a:off x="914400" y="2011680"/>
            <a:ext cx="29257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A1A2E"/>
                </a:solidFill>
                <a:effectLst/>
                <a:uFillTx/>
                <a:latin typeface="Georgia"/>
                <a:ea typeface="Georgia"/>
              </a:rPr>
              <a:t>Small-world</a:t>
            </a:r>
            <a:endParaRPr lang="en-US" sz="1800" b="0" u="none" strike="noStrike">
              <a:solidFill>
                <a:srgbClr val="000000"/>
              </a:solidFill>
              <a:effectLst/>
              <a:uFillTx/>
              <a:latin typeface="Arial"/>
            </a:endParaRPr>
          </a:p>
        </p:txBody>
      </p:sp>
      <p:sp>
        <p:nvSpPr>
          <p:cNvPr id="313" name="Text 5"/>
          <p:cNvSpPr/>
          <p:nvPr/>
        </p:nvSpPr>
        <p:spPr>
          <a:xfrm>
            <a:off x="914400" y="2514600"/>
            <a:ext cx="2925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99">
                <a:solidFill>
                  <a:srgbClr val="E94560"/>
                </a:solidFill>
                <a:effectLst/>
                <a:uFillTx/>
                <a:latin typeface="Calibri"/>
                <a:ea typeface="Calibri"/>
              </a:rPr>
              <a:t>CONFIRMED</a:t>
            </a:r>
            <a:endParaRPr lang="en-US" sz="1000" b="0" u="none" strike="noStrike">
              <a:solidFill>
                <a:srgbClr val="000000"/>
              </a:solidFill>
              <a:effectLst/>
              <a:uFillTx/>
              <a:latin typeface="Arial"/>
            </a:endParaRPr>
          </a:p>
        </p:txBody>
      </p:sp>
      <p:sp>
        <p:nvSpPr>
          <p:cNvPr id="314" name="Text 6"/>
          <p:cNvSpPr/>
          <p:nvPr/>
        </p:nvSpPr>
        <p:spPr>
          <a:xfrm>
            <a:off x="914400" y="2834640"/>
            <a:ext cx="292572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00" b="0" u="none" strike="noStrike">
                <a:solidFill>
                  <a:srgbClr val="6B6B7B"/>
                </a:solidFill>
                <a:effectLst/>
                <a:uFillTx/>
                <a:latin typeface="Calibri"/>
                <a:ea typeface="Calibri"/>
              </a:rPr>
              <a:t>Short paths (4.6) with very high clustering (0.72). σ ≈ 880.</a:t>
            </a:r>
            <a:endParaRPr lang="en-US" sz="1200" b="0" u="none" strike="noStrike">
              <a:solidFill>
                <a:srgbClr val="000000"/>
              </a:solidFill>
              <a:effectLst/>
              <a:uFillTx/>
              <a:latin typeface="Arial"/>
            </a:endParaRPr>
          </a:p>
        </p:txBody>
      </p:sp>
      <p:sp>
        <p:nvSpPr>
          <p:cNvPr id="315" name="Shape 7"/>
          <p:cNvSpPr/>
          <p:nvPr/>
        </p:nvSpPr>
        <p:spPr>
          <a:xfrm>
            <a:off x="4343400" y="1783080"/>
            <a:ext cx="3474360" cy="2331360"/>
          </a:xfrm>
          <a:prstGeom prst="rect">
            <a:avLst/>
          </a:prstGeom>
          <a:solidFill>
            <a:srgbClr val="F4F4F7"/>
          </a:solidFill>
          <a:ln w="12700">
            <a:solidFill>
              <a:srgbClr val="E2E2E8"/>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16" name="Shape 8"/>
          <p:cNvSpPr/>
          <p:nvPr/>
        </p:nvSpPr>
        <p:spPr>
          <a:xfrm>
            <a:off x="4343400" y="1783080"/>
            <a:ext cx="3474360" cy="91080"/>
          </a:xfrm>
          <a:prstGeom prst="rect">
            <a:avLst/>
          </a:prstGeom>
          <a:solidFill>
            <a:srgbClr val="0F8B8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17" name="Text 9"/>
          <p:cNvSpPr/>
          <p:nvPr/>
        </p:nvSpPr>
        <p:spPr>
          <a:xfrm>
            <a:off x="4617720" y="2011680"/>
            <a:ext cx="29257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A1A2E"/>
                </a:solidFill>
                <a:effectLst/>
                <a:uFillTx/>
                <a:latin typeface="Georgia"/>
                <a:ea typeface="Georgia"/>
              </a:rPr>
              <a:t>Strong communities</a:t>
            </a:r>
            <a:endParaRPr lang="en-US" sz="1800" b="0" u="none" strike="noStrike">
              <a:solidFill>
                <a:srgbClr val="000000"/>
              </a:solidFill>
              <a:effectLst/>
              <a:uFillTx/>
              <a:latin typeface="Arial"/>
            </a:endParaRPr>
          </a:p>
        </p:txBody>
      </p:sp>
      <p:sp>
        <p:nvSpPr>
          <p:cNvPr id="318" name="Text 10"/>
          <p:cNvSpPr/>
          <p:nvPr/>
        </p:nvSpPr>
        <p:spPr>
          <a:xfrm>
            <a:off x="4617720" y="2514600"/>
            <a:ext cx="2925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99">
                <a:solidFill>
                  <a:srgbClr val="0F8B8D"/>
                </a:solidFill>
                <a:effectLst/>
                <a:uFillTx/>
                <a:latin typeface="Calibri"/>
                <a:ea typeface="Calibri"/>
              </a:rPr>
              <a:t>CONFIRMED</a:t>
            </a:r>
            <a:endParaRPr lang="en-US" sz="1000" b="0" u="none" strike="noStrike">
              <a:solidFill>
                <a:srgbClr val="000000"/>
              </a:solidFill>
              <a:effectLst/>
              <a:uFillTx/>
              <a:latin typeface="Arial"/>
            </a:endParaRPr>
          </a:p>
        </p:txBody>
      </p:sp>
      <p:sp>
        <p:nvSpPr>
          <p:cNvPr id="319" name="Text 11"/>
          <p:cNvSpPr/>
          <p:nvPr/>
        </p:nvSpPr>
        <p:spPr>
          <a:xfrm>
            <a:off x="4617720" y="2834640"/>
            <a:ext cx="292572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00" b="0" u="none" strike="noStrike">
                <a:solidFill>
                  <a:srgbClr val="6B6B7B"/>
                </a:solidFill>
                <a:effectLst/>
                <a:uFillTx/>
                <a:latin typeface="Calibri"/>
                <a:ea typeface="Calibri"/>
              </a:rPr>
              <a:t>30 interpretable groups organised by era, genre and franchise.</a:t>
            </a:r>
            <a:endParaRPr lang="en-US" sz="1200" b="0" u="none" strike="noStrike">
              <a:solidFill>
                <a:srgbClr val="000000"/>
              </a:solidFill>
              <a:effectLst/>
              <a:uFillTx/>
              <a:latin typeface="Arial"/>
            </a:endParaRPr>
          </a:p>
        </p:txBody>
      </p:sp>
      <p:sp>
        <p:nvSpPr>
          <p:cNvPr id="320" name="Shape 12"/>
          <p:cNvSpPr/>
          <p:nvPr/>
        </p:nvSpPr>
        <p:spPr>
          <a:xfrm>
            <a:off x="8046720" y="1783080"/>
            <a:ext cx="3474360" cy="2331360"/>
          </a:xfrm>
          <a:prstGeom prst="rect">
            <a:avLst/>
          </a:prstGeom>
          <a:solidFill>
            <a:srgbClr val="F4F4F7"/>
          </a:solidFill>
          <a:ln w="12700">
            <a:solidFill>
              <a:srgbClr val="E2E2E8"/>
            </a:solidFill>
            <a:round/>
          </a:ln>
          <a:effectLst>
            <a:outerShdw blurRad="101520" dist="37674" dir="81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1" name="Shape 13"/>
          <p:cNvSpPr/>
          <p:nvPr/>
        </p:nvSpPr>
        <p:spPr>
          <a:xfrm>
            <a:off x="8046720" y="1783080"/>
            <a:ext cx="3474360" cy="91080"/>
          </a:xfrm>
          <a:prstGeom prst="rect">
            <a:avLst/>
          </a:prstGeom>
          <a:solidFill>
            <a:srgbClr val="E8A3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2" name="Text 14"/>
          <p:cNvSpPr/>
          <p:nvPr/>
        </p:nvSpPr>
        <p:spPr>
          <a:xfrm>
            <a:off x="8321040" y="2011680"/>
            <a:ext cx="29257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1A1A2E"/>
                </a:solidFill>
                <a:effectLst/>
                <a:uFillTx/>
                <a:latin typeface="Georgia"/>
                <a:ea typeface="Georgia"/>
              </a:rPr>
              <a:t>Heavy-tailed degrees</a:t>
            </a:r>
            <a:endParaRPr lang="en-US" sz="1800" b="0" u="none" strike="noStrike">
              <a:solidFill>
                <a:srgbClr val="000000"/>
              </a:solidFill>
              <a:effectLst/>
              <a:uFillTx/>
              <a:latin typeface="Arial"/>
            </a:endParaRPr>
          </a:p>
        </p:txBody>
      </p:sp>
      <p:sp>
        <p:nvSpPr>
          <p:cNvPr id="323" name="Text 15"/>
          <p:cNvSpPr/>
          <p:nvPr/>
        </p:nvSpPr>
        <p:spPr>
          <a:xfrm>
            <a:off x="8321040" y="2514600"/>
            <a:ext cx="2925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spc="99">
                <a:solidFill>
                  <a:srgbClr val="E8A317"/>
                </a:solidFill>
                <a:effectLst/>
                <a:uFillTx/>
                <a:latin typeface="Calibri"/>
                <a:ea typeface="Calibri"/>
              </a:rPr>
              <a:t>YES, WITH NUANCE</a:t>
            </a:r>
            <a:endParaRPr lang="en-US" sz="1000" b="0" u="none" strike="noStrike">
              <a:solidFill>
                <a:srgbClr val="000000"/>
              </a:solidFill>
              <a:effectLst/>
              <a:uFillTx/>
              <a:latin typeface="Arial"/>
            </a:endParaRPr>
          </a:p>
        </p:txBody>
      </p:sp>
      <p:sp>
        <p:nvSpPr>
          <p:cNvPr id="324" name="Text 16"/>
          <p:cNvSpPr/>
          <p:nvPr/>
        </p:nvSpPr>
        <p:spPr>
          <a:xfrm>
            <a:off x="8321040" y="2834640"/>
            <a:ext cx="292572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599"/>
              </a:lnSpc>
              <a:tabLst>
                <a:tab pos="0" algn="l"/>
              </a:tabLst>
            </a:pPr>
            <a:r>
              <a:rPr lang="en-US" sz="1200" b="0" u="none" strike="noStrike">
                <a:solidFill>
                  <a:srgbClr val="6B6B7B"/>
                </a:solidFill>
                <a:effectLst/>
                <a:uFillTx/>
                <a:latin typeface="Calibri"/>
                <a:ea typeface="Calibri"/>
              </a:rPr>
              <a:t>Power-law exponent ≈ 2.7 — but a log-normal fits marginally better.</a:t>
            </a:r>
            <a:endParaRPr lang="en-US" sz="1200" b="0" u="none" strike="noStrike">
              <a:solidFill>
                <a:srgbClr val="000000"/>
              </a:solidFill>
              <a:effectLst/>
              <a:uFillTx/>
              <a:latin typeface="Arial"/>
            </a:endParaRPr>
          </a:p>
        </p:txBody>
      </p:sp>
      <p:sp>
        <p:nvSpPr>
          <p:cNvPr id="325" name="Shape 17"/>
          <p:cNvSpPr/>
          <p:nvPr/>
        </p:nvSpPr>
        <p:spPr>
          <a:xfrm>
            <a:off x="640080" y="4343400"/>
            <a:ext cx="10908360" cy="1782720"/>
          </a:xfrm>
          <a:prstGeom prst="rect">
            <a:avLst/>
          </a:prstGeom>
          <a:solidFill>
            <a:srgbClr val="1A1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6" name="Text 18"/>
          <p:cNvSpPr/>
          <p:nvPr/>
        </p:nvSpPr>
        <p:spPr>
          <a:xfrm>
            <a:off x="960120" y="4572000"/>
            <a:ext cx="3657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spc="201">
                <a:solidFill>
                  <a:srgbClr val="E94560"/>
                </a:solidFill>
                <a:effectLst/>
                <a:uFillTx/>
                <a:latin typeface="Calibri"/>
                <a:ea typeface="Calibri"/>
              </a:rPr>
              <a:t>THE CONCLUSION</a:t>
            </a:r>
            <a:endParaRPr lang="en-US" sz="1100" b="0" u="none" strike="noStrike">
              <a:solidFill>
                <a:srgbClr val="000000"/>
              </a:solidFill>
              <a:effectLst/>
              <a:uFillTx/>
              <a:latin typeface="Arial"/>
            </a:endParaRPr>
          </a:p>
        </p:txBody>
      </p:sp>
      <p:sp>
        <p:nvSpPr>
          <p:cNvPr id="327" name="Text 19"/>
          <p:cNvSpPr/>
          <p:nvPr/>
        </p:nvSpPr>
        <p:spPr>
          <a:xfrm>
            <a:off x="960120" y="4892040"/>
            <a:ext cx="1028664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701"/>
              </a:lnSpc>
              <a:tabLst>
                <a:tab pos="0" algn="l"/>
              </a:tabLst>
            </a:pPr>
            <a:r>
              <a:rPr lang="en-US" sz="1250" b="1" u="none" strike="noStrike">
                <a:solidFill>
                  <a:srgbClr val="FFFFFF"/>
                </a:solidFill>
                <a:effectLst/>
                <a:uFillTx/>
                <a:latin typeface="Calibri"/>
                <a:ea typeface="Calibri"/>
              </a:rPr>
              <a:t>The actor network is a small-world network with a heavy-tailed degree distribution and strong community structure. </a:t>
            </a:r>
            <a:r>
              <a:rPr lang="en-US" sz="1250" b="0" u="none" strike="noStrike">
                <a:solidFill>
                  <a:srgbClr val="C9C9D4"/>
                </a:solidFill>
                <a:effectLst/>
                <a:uFillTx/>
                <a:latin typeface="Calibri"/>
                <a:ea typeface="Calibri"/>
              </a:rPr>
              <a:t>Neither model alone reproduces it — the random graph misses the hubs and the clustering; the scale-free graph misses the clustering and the communities. Real cinema borrows the hubs of one and far exceeds the clustering of both, because its shape is driven by something no model contains: the genuine working relationships of the film industry.</a:t>
            </a:r>
            <a:endParaRPr lang="en-US" sz="1250" b="0" u="none" strike="noStrike">
              <a:solidFill>
                <a:srgbClr val="000000"/>
              </a:solidFill>
              <a:effectLst/>
              <a:uFillTx/>
              <a:latin typeface="Arial"/>
            </a:endParaRPr>
          </a:p>
        </p:txBody>
      </p:sp>
      <p:sp>
        <p:nvSpPr>
          <p:cNvPr id="328" name="Text 20"/>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18</a:t>
            </a:r>
            <a:endParaRPr lang="en-US" sz="11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9" name="Text 0"/>
          <p:cNvSpPr/>
          <p:nvPr/>
        </p:nvSpPr>
        <p:spPr>
          <a:xfrm>
            <a:off x="640080" y="45720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spc="300">
                <a:solidFill>
                  <a:srgbClr val="E94560"/>
                </a:solidFill>
                <a:effectLst/>
                <a:uFillTx/>
                <a:latin typeface="Calibri"/>
                <a:ea typeface="Calibri"/>
              </a:rPr>
              <a:t>REFLECTION</a:t>
            </a:r>
            <a:endParaRPr lang="en-US" sz="1300" b="0" u="none" strike="noStrike">
              <a:solidFill>
                <a:srgbClr val="000000"/>
              </a:solidFill>
              <a:effectLst/>
              <a:uFillTx/>
              <a:latin typeface="Arial"/>
            </a:endParaRPr>
          </a:p>
        </p:txBody>
      </p:sp>
      <p:sp>
        <p:nvSpPr>
          <p:cNvPr id="330" name="Text 1"/>
          <p:cNvSpPr/>
          <p:nvPr/>
        </p:nvSpPr>
        <p:spPr>
          <a:xfrm>
            <a:off x="640080" y="749880"/>
            <a:ext cx="1088100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rgbClr val="1A1A2E"/>
                </a:solidFill>
                <a:effectLst/>
                <a:uFillTx/>
                <a:latin typeface="Georgia"/>
                <a:ea typeface="Georgia"/>
              </a:rPr>
              <a:t>Expectation vs. result</a:t>
            </a:r>
            <a:endParaRPr lang="en-US" sz="3200" b="0" u="none" strike="noStrike">
              <a:solidFill>
                <a:srgbClr val="000000"/>
              </a:solidFill>
              <a:effectLst/>
              <a:uFillTx/>
              <a:latin typeface="Arial"/>
            </a:endParaRPr>
          </a:p>
        </p:txBody>
      </p:sp>
      <p:graphicFrame>
        <p:nvGraphicFramePr>
          <p:cNvPr id="331" name="Table 0"/>
          <p:cNvGraphicFramePr/>
          <p:nvPr/>
        </p:nvGraphicFramePr>
        <p:xfrm>
          <a:off x="640080" y="1874520"/>
          <a:ext cx="10908360" cy="3966480"/>
        </p:xfrm>
        <a:graphic>
          <a:graphicData uri="http://schemas.openxmlformats.org/drawingml/2006/table">
            <a:tbl>
              <a:tblPr/>
              <a:tblGrid>
                <a:gridCol w="3291840">
                  <a:extLst>
                    <a:ext uri="{9D8B030D-6E8A-4147-A177-3AD203B41FA5}">
                      <a16:colId xmlns:a16="http://schemas.microsoft.com/office/drawing/2014/main" val="20000"/>
                    </a:ext>
                  </a:extLst>
                </a:gridCol>
                <a:gridCol w="3803760">
                  <a:extLst>
                    <a:ext uri="{9D8B030D-6E8A-4147-A177-3AD203B41FA5}">
                      <a16:colId xmlns:a16="http://schemas.microsoft.com/office/drawing/2014/main" val="20001"/>
                    </a:ext>
                  </a:extLst>
                </a:gridCol>
                <a:gridCol w="3812760">
                  <a:extLst>
                    <a:ext uri="{9D8B030D-6E8A-4147-A177-3AD203B41FA5}">
                      <a16:colId xmlns:a16="http://schemas.microsoft.com/office/drawing/2014/main" val="20002"/>
                    </a:ext>
                  </a:extLst>
                </a:gridCol>
              </a:tblGrid>
              <a:tr h="566640">
                <a:tc>
                  <a:txBody>
                    <a:bodyPr/>
                    <a:lstStyle/>
                    <a:p>
                      <a:pPr defTabSz="914400">
                        <a:lnSpc>
                          <a:spcPct val="100000"/>
                        </a:lnSpc>
                        <a:tabLst>
                          <a:tab pos="0" algn="l"/>
                        </a:tabLst>
                      </a:pPr>
                      <a:r>
                        <a:rPr lang="en-US" sz="1250" b="1" u="none" strike="noStrike">
                          <a:solidFill>
                            <a:srgbClr val="FFFFFF"/>
                          </a:solidFill>
                          <a:effectLst/>
                          <a:uFillTx/>
                          <a:latin typeface="Calibri"/>
                          <a:ea typeface="Calibri"/>
                        </a:rPr>
                        <a:t>What we measured</a:t>
                      </a:r>
                      <a:endParaRPr lang="en-US" sz="1250" b="0" u="none" strike="noStrike">
                        <a:solidFill>
                          <a:srgbClr val="FFFFFF"/>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1A1A2E"/>
                    </a:solidFill>
                  </a:tcPr>
                </a:tc>
                <a:tc>
                  <a:txBody>
                    <a:bodyPr/>
                    <a:lstStyle/>
                    <a:p>
                      <a:pPr defTabSz="914400">
                        <a:lnSpc>
                          <a:spcPct val="100000"/>
                        </a:lnSpc>
                        <a:tabLst>
                          <a:tab pos="0" algn="l"/>
                        </a:tabLst>
                      </a:pPr>
                      <a:r>
                        <a:rPr lang="en-US" sz="1250" b="1" u="none" strike="noStrike">
                          <a:solidFill>
                            <a:srgbClr val="FFFFFF"/>
                          </a:solidFill>
                          <a:effectLst/>
                          <a:uFillTx/>
                          <a:latin typeface="Calibri"/>
                          <a:ea typeface="Calibri"/>
                        </a:rPr>
                        <a:t>What we expected</a:t>
                      </a:r>
                      <a:endParaRPr lang="en-US" sz="1250" b="0" u="none" strike="noStrike">
                        <a:solidFill>
                          <a:srgbClr val="FFFFFF"/>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1A1A2E"/>
                    </a:solidFill>
                  </a:tcPr>
                </a:tc>
                <a:tc>
                  <a:txBody>
                    <a:bodyPr/>
                    <a:lstStyle/>
                    <a:p>
                      <a:pPr defTabSz="914400">
                        <a:lnSpc>
                          <a:spcPct val="100000"/>
                        </a:lnSpc>
                        <a:tabLst>
                          <a:tab pos="0" algn="l"/>
                        </a:tabLst>
                      </a:pPr>
                      <a:r>
                        <a:rPr lang="en-US" sz="1250" b="1" u="none" strike="noStrike">
                          <a:solidFill>
                            <a:srgbClr val="FFFFFF"/>
                          </a:solidFill>
                          <a:effectLst/>
                          <a:uFillTx/>
                          <a:latin typeface="Calibri"/>
                          <a:ea typeface="Calibri"/>
                        </a:rPr>
                        <a:t>What we found</a:t>
                      </a:r>
                      <a:endParaRPr lang="en-US" sz="1250" b="0" u="none" strike="noStrike">
                        <a:solidFill>
                          <a:srgbClr val="FFFFFF"/>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1A1A2E"/>
                    </a:solidFill>
                  </a:tcPr>
                </a:tc>
                <a:extLst>
                  <a:ext uri="{0D108BD9-81ED-4DB2-BD59-A6C34878D82A}">
                    <a16:rowId xmlns:a16="http://schemas.microsoft.com/office/drawing/2014/main" val="10000"/>
                  </a:ext>
                </a:extLst>
              </a:tr>
              <a:tr h="566640">
                <a:tc>
                  <a:txBody>
                    <a:bodyPr/>
                    <a:lstStyle/>
                    <a:p>
                      <a:pPr defTabSz="914400">
                        <a:lnSpc>
                          <a:spcPct val="100000"/>
                        </a:lnSpc>
                        <a:tabLst>
                          <a:tab pos="0" algn="l"/>
                        </a:tabLst>
                      </a:pPr>
                      <a:r>
                        <a:rPr lang="en-US" sz="1200" b="1" u="none" strike="noStrike">
                          <a:solidFill>
                            <a:srgbClr val="1A1A2E"/>
                          </a:solidFill>
                          <a:effectLst/>
                          <a:uFillTx/>
                          <a:latin typeface="Calibri"/>
                          <a:ea typeface="Calibri"/>
                        </a:rPr>
                        <a:t>Clustering</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defTabSz="914400">
                        <a:lnSpc>
                          <a:spcPct val="100000"/>
                        </a:lnSpc>
                        <a:tabLst>
                          <a:tab pos="0" algn="l"/>
                        </a:tabLst>
                      </a:pPr>
                      <a:r>
                        <a:rPr lang="en-US" sz="1200" b="0" u="none" strike="noStrike">
                          <a:solidFill>
                            <a:srgbClr val="6B6B7B"/>
                          </a:solidFill>
                          <a:effectLst/>
                          <a:uFillTx/>
                          <a:latin typeface="Calibri"/>
                          <a:ea typeface="Calibri"/>
                        </a:rPr>
                        <a:t>High — films make triangles</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defTabSz="914400">
                        <a:lnSpc>
                          <a:spcPct val="100000"/>
                        </a:lnSpc>
                        <a:tabLst>
                          <a:tab pos="0" algn="l"/>
                        </a:tabLst>
                      </a:pPr>
                      <a:r>
                        <a:rPr lang="en-US" sz="1200" b="0" u="none" strike="noStrike">
                          <a:solidFill>
                            <a:srgbClr val="6B6B7B"/>
                          </a:solidFill>
                          <a:effectLst/>
                          <a:uFillTx/>
                          <a:latin typeface="Calibri"/>
                          <a:ea typeface="Calibri"/>
                        </a:rPr>
                        <a:t>Very high (0.72) ✓</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extLst>
                  <a:ext uri="{0D108BD9-81ED-4DB2-BD59-A6C34878D82A}">
                    <a16:rowId xmlns:a16="http://schemas.microsoft.com/office/drawing/2014/main" val="10001"/>
                  </a:ext>
                </a:extLst>
              </a:tr>
              <a:tr h="566640">
                <a:tc>
                  <a:txBody>
                    <a:bodyPr/>
                    <a:lstStyle/>
                    <a:p>
                      <a:pPr defTabSz="914400">
                        <a:lnSpc>
                          <a:spcPct val="100000"/>
                        </a:lnSpc>
                        <a:tabLst>
                          <a:tab pos="0" algn="l"/>
                        </a:tabLst>
                      </a:pPr>
                      <a:r>
                        <a:rPr lang="en-US" sz="1200" b="1" u="none" strike="noStrike">
                          <a:solidFill>
                            <a:srgbClr val="1A1A2E"/>
                          </a:solidFill>
                          <a:effectLst/>
                          <a:uFillTx/>
                          <a:latin typeface="Calibri"/>
                          <a:ea typeface="Calibri"/>
                        </a:rPr>
                        <a:t>Hubs / max degree</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defTabSz="914400">
                        <a:lnSpc>
                          <a:spcPct val="100000"/>
                        </a:lnSpc>
                        <a:tabLst>
                          <a:tab pos="0" algn="l"/>
                        </a:tabLst>
                      </a:pPr>
                      <a:r>
                        <a:rPr lang="en-US" sz="1200" b="0" u="none" strike="noStrike">
                          <a:solidFill>
                            <a:srgbClr val="6B6B7B"/>
                          </a:solidFill>
                          <a:effectLst/>
                          <a:uFillTx/>
                          <a:latin typeface="Calibri"/>
                          <a:ea typeface="Calibri"/>
                        </a:rPr>
                        <a:t>A few dominant actors</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defTabSz="914400">
                        <a:lnSpc>
                          <a:spcPct val="100000"/>
                        </a:lnSpc>
                        <a:tabLst>
                          <a:tab pos="0" algn="l"/>
                        </a:tabLst>
                      </a:pPr>
                      <a:r>
                        <a:rPr lang="en-US" sz="1200" b="0" u="none" strike="noStrike">
                          <a:solidFill>
                            <a:srgbClr val="6B6B7B"/>
                          </a:solidFill>
                          <a:effectLst/>
                          <a:uFillTx/>
                          <a:latin typeface="Calibri"/>
                          <a:ea typeface="Calibri"/>
                        </a:rPr>
                        <a:t>Confirmed — Hanks at 77 ✓</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extLst>
                  <a:ext uri="{0D108BD9-81ED-4DB2-BD59-A6C34878D82A}">
                    <a16:rowId xmlns:a16="http://schemas.microsoft.com/office/drawing/2014/main" val="10002"/>
                  </a:ext>
                </a:extLst>
              </a:tr>
              <a:tr h="566640">
                <a:tc>
                  <a:txBody>
                    <a:bodyPr/>
                    <a:lstStyle/>
                    <a:p>
                      <a:pPr defTabSz="914400">
                        <a:lnSpc>
                          <a:spcPct val="100000"/>
                        </a:lnSpc>
                        <a:tabLst>
                          <a:tab pos="0" algn="l"/>
                        </a:tabLst>
                      </a:pPr>
                      <a:r>
                        <a:rPr lang="en-US" sz="1200" b="1" u="none" strike="noStrike">
                          <a:solidFill>
                            <a:srgbClr val="1A1A2E"/>
                          </a:solidFill>
                          <a:effectLst/>
                          <a:uFillTx/>
                          <a:latin typeface="Calibri"/>
                          <a:ea typeface="Calibri"/>
                        </a:rPr>
                        <a:t>Path length</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defTabSz="914400">
                        <a:lnSpc>
                          <a:spcPct val="100000"/>
                        </a:lnSpc>
                        <a:tabLst>
                          <a:tab pos="0" algn="l"/>
                        </a:tabLst>
                      </a:pPr>
                      <a:r>
                        <a:rPr lang="en-US" sz="1200" b="0" u="none" strike="noStrike">
                          <a:solidFill>
                            <a:srgbClr val="6B6B7B"/>
                          </a:solidFill>
                          <a:effectLst/>
                          <a:uFillTx/>
                          <a:latin typeface="Calibri"/>
                          <a:ea typeface="Calibri"/>
                        </a:rPr>
                        <a:t>Short — "six degrees"</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defTabSz="914400">
                        <a:lnSpc>
                          <a:spcPct val="100000"/>
                        </a:lnSpc>
                        <a:tabLst>
                          <a:tab pos="0" algn="l"/>
                        </a:tabLst>
                      </a:pPr>
                      <a:r>
                        <a:rPr lang="en-US" sz="1200" b="0" u="none" strike="noStrike">
                          <a:solidFill>
                            <a:srgbClr val="6B6B7B"/>
                          </a:solidFill>
                          <a:effectLst/>
                          <a:uFillTx/>
                          <a:latin typeface="Calibri"/>
                          <a:ea typeface="Calibri"/>
                        </a:rPr>
                        <a:t>Confirmed — 4.6 steps ✓</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extLst>
                  <a:ext uri="{0D108BD9-81ED-4DB2-BD59-A6C34878D82A}">
                    <a16:rowId xmlns:a16="http://schemas.microsoft.com/office/drawing/2014/main" val="10003"/>
                  </a:ext>
                </a:extLst>
              </a:tr>
              <a:tr h="566640">
                <a:tc>
                  <a:txBody>
                    <a:bodyPr/>
                    <a:lstStyle/>
                    <a:p>
                      <a:pPr defTabSz="914400">
                        <a:lnSpc>
                          <a:spcPct val="100000"/>
                        </a:lnSpc>
                        <a:tabLst>
                          <a:tab pos="0" algn="l"/>
                        </a:tabLst>
                      </a:pPr>
                      <a:r>
                        <a:rPr lang="en-US" sz="1200" b="1" u="none" strike="noStrike">
                          <a:solidFill>
                            <a:srgbClr val="1A1A2E"/>
                          </a:solidFill>
                          <a:effectLst/>
                          <a:uFillTx/>
                          <a:latin typeface="Calibri"/>
                          <a:ea typeface="Calibri"/>
                        </a:rPr>
                        <a:t>Communities</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defTabSz="914400">
                        <a:lnSpc>
                          <a:spcPct val="100000"/>
                        </a:lnSpc>
                        <a:tabLst>
                          <a:tab pos="0" algn="l"/>
                        </a:tabLst>
                      </a:pPr>
                      <a:r>
                        <a:rPr lang="en-US" sz="1200" b="0" u="none" strike="noStrike">
                          <a:solidFill>
                            <a:srgbClr val="6B6B7B"/>
                          </a:solidFill>
                          <a:effectLst/>
                          <a:uFillTx/>
                          <a:latin typeface="Calibri"/>
                          <a:ea typeface="Calibri"/>
                        </a:rPr>
                        <a:t>Clean franchise rosters</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defTabSz="914400">
                        <a:lnSpc>
                          <a:spcPct val="100000"/>
                        </a:lnSpc>
                        <a:tabLst>
                          <a:tab pos="0" algn="l"/>
                        </a:tabLst>
                      </a:pPr>
                      <a:r>
                        <a:rPr lang="en-US" sz="1200" b="0" u="none" strike="noStrike">
                          <a:solidFill>
                            <a:srgbClr val="6B6B7B"/>
                          </a:solidFill>
                          <a:effectLst/>
                          <a:uFillTx/>
                          <a:latin typeface="Calibri"/>
                          <a:ea typeface="Calibri"/>
                        </a:rPr>
                        <a:t>Era &amp; genre groups; franchises blur</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extLst>
                  <a:ext uri="{0D108BD9-81ED-4DB2-BD59-A6C34878D82A}">
                    <a16:rowId xmlns:a16="http://schemas.microsoft.com/office/drawing/2014/main" val="10004"/>
                  </a:ext>
                </a:extLst>
              </a:tr>
              <a:tr h="566640">
                <a:tc>
                  <a:txBody>
                    <a:bodyPr/>
                    <a:lstStyle/>
                    <a:p>
                      <a:pPr defTabSz="914400">
                        <a:lnSpc>
                          <a:spcPct val="100000"/>
                        </a:lnSpc>
                        <a:tabLst>
                          <a:tab pos="0" algn="l"/>
                        </a:tabLst>
                      </a:pPr>
                      <a:r>
                        <a:rPr lang="en-US" sz="1200" b="1" u="none" strike="noStrike">
                          <a:solidFill>
                            <a:srgbClr val="1A1A2E"/>
                          </a:solidFill>
                          <a:effectLst/>
                          <a:uFillTx/>
                          <a:latin typeface="Calibri"/>
                          <a:ea typeface="Calibri"/>
                        </a:rPr>
                        <a:t>Degree distribution</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defTabSz="914400">
                        <a:lnSpc>
                          <a:spcPct val="100000"/>
                        </a:lnSpc>
                        <a:tabLst>
                          <a:tab pos="0" algn="l"/>
                        </a:tabLst>
                      </a:pPr>
                      <a:r>
                        <a:rPr lang="en-US" sz="1200" b="0" u="none" strike="noStrike">
                          <a:solidFill>
                            <a:srgbClr val="6B6B7B"/>
                          </a:solidFill>
                          <a:effectLst/>
                          <a:uFillTx/>
                          <a:latin typeface="Calibri"/>
                          <a:ea typeface="Calibri"/>
                        </a:rPr>
                        <a:t>A clean power law</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tc>
                  <a:txBody>
                    <a:bodyPr/>
                    <a:lstStyle/>
                    <a:p>
                      <a:pPr defTabSz="914400">
                        <a:lnSpc>
                          <a:spcPct val="100000"/>
                        </a:lnSpc>
                        <a:tabLst>
                          <a:tab pos="0" algn="l"/>
                        </a:tabLst>
                      </a:pPr>
                      <a:r>
                        <a:rPr lang="en-US" sz="1200" b="0" u="none" strike="noStrike">
                          <a:solidFill>
                            <a:srgbClr val="6B6B7B"/>
                          </a:solidFill>
                          <a:effectLst/>
                          <a:uFillTx/>
                          <a:latin typeface="Calibri"/>
                          <a:ea typeface="Calibri"/>
                        </a:rPr>
                        <a:t>Heavy-tailed; log-normal fits better</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FFFFF"/>
                    </a:solidFill>
                  </a:tcPr>
                </a:tc>
                <a:extLst>
                  <a:ext uri="{0D108BD9-81ED-4DB2-BD59-A6C34878D82A}">
                    <a16:rowId xmlns:a16="http://schemas.microsoft.com/office/drawing/2014/main" val="10005"/>
                  </a:ext>
                </a:extLst>
              </a:tr>
              <a:tr h="566640">
                <a:tc>
                  <a:txBody>
                    <a:bodyPr/>
                    <a:lstStyle/>
                    <a:p>
                      <a:pPr defTabSz="914400">
                        <a:lnSpc>
                          <a:spcPct val="100000"/>
                        </a:lnSpc>
                        <a:tabLst>
                          <a:tab pos="0" algn="l"/>
                        </a:tabLst>
                      </a:pPr>
                      <a:r>
                        <a:rPr lang="en-US" sz="1200" b="1" u="none" strike="noStrike">
                          <a:solidFill>
                            <a:srgbClr val="1A1A2E"/>
                          </a:solidFill>
                          <a:effectLst/>
                          <a:uFillTx/>
                          <a:latin typeface="Calibri"/>
                          <a:ea typeface="Calibri"/>
                        </a:rPr>
                        <a:t>vs. random model</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defTabSz="914400">
                        <a:lnSpc>
                          <a:spcPct val="100000"/>
                        </a:lnSpc>
                        <a:tabLst>
                          <a:tab pos="0" algn="l"/>
                        </a:tabLst>
                      </a:pPr>
                      <a:r>
                        <a:rPr lang="en-US" sz="1200" b="0" u="none" strike="noStrike">
                          <a:solidFill>
                            <a:srgbClr val="6B6B7B"/>
                          </a:solidFill>
                          <a:effectLst/>
                          <a:uFillTx/>
                          <a:latin typeface="Calibri"/>
                          <a:ea typeface="Calibri"/>
                        </a:rPr>
                        <a:t>Very different</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tc>
                  <a:txBody>
                    <a:bodyPr/>
                    <a:lstStyle/>
                    <a:p>
                      <a:pPr defTabSz="914400">
                        <a:lnSpc>
                          <a:spcPct val="100000"/>
                        </a:lnSpc>
                        <a:tabLst>
                          <a:tab pos="0" algn="l"/>
                        </a:tabLst>
                      </a:pPr>
                      <a:r>
                        <a:rPr lang="en-US" sz="1200" b="0" u="none" strike="noStrike">
                          <a:solidFill>
                            <a:srgbClr val="6B6B7B"/>
                          </a:solidFill>
                          <a:effectLst/>
                          <a:uFillTx/>
                          <a:latin typeface="Calibri"/>
                          <a:ea typeface="Calibri"/>
                        </a:rPr>
                        <a:t>Confirmed — no hubs, no clustering ✓</a:t>
                      </a:r>
                      <a:endParaRPr lang="en-US" sz="1200" b="0" u="none" strike="noStrike">
                        <a:solidFill>
                          <a:srgbClr val="000000"/>
                        </a:solidFill>
                        <a:effectLst/>
                        <a:uFillTx/>
                        <a:latin typeface="Arial"/>
                      </a:endParaRPr>
                    </a:p>
                  </a:txBody>
                  <a:tcPr anchor="ctr">
                    <a:lnL w="12240">
                      <a:solidFill>
                        <a:srgbClr val="E2E2E8"/>
                      </a:solidFill>
                      <a:prstDash val="solid"/>
                    </a:lnL>
                    <a:lnR w="12240">
                      <a:solidFill>
                        <a:srgbClr val="E2E2E8"/>
                      </a:solidFill>
                      <a:prstDash val="solid"/>
                    </a:lnR>
                    <a:lnT w="12240">
                      <a:solidFill>
                        <a:srgbClr val="E2E2E8"/>
                      </a:solidFill>
                      <a:prstDash val="solid"/>
                    </a:lnT>
                    <a:lnB w="12240">
                      <a:solidFill>
                        <a:srgbClr val="E2E2E8"/>
                      </a:solidFill>
                      <a:prstDash val="solid"/>
                    </a:lnB>
                    <a:solidFill>
                      <a:srgbClr val="F4F4F7"/>
                    </a:solidFill>
                  </a:tcPr>
                </a:tc>
                <a:extLst>
                  <a:ext uri="{0D108BD9-81ED-4DB2-BD59-A6C34878D82A}">
                    <a16:rowId xmlns:a16="http://schemas.microsoft.com/office/drawing/2014/main" val="10006"/>
                  </a:ext>
                </a:extLst>
              </a:tr>
            </a:tbl>
          </a:graphicData>
        </a:graphic>
      </p:graphicFrame>
      <p:sp>
        <p:nvSpPr>
          <p:cNvPr id="332" name="Text 2"/>
          <p:cNvSpPr/>
          <p:nvPr/>
        </p:nvSpPr>
        <p:spPr>
          <a:xfrm>
            <a:off x="640080" y="5806440"/>
            <a:ext cx="10908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0" i="1" u="none" strike="noStrike">
                <a:solidFill>
                  <a:srgbClr val="6B6B7B"/>
                </a:solidFill>
                <a:effectLst/>
                <a:uFillTx/>
                <a:latin typeface="Calibri"/>
                <a:ea typeface="Calibri"/>
              </a:rPr>
              <a:t>The most useful lesson: real networks are never pure textbook models — the gaps between model and reality are where the insight lives.</a:t>
            </a:r>
            <a:endParaRPr lang="en-US" sz="1250" b="0" u="none" strike="noStrike">
              <a:solidFill>
                <a:srgbClr val="000000"/>
              </a:solidFill>
              <a:effectLst/>
              <a:uFillTx/>
              <a:latin typeface="Arial"/>
            </a:endParaRPr>
          </a:p>
        </p:txBody>
      </p:sp>
      <p:sp>
        <p:nvSpPr>
          <p:cNvPr id="333" name="Text 3"/>
          <p:cNvSpPr/>
          <p:nvPr/>
        </p:nvSpPr>
        <p:spPr>
          <a:xfrm>
            <a:off x="11612880" y="6355080"/>
            <a:ext cx="456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6B6B7B"/>
                </a:solidFill>
                <a:effectLst/>
                <a:uFillTx/>
                <a:latin typeface="Calibri"/>
                <a:ea typeface="Calibri"/>
              </a:rPr>
              <a:t>19</a:t>
            </a:r>
            <a:endParaRPr lang="en-US" sz="11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334" name="Shape 0"/>
          <p:cNvSpPr/>
          <p:nvPr/>
        </p:nvSpPr>
        <p:spPr>
          <a:xfrm flipV="1">
            <a:off x="10049040" y="4105440"/>
            <a:ext cx="822960" cy="27432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35" name="Shape 1"/>
          <p:cNvSpPr/>
          <p:nvPr/>
        </p:nvSpPr>
        <p:spPr>
          <a:xfrm>
            <a:off x="10049040" y="4379760"/>
            <a:ext cx="365760" cy="73152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36" name="Shape 2"/>
          <p:cNvSpPr/>
          <p:nvPr/>
        </p:nvSpPr>
        <p:spPr>
          <a:xfrm>
            <a:off x="10872000" y="4105440"/>
            <a:ext cx="640080" cy="64008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37" name="Shape 3"/>
          <p:cNvSpPr/>
          <p:nvPr/>
        </p:nvSpPr>
        <p:spPr>
          <a:xfrm>
            <a:off x="10414800" y="5111280"/>
            <a:ext cx="822960" cy="36576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38" name="Shape 4"/>
          <p:cNvSpPr/>
          <p:nvPr/>
        </p:nvSpPr>
        <p:spPr>
          <a:xfrm flipH="1">
            <a:off x="11237760" y="4745520"/>
            <a:ext cx="274320" cy="731520"/>
          </a:xfrm>
          <a:prstGeom prst="line">
            <a:avLst/>
          </a:prstGeom>
          <a:ln w="9525">
            <a:solidFill>
              <a:srgbClr val="FFFF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39" name="Shape 5"/>
          <p:cNvSpPr/>
          <p:nvPr/>
        </p:nvSpPr>
        <p:spPr>
          <a:xfrm>
            <a:off x="9966960" y="4297680"/>
            <a:ext cx="273960" cy="273960"/>
          </a:xfrm>
          <a:prstGeom prst="ellipse">
            <a:avLst/>
          </a:prstGeom>
          <a:solidFill>
            <a:srgbClr val="E9456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0" name="Shape 6"/>
          <p:cNvSpPr/>
          <p:nvPr/>
        </p:nvSpPr>
        <p:spPr>
          <a:xfrm>
            <a:off x="10789920" y="4023360"/>
            <a:ext cx="155160" cy="155160"/>
          </a:xfrm>
          <a:prstGeom prst="ellipse">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1" name="Shape 7"/>
          <p:cNvSpPr/>
          <p:nvPr/>
        </p:nvSpPr>
        <p:spPr>
          <a:xfrm>
            <a:off x="11430000" y="4663440"/>
            <a:ext cx="155160" cy="155160"/>
          </a:xfrm>
          <a:prstGeom prst="ellipse">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2" name="Shape 8"/>
          <p:cNvSpPr/>
          <p:nvPr/>
        </p:nvSpPr>
        <p:spPr>
          <a:xfrm>
            <a:off x="10332720" y="5029200"/>
            <a:ext cx="155160" cy="155160"/>
          </a:xfrm>
          <a:prstGeom prst="ellipse">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3" name="Shape 9"/>
          <p:cNvSpPr/>
          <p:nvPr/>
        </p:nvSpPr>
        <p:spPr>
          <a:xfrm>
            <a:off x="11155680" y="5394960"/>
            <a:ext cx="155160" cy="155160"/>
          </a:xfrm>
          <a:prstGeom prst="ellipse">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4" name="Text 10"/>
          <p:cNvSpPr/>
          <p:nvPr/>
        </p:nvSpPr>
        <p:spPr>
          <a:xfrm>
            <a:off x="822960" y="228600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500" b="0" u="none" strike="noStrike" dirty="0">
              <a:solidFill>
                <a:srgbClr val="FFFFFF"/>
              </a:solidFill>
              <a:effectLst/>
              <a:uFillTx/>
              <a:latin typeface="Arial"/>
            </a:endParaRPr>
          </a:p>
        </p:txBody>
      </p:sp>
      <p:sp>
        <p:nvSpPr>
          <p:cNvPr id="345" name="Text 11"/>
          <p:cNvSpPr/>
          <p:nvPr/>
        </p:nvSpPr>
        <p:spPr>
          <a:xfrm>
            <a:off x="777240" y="2697480"/>
            <a:ext cx="82292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US" sz="4800" b="1" spc="400" dirty="0">
                <a:solidFill>
                  <a:srgbClr val="E94560"/>
                </a:solidFill>
                <a:ea typeface="Calibri"/>
              </a:rPr>
              <a:t>THANK YOU</a:t>
            </a:r>
            <a:endParaRPr lang="en-US" sz="4800" dirty="0">
              <a:solidFill>
                <a:srgbClr val="FFFFFF"/>
              </a:solidFill>
              <a:latin typeface="Arial"/>
            </a:endParaRPr>
          </a:p>
        </p:txBody>
      </p:sp>
      <p:sp>
        <p:nvSpPr>
          <p:cNvPr id="346" name="Shape 12"/>
          <p:cNvSpPr/>
          <p:nvPr/>
        </p:nvSpPr>
        <p:spPr>
          <a:xfrm>
            <a:off x="840960" y="3840480"/>
            <a:ext cx="2194560" cy="360"/>
          </a:xfrm>
          <a:prstGeom prst="line">
            <a:avLst/>
          </a:prstGeom>
          <a:ln w="31750">
            <a:solidFill>
              <a:srgbClr val="E94560"/>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Calibri"/>
            </a:endParaRPr>
          </a:p>
        </p:txBody>
      </p:sp>
      <p:sp>
        <p:nvSpPr>
          <p:cNvPr id="347" name="Text 13"/>
          <p:cNvSpPr/>
          <p:nvPr/>
        </p:nvSpPr>
        <p:spPr>
          <a:xfrm>
            <a:off x="822960" y="4023360"/>
            <a:ext cx="8229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u="none" strike="noStrike">
                <a:solidFill>
                  <a:srgbClr val="9A9AAB"/>
                </a:solidFill>
                <a:effectLst/>
                <a:uFillTx/>
                <a:latin typeface="Calibri"/>
                <a:ea typeface="Calibri"/>
              </a:rPr>
              <a:t>Actor Co-Appearance Network  ·  Complex Networks Project</a:t>
            </a:r>
            <a:endParaRPr lang="en-US" sz="1300" b="0" u="none" strike="noStrike">
              <a:solidFill>
                <a:srgbClr val="FFFFFF"/>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183</TotalTime>
  <Words>2542</Words>
  <Application>Microsoft Office PowerPoint</Application>
  <PresentationFormat>Widescreen</PresentationFormat>
  <Paragraphs>327</Paragraphs>
  <Slides>20</Slides>
  <Notes>20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Georgia</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Actor Co-Appearance Network Analysis</dc:title>
  <dc:subject>PptxGenJS Presentation</dc:subject>
  <dc:creator>Complex Networks Team</dc:creator>
  <dc:description/>
  <cp:lastModifiedBy>Mitrut Rosca</cp:lastModifiedBy>
  <cp:revision>19</cp:revision>
  <dcterms:created xsi:type="dcterms:W3CDTF">2026-05-27T15:53:13Z</dcterms:created>
  <dcterms:modified xsi:type="dcterms:W3CDTF">2026-05-28T14:53:55Z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18</vt:i4>
  </property>
  <property fmtid="{D5CDD505-2E9C-101B-9397-08002B2CF9AE}" pid="3" name="PresentationFormat">
    <vt:lpwstr>On-screen Show (16:9)</vt:lpwstr>
  </property>
  <property fmtid="{D5CDD505-2E9C-101B-9397-08002B2CF9AE}" pid="4" name="Slides">
    <vt:i4>18</vt:i4>
  </property>
</Properties>
</file>