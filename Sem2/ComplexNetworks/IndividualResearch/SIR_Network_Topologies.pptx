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7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 snapToGrid="0" snapToObjects="1">
      <p:cViewPr varScale="1">
        <p:scale>
          <a:sx n="126" d="100"/>
          <a:sy n="126" d="100"/>
        </p:scale>
        <p:origin x="90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268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%</c:v>
                </c:pt>
              </c:strCache>
            </c:strRef>
          </c:tx>
          <c:spPr>
            <a:solidFill>
              <a:srgbClr val="4A90C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90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F1E-43A5-9B6B-1B995FAEA10A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1E-43A5-9B6B-1B995FAEA10A}"/>
              </c:ext>
            </c:extLst>
          </c:dPt>
          <c:dPt>
            <c:idx val="2"/>
            <c:invertIfNegative val="0"/>
            <c:bubble3D val="0"/>
            <c:spPr>
              <a:solidFill>
                <a:srgbClr val="5BA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1E-43A5-9B6B-1B995FAEA10A}"/>
              </c:ext>
            </c:extLst>
          </c:dPt>
          <c:dPt>
            <c:idx val="3"/>
            <c:invertIfNegative val="0"/>
            <c:bubble3D val="0"/>
            <c:spPr>
              <a:solidFill>
                <a:srgbClr val="C998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1E-43A5-9B6B-1B995FAEA10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Erdős–Rényi</c:v>
                </c:pt>
                <c:pt idx="1">
                  <c:v>Barabási–Albert</c:v>
                </c:pt>
                <c:pt idx="2">
                  <c:v>Watts–Strogatz</c:v>
                </c:pt>
                <c:pt idx="3">
                  <c:v>Lattice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79.8</c:v>
                </c:pt>
                <c:pt idx="1">
                  <c:v>69</c:v>
                </c:pt>
                <c:pt idx="2">
                  <c:v>59</c:v>
                </c:pt>
                <c:pt idx="3">
                  <c:v>32.6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1E-43A5-9B6B-1B995FAEA1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AEE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rgbClr val="4A90C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E6-43A3-915B-FFC8031FC981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E6-43A3-915B-FFC8031FC981}"/>
              </c:ext>
            </c:extLst>
          </c:dPt>
          <c:dPt>
            <c:idx val="2"/>
            <c:invertIfNegative val="0"/>
            <c:bubble3D val="0"/>
            <c:spPr>
              <a:solidFill>
                <a:srgbClr val="5BA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FE6-43A3-915B-FFC8031FC981}"/>
              </c:ext>
            </c:extLst>
          </c:dPt>
          <c:dPt>
            <c:idx val="3"/>
            <c:invertIfNegative val="0"/>
            <c:bubble3D val="0"/>
            <c:spPr>
              <a:solidFill>
                <a:srgbClr val="C998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FE6-43A3-915B-FFC8031FC98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Erdős–Rényi</c:v>
                </c:pt>
                <c:pt idx="1">
                  <c:v>Barabási–Albert</c:v>
                </c:pt>
                <c:pt idx="2">
                  <c:v>Watts–Strogatz</c:v>
                </c:pt>
                <c:pt idx="3">
                  <c:v>Lattice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9.6</c:v>
                </c:pt>
                <c:pt idx="1">
                  <c:v>11.7</c:v>
                </c:pt>
                <c:pt idx="2">
                  <c:v>21.1</c:v>
                </c:pt>
                <c:pt idx="3">
                  <c:v>43.6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FE6-43A3-915B-FFC8031FC9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1F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AEE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11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------------------------</a:t>
            </a:r>
            <a:r>
              <a:rPr dirty="0"/>
              <a:t>. The framing throughout is mobile app adoption, but the dynamics are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core analogy: an app spreading through recommendations works just like a pathogen spreading through contact. People install instead of getting infected, and they </a:t>
            </a:r>
            <a:r>
              <a:rPr lang="en-US" dirty="0"/>
              <a:t>delete</a:t>
            </a:r>
            <a:r>
              <a:rPr dirty="0"/>
              <a:t> instead of recovering. In both cases, the shape of the outbreak depends on who's connected to whom.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dirty="0"/>
              <a:t>SIR</a:t>
            </a:r>
            <a:r>
              <a:rPr lang="en-US" dirty="0"/>
              <a:t> model</a:t>
            </a:r>
            <a:r>
              <a:rPr dirty="0"/>
              <a:t> has three states. Susceptible</a:t>
            </a:r>
            <a:r>
              <a:rPr lang="en-US" dirty="0"/>
              <a:t>: a person that</a:t>
            </a:r>
            <a:r>
              <a:rPr dirty="0"/>
              <a:t> could install but hasn't. Infected is an active user who recommends to </a:t>
            </a:r>
            <a:r>
              <a:rPr dirty="0" err="1"/>
              <a:t>neighbours</a:t>
            </a:r>
            <a:r>
              <a:rPr dirty="0"/>
              <a:t> at</a:t>
            </a:r>
            <a:r>
              <a:rPr lang="en-US" dirty="0"/>
              <a:t> a</a:t>
            </a:r>
            <a:r>
              <a:rPr dirty="0"/>
              <a:t> rate beta. Recovered</a:t>
            </a:r>
            <a:r>
              <a:rPr lang="en-US" dirty="0"/>
              <a:t>:</a:t>
            </a:r>
            <a:r>
              <a:rPr dirty="0"/>
              <a:t> has </a:t>
            </a:r>
            <a:r>
              <a:rPr lang="en-US" dirty="0"/>
              <a:t>deleted the app</a:t>
            </a:r>
            <a:r>
              <a:rPr dirty="0"/>
              <a:t> at rate gamma and won't come back. Everyone is in exactly one box, and they only move </a:t>
            </a:r>
            <a:r>
              <a:rPr lang="en-US" dirty="0"/>
              <a:t>from</a:t>
            </a:r>
            <a:r>
              <a:rPr lang="en-US" baseline="0" dirty="0"/>
              <a:t> left to right: </a:t>
            </a:r>
            <a:r>
              <a:rPr dirty="0"/>
              <a:t>S to I to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 tested four network types</a:t>
            </a:r>
            <a:r>
              <a:rPr lang="en-US" dirty="0"/>
              <a:t>: </a:t>
            </a:r>
            <a:r>
              <a:rPr dirty="0"/>
              <a:t>Random (Erdős–Rényi). Scale-free (</a:t>
            </a:r>
            <a:r>
              <a:rPr dirty="0" err="1"/>
              <a:t>Barabási</a:t>
            </a:r>
            <a:r>
              <a:rPr dirty="0"/>
              <a:t>–Albert). Small-world (Watts–</a:t>
            </a:r>
            <a:r>
              <a:rPr dirty="0" err="1"/>
              <a:t>Strogatz</a:t>
            </a:r>
            <a:r>
              <a:rPr dirty="0"/>
              <a:t>)</a:t>
            </a:r>
            <a:r>
              <a:rPr lang="en-US" baseline="0" dirty="0"/>
              <a:t> </a:t>
            </a:r>
            <a:r>
              <a:rPr lang="en-US" dirty="0"/>
              <a:t> and</a:t>
            </a:r>
            <a:r>
              <a:rPr lang="en-US" baseline="0" dirty="0"/>
              <a:t> a square lattice </a:t>
            </a:r>
            <a:r>
              <a:rPr dirty="0"/>
              <a:t>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These graphs </a:t>
            </a:r>
            <a:r>
              <a:rPr lang="en-US" dirty="0"/>
              <a:t>have</a:t>
            </a:r>
            <a:r>
              <a:rPr lang="en-US" baseline="0" dirty="0"/>
              <a:t> significant</a:t>
            </a:r>
            <a:r>
              <a:rPr dirty="0"/>
              <a:t> structural</a:t>
            </a:r>
            <a:r>
              <a:rPr lang="en-US" baseline="0" dirty="0"/>
              <a:t> differences</a:t>
            </a:r>
            <a:r>
              <a:rPr dirty="0"/>
              <a:t> before</a:t>
            </a:r>
            <a:r>
              <a:rPr lang="en-US" dirty="0"/>
              <a:t> even doing</a:t>
            </a:r>
            <a:r>
              <a:rPr dirty="0"/>
              <a:t> any simulation runs.</a:t>
            </a:r>
            <a:r>
              <a:rPr lang="en-US" dirty="0"/>
              <a:t> For example:</a:t>
            </a:r>
            <a:r>
              <a:rPr dirty="0"/>
              <a:t> </a:t>
            </a:r>
            <a:r>
              <a:rPr lang="en-US" dirty="0"/>
              <a:t>for the </a:t>
            </a:r>
            <a:r>
              <a:rPr lang="en-US" dirty="0" err="1"/>
              <a:t>Barabasi</a:t>
            </a:r>
            <a:r>
              <a:rPr lang="en-US" dirty="0"/>
              <a:t> network, </a:t>
            </a:r>
            <a:r>
              <a:rPr dirty="0"/>
              <a:t>one node touches 21% of the network</a:t>
            </a:r>
            <a:r>
              <a:rPr lang="en-US" dirty="0"/>
              <a:t> while the others max out at around 9%</a:t>
            </a:r>
            <a:r>
              <a:rPr dirty="0"/>
              <a:t>. Watts–</a:t>
            </a:r>
            <a:r>
              <a:rPr dirty="0" err="1"/>
              <a:t>Strogatz</a:t>
            </a:r>
            <a:r>
              <a:rPr dirty="0"/>
              <a:t> has high clustering</a:t>
            </a:r>
            <a:r>
              <a:rPr lang="en-US" dirty="0"/>
              <a:t>, even</a:t>
            </a:r>
            <a:r>
              <a:rPr lang="en-US" baseline="0" dirty="0"/>
              <a:t> </a:t>
            </a:r>
            <a:r>
              <a:rPr lang="en-US" dirty="0"/>
              <a:t>four times bigger </a:t>
            </a:r>
            <a:r>
              <a:rPr lang="en-US" baseline="0" dirty="0"/>
              <a:t>than any other</a:t>
            </a:r>
            <a:r>
              <a:rPr dirty="0"/>
              <a:t>. </a:t>
            </a:r>
            <a:r>
              <a:rPr lang="en-US" baseline="0" dirty="0"/>
              <a:t> And the </a:t>
            </a:r>
            <a:r>
              <a:rPr dirty="0"/>
              <a:t>lattice has long average path length</a:t>
            </a:r>
            <a:r>
              <a:rPr lang="en-US" dirty="0"/>
              <a:t> and diameter,</a:t>
            </a:r>
            <a:r>
              <a:rPr lang="en-US" baseline="0" dirty="0"/>
              <a:t> two and even three times bigger than the others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0ED2-491B-9918-388C-FA7825767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D790A-17E8-6721-1807-F4AC917CD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14225-0C28-7F7E-A6DF-D868BFB5D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Here’s </a:t>
            </a:r>
            <a:r>
              <a:rPr lang="en-US" dirty="0"/>
              <a:t>a visualization</a:t>
            </a:r>
            <a:r>
              <a:rPr lang="en-US" baseline="0" dirty="0"/>
              <a:t> of</a:t>
            </a:r>
            <a:r>
              <a:rPr dirty="0"/>
              <a:t> each topology as a graph before seed</a:t>
            </a:r>
            <a:r>
              <a:rPr lang="en-US" dirty="0"/>
              <a:t>ing</a:t>
            </a:r>
            <a:r>
              <a:rPr dirty="0"/>
              <a:t> any infections.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A0C35-B6EB-FB91-DE3B-59F3EDA914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0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en-US" baseline="0" dirty="0"/>
              <a:t> the</a:t>
            </a:r>
            <a:r>
              <a:rPr dirty="0"/>
              <a:t> mechanics</a:t>
            </a:r>
            <a:r>
              <a:rPr lang="en-US" baseline="0" dirty="0"/>
              <a:t>, I </a:t>
            </a:r>
            <a:r>
              <a:rPr dirty="0"/>
              <a:t>Seed</a:t>
            </a:r>
            <a:r>
              <a:rPr lang="en-US" dirty="0"/>
              <a:t>ed</a:t>
            </a:r>
            <a:r>
              <a:rPr dirty="0"/>
              <a:t> 2% of nodes as active, then each step every active node tries to infect each susceptible </a:t>
            </a:r>
            <a:r>
              <a:rPr dirty="0" err="1"/>
              <a:t>neighbour</a:t>
            </a:r>
            <a:r>
              <a:rPr dirty="0"/>
              <a:t> with probability beta and recovers with probability gamma. Run until no active nodes remain, and repeat 30 times to average out randomness. Parameters are fixed across all topologie</a:t>
            </a:r>
            <a:r>
              <a:rPr lang="en-US" dirty="0"/>
              <a:t>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</a:t>
            </a:r>
            <a:r>
              <a:rPr lang="en-US" baseline="0" dirty="0"/>
              <a:t> though we have the s</a:t>
            </a:r>
            <a:r>
              <a:rPr dirty="0"/>
              <a:t>ame dynamics,</a:t>
            </a:r>
            <a:r>
              <a:rPr lang="en-US" dirty="0"/>
              <a:t> we also have</a:t>
            </a:r>
            <a:r>
              <a:rPr dirty="0"/>
              <a:t> very different curves. </a:t>
            </a:r>
            <a:r>
              <a:rPr lang="en-US" dirty="0"/>
              <a:t>The</a:t>
            </a:r>
            <a:r>
              <a:rPr lang="en-US" baseline="0" dirty="0"/>
              <a:t> r</a:t>
            </a:r>
            <a:r>
              <a:rPr dirty="0"/>
              <a:t>andom </a:t>
            </a:r>
            <a:r>
              <a:rPr lang="en-US" dirty="0"/>
              <a:t>network </a:t>
            </a:r>
            <a:r>
              <a:rPr dirty="0"/>
              <a:t>peaks earliest and highest. Scale-free follows closely because hubs ignite the spread. Small-world is slower since clustering traps transmissions locally</a:t>
            </a:r>
            <a:r>
              <a:rPr lang="en-US" baseline="0" dirty="0"/>
              <a:t>, and t</a:t>
            </a:r>
            <a:r>
              <a:rPr dirty="0"/>
              <a:t>he lattice just crawls along as a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5E2D-64AE-82A4-A062-D2F43EB4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D5DE5-AFC3-5F48-616C-B6C36FD41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47774-C61B-4411-72C8-5DED17E6E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snapshot of each network at peak infection</a:t>
            </a:r>
            <a:r>
              <a:rPr lang="en-US" dirty="0"/>
              <a:t>,</a:t>
            </a:r>
            <a:r>
              <a:rPr lang="en-US" baseline="0" dirty="0"/>
              <a:t> where y</a:t>
            </a:r>
            <a:r>
              <a:rPr dirty="0"/>
              <a:t>ou can see how </a:t>
            </a:r>
            <a:r>
              <a:rPr lang="en-US" dirty="0"/>
              <a:t>“bad”</a:t>
            </a:r>
            <a:r>
              <a:rPr dirty="0"/>
              <a:t> the infection </a:t>
            </a:r>
            <a:r>
              <a:rPr lang="en-US" dirty="0"/>
              <a:t>got </a:t>
            </a:r>
            <a:r>
              <a:rPr dirty="0"/>
              <a:t>in each structure at its busiest moment.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B7DD2-59FC-701C-54BB-1785456E6D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34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Quantifying the difference</a:t>
            </a:r>
            <a:r>
              <a:rPr lang="en-US" baseline="0" dirty="0"/>
              <a:t> we can see</a:t>
            </a:r>
            <a:r>
              <a:rPr dirty="0"/>
              <a:t> more than 2x variation in peak reach and 4</a:t>
            </a:r>
            <a:r>
              <a:rPr lang="en-US" dirty="0"/>
              <a:t>x</a:t>
            </a:r>
            <a:r>
              <a:rPr dirty="0"/>
              <a:t> in time to peak</a:t>
            </a:r>
            <a:r>
              <a:rPr lang="en-US" dirty="0"/>
              <a:t>,</a:t>
            </a:r>
            <a:r>
              <a:rPr dirty="0"/>
              <a:t> all driven purely by structure, since the disease parameters were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intuition for each. Random burns fast because every node has many targets. Scale-free hubs act as super-spreaders. Small-world wastes infections on already-infected friends but shortcuts eventually carry it across. The lattice advances one cell per step and may never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Takeaways: network structure is the dominant variable, hubs are leverage points for seeding growth, and clustering slows but doesn't stop spread. </a:t>
            </a:r>
            <a:r>
              <a:rPr lang="en-US" dirty="0"/>
              <a:t>For the limitations </a:t>
            </a:r>
            <a:r>
              <a:rPr dirty="0" err="1"/>
              <a:t>Limitations</a:t>
            </a:r>
            <a:r>
              <a:rPr dirty="0"/>
              <a:t> : parameters are </a:t>
            </a:r>
            <a:r>
              <a:rPr lang="en-US" dirty="0"/>
              <a:t>fixed while real users vary in influence,</a:t>
            </a:r>
            <a:r>
              <a:rPr lang="en-US" baseline="0" dirty="0"/>
              <a:t> </a:t>
            </a:r>
            <a:r>
              <a:rPr dirty="0"/>
              <a:t>graphs are static</a:t>
            </a:r>
            <a:r>
              <a:rPr lang="en-US" dirty="0"/>
              <a:t> while real networks</a:t>
            </a:r>
            <a:r>
              <a:rPr lang="en-US" baseline="0" dirty="0"/>
              <a:t> rewire constantly</a:t>
            </a:r>
            <a:r>
              <a:rPr dirty="0"/>
              <a:t>, there's no reinstall or external advertising</a:t>
            </a:r>
            <a:r>
              <a:rPr lang="en-US" baseline="0" dirty="0"/>
              <a:t> begin accounted</a:t>
            </a:r>
            <a:r>
              <a:rPr dirty="0"/>
              <a:t>, and N=200 is</a:t>
            </a:r>
            <a:r>
              <a:rPr lang="en-US" dirty="0"/>
              <a:t> pretty</a:t>
            </a:r>
            <a:r>
              <a:rPr dirty="0"/>
              <a:t>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C7C1-108B-3D10-9F99-67A6B5CE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1CEDF-8E31-B521-B0C3-CAEE9D1B1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985D-A1A3-BA01-B3B4-D872BDB7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4D7AF-C8B0-E910-9BBD-EDAFD03ED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94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754880" cy="475488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-548640"/>
            <a:ext cx="3291840" cy="3291840"/>
          </a:xfrm>
          <a:prstGeom prst="ellipse">
            <a:avLst/>
          </a:prstGeom>
          <a:solidFill>
            <a:srgbClr val="E76F5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182880"/>
            <a:ext cx="1828800" cy="18288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0" y="365760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0" y="411480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0" y="338328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80960" y="384048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0" y="438912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0" y="365760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0" y="429768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448056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NETWORKS  •  2025–2026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SIR Spread Simulation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Network Topologies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6576" cy="5029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Roşca Eduard-Mitruţ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4407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Babeș-Bolyai University, Cluj-Napoca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spread similarly to diseases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move person-to-person through a social graph.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73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84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 spreads through contact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infect, then recover or die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shape depends on contact network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691640"/>
            <a:ext cx="3931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3931920" cy="73152"/>
          </a:xfrm>
          <a:prstGeom prst="rect">
            <a:avLst/>
          </a:prstGeom>
          <a:solidFill>
            <a:srgbClr val="4A90C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659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984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92040" y="269748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spreads via recommendation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install, then uninstall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shape depends on social graph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SIR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states, two transitions. Every user sits in exactly one compartment.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03070"/>
            <a:ext cx="237744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1931671"/>
            <a:ext cx="822960" cy="822960"/>
          </a:xfrm>
          <a:prstGeom prst="ellipse">
            <a:avLst/>
          </a:prstGeom>
          <a:solidFill>
            <a:srgbClr val="4A90C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087119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46071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Susceptible (S)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16611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install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486151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not yet adopted the app, but could be reached by a recommendation.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703070"/>
            <a:ext cx="2377440" cy="262889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60520" y="1931671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2087119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846071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Infected (I)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474720" y="316611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66160" y="3486151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using the app and recommending it to neighbours at rate β.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703070"/>
            <a:ext cx="2377440" cy="262889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95160" y="1931671"/>
            <a:ext cx="822960" cy="822960"/>
          </a:xfrm>
          <a:prstGeom prst="ellipse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2087119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846071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Recovered (R)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309360" y="316611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0" y="3486151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the app at rate γ. Does not reinstall.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880360" y="17487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715000" y="174879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5C1703BA-6433-B7FD-2ACF-E69D2A82DEC8}"/>
              </a:ext>
            </a:extLst>
          </p:cNvPr>
          <p:cNvSpPr/>
          <p:nvPr/>
        </p:nvSpPr>
        <p:spPr>
          <a:xfrm>
            <a:off x="2971800" y="2885260"/>
            <a:ext cx="365760" cy="0"/>
          </a:xfrm>
          <a:prstGeom prst="line">
            <a:avLst/>
          </a:prstGeom>
          <a:noFill/>
          <a:ln w="25400">
            <a:solidFill>
              <a:srgbClr val="1B3B6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9C1D6AD6-A7B7-5DA0-DAE5-71AABCD3E511}"/>
              </a:ext>
            </a:extLst>
          </p:cNvPr>
          <p:cNvSpPr/>
          <p:nvPr/>
        </p:nvSpPr>
        <p:spPr>
          <a:xfrm>
            <a:off x="2880360" y="23823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3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</a:t>
            </a:r>
            <a:endParaRPr lang="en-US" sz="1600" dirty="0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603B62F4-523C-F542-4183-0CEF61EE6CC9}"/>
              </a:ext>
            </a:extLst>
          </p:cNvPr>
          <p:cNvSpPr/>
          <p:nvPr/>
        </p:nvSpPr>
        <p:spPr>
          <a:xfrm>
            <a:off x="5806440" y="2885260"/>
            <a:ext cx="365760" cy="0"/>
          </a:xfrm>
          <a:prstGeom prst="line">
            <a:avLst/>
          </a:prstGeom>
          <a:noFill/>
          <a:ln w="25400">
            <a:solidFill>
              <a:srgbClr val="1B3B6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D28E17E4-73AD-88C6-557C-EDCC1E1BB8C8}"/>
              </a:ext>
            </a:extLst>
          </p:cNvPr>
          <p:cNvSpPr/>
          <p:nvPr/>
        </p:nvSpPr>
        <p:spPr>
          <a:xfrm>
            <a:off x="5715000" y="23823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3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γ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canonical network topologies tested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captures one structural extreme of real social networks.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3152" cy="1417320"/>
          </a:xfrm>
          <a:prstGeom prst="rect">
            <a:avLst/>
          </a:prstGeom>
          <a:solidFill>
            <a:srgbClr val="4A90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Erdős–Rényi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of nodes connected independently with probability p. Homogeneous degree, short paths, low clustering.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73152" cy="14173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SCALE-FREE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Barabási–Albert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Preferential attachment produces a few hub nodes with very high degree. Power-law degree distribution.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73152" cy="1417320"/>
          </a:xfrm>
          <a:prstGeom prst="rect">
            <a:avLst/>
          </a:prstGeom>
          <a:solidFill>
            <a:srgbClr val="5BA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SMALL-WORLD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Watts–Strogatz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lattice with a few rewired shortcuts. High local clustering plus short global paths.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  <a:effectLst>
            <a:outerShdw blurRad="1524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73152" cy="1417320"/>
          </a:xfrm>
          <a:prstGeom prst="rect">
            <a:avLst/>
          </a:prstGeom>
          <a:solidFill>
            <a:srgbClr val="C998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GRID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Lattice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3840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interior node has exactly four neighbours. No shortcuts; spreading proceeds as a spatial wave.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properties differ sharply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generated graphs used in our simulations (N ≈ 200).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1920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⟨k⟩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path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Erdős–Rényi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Barabási–Albert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Watts–Strogatz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A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Lattice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98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98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3"/>
          <p:cNvSpPr/>
          <p:nvPr/>
        </p:nvSpPr>
        <p:spPr>
          <a:xfrm>
            <a:off x="548640" y="3794760"/>
            <a:ext cx="2606040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13232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BA's k_max = 41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4507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connects to 21% of the network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3260" y="379476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23260" y="3794760"/>
            <a:ext cx="2606040" cy="54864"/>
          </a:xfrm>
          <a:prstGeom prst="rect">
            <a:avLst/>
          </a:prstGeom>
          <a:solidFill>
            <a:srgbClr val="5BA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87852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87852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WS C = 0.44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87852" y="4507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local communities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379476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897880" y="3794760"/>
            <a:ext cx="2606040" cy="54864"/>
          </a:xfrm>
          <a:prstGeom prst="rect">
            <a:avLst/>
          </a:prstGeom>
          <a:solidFill>
            <a:srgbClr val="C998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62472" y="39319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62472" y="4142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Lattice L = 9.3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62472" y="4507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shortcuts -&gt; long paths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1F753-B480-2051-8FF1-834EF05C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7BC1DF-15F9-B478-DCDB-1156C6329950}"/>
              </a:ext>
            </a:extLst>
          </p:cNvPr>
          <p:cNvSpPr/>
          <p:nvPr/>
        </p:nvSpPr>
        <p:spPr>
          <a:xfrm>
            <a:off x="548640" y="3987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of the topologies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5028D2-91A9-0464-2DCE-EB2419408BB5}"/>
              </a:ext>
            </a:extLst>
          </p:cNvPr>
          <p:cNvSpPr/>
          <p:nvPr/>
        </p:nvSpPr>
        <p:spPr>
          <a:xfrm>
            <a:off x="54102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each topology before seeding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5E422-88A8-E543-505E-592C1FBCE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398" y="1788161"/>
            <a:ext cx="9353855" cy="28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6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simulation runs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discrete-time SIR on each topology — same dynamics, different graphs.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2% of nodes randomly marked Active. All others Susceptible.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8046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76148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Propagate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017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Active node infects every Susceptible neighbour with probability β and recovers with probability γ.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76732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until no Active nodes remain. Repeat 30 times per topology to average over randomness.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parameters: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0.12   •   γ = 0.05   •   N ≈ 200   •   30 runs per topology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shapes the epidemic curve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I(t)/N over time, averaged over 30 runs per topology.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29400" y="1463040"/>
            <a:ext cx="2011680" cy="329184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629400" y="1463040"/>
            <a:ext cx="2011680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1228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1920240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peaks earliest and highest.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closely follows — hubs ignite spread.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is slower — clustering traps spread locally.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crawls as a spatial wave.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75E4FC-F965-79C9-0F2A-B4805B64E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521254"/>
            <a:ext cx="6446520" cy="31754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A4E7E8-29C9-F7A1-AFD8-D76644D7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D8AAB1-F387-C7B9-2AC9-0D0A8CCB8155}"/>
              </a:ext>
            </a:extLst>
          </p:cNvPr>
          <p:cNvSpPr/>
          <p:nvPr/>
        </p:nvSpPr>
        <p:spPr>
          <a:xfrm>
            <a:off x="548640" y="3987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infection snapshot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26F99C-8FB5-933B-3E2D-4747AAB4D30F}"/>
              </a:ext>
            </a:extLst>
          </p:cNvPr>
          <p:cNvSpPr/>
          <p:nvPr/>
        </p:nvSpPr>
        <p:spPr>
          <a:xfrm>
            <a:off x="541020" y="967869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each topology at the peak of infection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459EB6-ED42-2591-4937-691865EBB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458" y="1714500"/>
            <a:ext cx="9362915" cy="289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big? How fast?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active prevalence and time to peak across the four topologies.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active prevalence (%)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peak (simulation steps)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178308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2× difference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peak reach, and </a:t>
            </a: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 difference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time to peak — driven by network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each topology behaves the way it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49908"/>
            <a:ext cx="80467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49908"/>
            <a:ext cx="73152" cy="685800"/>
          </a:xfrm>
          <a:prstGeom prst="rect">
            <a:avLst/>
          </a:prstGeom>
          <a:solidFill>
            <a:srgbClr val="4A90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751076"/>
            <a:ext cx="274320" cy="274320"/>
          </a:xfrm>
          <a:prstGeom prst="ellipse">
            <a:avLst/>
          </a:prstGeom>
          <a:solidFill>
            <a:srgbClr val="4A90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6413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Erdős–Rényi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59562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mean degree + uniformity -&gt; every node has many simultaneous targets. Burns through the network fast.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99716"/>
            <a:ext cx="80467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299716"/>
            <a:ext cx="73152" cy="68580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500884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3000" y="239115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Barabási–Albert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345436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act as super-spreaders. A single high-degree node seeds dozens at once, compressing the timeline.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49524"/>
            <a:ext cx="80467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049524"/>
            <a:ext cx="73152" cy="685800"/>
          </a:xfrm>
          <a:prstGeom prst="rect">
            <a:avLst/>
          </a:prstGeom>
          <a:solidFill>
            <a:srgbClr val="5BA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250692"/>
            <a:ext cx="274320" cy="274320"/>
          </a:xfrm>
          <a:prstGeom prst="ellipse">
            <a:avLst/>
          </a:prstGeom>
          <a:solidFill>
            <a:srgbClr val="5BA8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3000" y="31409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Watts–Strogatz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09524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clusters waste transmissions on already-infected friends. Long-range shortcuts eventually carry it everywhere.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9332"/>
            <a:ext cx="80467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799332"/>
            <a:ext cx="73152" cy="685800"/>
          </a:xfrm>
          <a:prstGeom prst="rect">
            <a:avLst/>
          </a:prstGeom>
          <a:solidFill>
            <a:srgbClr val="C998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000500"/>
            <a:ext cx="274320" cy="274320"/>
          </a:xfrm>
          <a:prstGeom prst="ellipse">
            <a:avLst/>
          </a:prstGeom>
          <a:solidFill>
            <a:srgbClr val="C998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38907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Lattice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84505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shortcuts at all. Spread advances roughly one cell per step, kind of like a slow spatial wave that may not finish.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says, and what it cannot.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3108960"/>
          </a:xfrm>
          <a:prstGeom prst="rect">
            <a:avLst/>
          </a:prstGeom>
          <a:solidFill>
            <a:srgbClr val="122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931920" cy="73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922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structure is the dominant variable in adoption dynamics.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in scale-free graphs are leverage points for seeding growth.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clustering slows but does not stop adoption.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connected populations need multiple seeds to ensure reach.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31920" cy="3108960"/>
          </a:xfrm>
          <a:prstGeom prst="rect">
            <a:avLst/>
          </a:prstGeom>
          <a:solidFill>
            <a:srgbClr val="1228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93192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828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7922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22860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and γ are homogeneous — real users vary in influence.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are static; real social networks rewire constantly.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reinstall (SIRS) and no external drivers (ads, media).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 is small; lattice results are especially variable.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A41DA-2705-740B-462C-EA360C2D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7437CA-E02E-BFA4-6A86-0996598C2205}"/>
              </a:ext>
            </a:extLst>
          </p:cNvPr>
          <p:cNvSpPr/>
          <p:nvPr/>
        </p:nvSpPr>
        <p:spPr>
          <a:xfrm>
            <a:off x="6217920" y="-1280160"/>
            <a:ext cx="4754880" cy="4754880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F6DF05-E4F2-4EA9-E578-E892C9C51DEE}"/>
              </a:ext>
            </a:extLst>
          </p:cNvPr>
          <p:cNvSpPr/>
          <p:nvPr/>
        </p:nvSpPr>
        <p:spPr>
          <a:xfrm>
            <a:off x="6949440" y="-548640"/>
            <a:ext cx="3291840" cy="3291840"/>
          </a:xfrm>
          <a:prstGeom prst="ellipse">
            <a:avLst/>
          </a:prstGeom>
          <a:solidFill>
            <a:srgbClr val="E76F5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7C15ED-AF79-6E7D-272B-D1AB79DAB655}"/>
              </a:ext>
            </a:extLst>
          </p:cNvPr>
          <p:cNvSpPr/>
          <p:nvPr/>
        </p:nvSpPr>
        <p:spPr>
          <a:xfrm>
            <a:off x="7680960" y="182880"/>
            <a:ext cx="1828800" cy="18288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B52B18-E784-6C5E-8393-86D133190073}"/>
              </a:ext>
            </a:extLst>
          </p:cNvPr>
          <p:cNvSpPr/>
          <p:nvPr/>
        </p:nvSpPr>
        <p:spPr>
          <a:xfrm>
            <a:off x="6583680" y="365760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E56117-052C-A65C-B768-FCDC40BD4D17}"/>
              </a:ext>
            </a:extLst>
          </p:cNvPr>
          <p:cNvSpPr/>
          <p:nvPr/>
        </p:nvSpPr>
        <p:spPr>
          <a:xfrm>
            <a:off x="6949440" y="411480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4F5CBB9-6407-938F-EB6E-2DA4174A2DC3}"/>
              </a:ext>
            </a:extLst>
          </p:cNvPr>
          <p:cNvSpPr/>
          <p:nvPr/>
        </p:nvSpPr>
        <p:spPr>
          <a:xfrm>
            <a:off x="7315200" y="338328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FBE976-59B1-376F-3E56-72D8D2108C66}"/>
              </a:ext>
            </a:extLst>
          </p:cNvPr>
          <p:cNvSpPr/>
          <p:nvPr/>
        </p:nvSpPr>
        <p:spPr>
          <a:xfrm>
            <a:off x="7680960" y="384048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CCAE70-0804-8AFA-B05D-D9927044C6C0}"/>
              </a:ext>
            </a:extLst>
          </p:cNvPr>
          <p:cNvSpPr/>
          <p:nvPr/>
        </p:nvSpPr>
        <p:spPr>
          <a:xfrm>
            <a:off x="8046720" y="438912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7FCB35A-9386-CCAB-6E42-DA4D03AA793F}"/>
              </a:ext>
            </a:extLst>
          </p:cNvPr>
          <p:cNvSpPr/>
          <p:nvPr/>
        </p:nvSpPr>
        <p:spPr>
          <a:xfrm>
            <a:off x="8412480" y="365760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6B4DACC-904D-D283-3DBC-A014D6CABDE9}"/>
              </a:ext>
            </a:extLst>
          </p:cNvPr>
          <p:cNvSpPr/>
          <p:nvPr/>
        </p:nvSpPr>
        <p:spPr>
          <a:xfrm>
            <a:off x="8686800" y="429768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3FC8420-BAD6-F980-DDE9-2655E28EC3FE}"/>
              </a:ext>
            </a:extLst>
          </p:cNvPr>
          <p:cNvSpPr/>
          <p:nvPr/>
        </p:nvSpPr>
        <p:spPr>
          <a:xfrm>
            <a:off x="7498080" y="4480560"/>
            <a:ext cx="109728" cy="109728"/>
          </a:xfrm>
          <a:prstGeom prst="ellipse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FF38A85-96C5-AA96-1F5E-C3AC1A620D52}"/>
              </a:ext>
            </a:extLst>
          </p:cNvPr>
          <p:cNvSpPr/>
          <p:nvPr/>
        </p:nvSpPr>
        <p:spPr>
          <a:xfrm>
            <a:off x="916069" y="2012330"/>
            <a:ext cx="4183213" cy="1118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000" b="1" dirty="0">
                <a:solidFill>
                  <a:srgbClr val="FFFFFF"/>
                </a:solidFill>
                <a:latin typeface="Georgia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56482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1308</Words>
  <Application>Microsoft Office PowerPoint</Application>
  <PresentationFormat>On-screen Show (16:9)</PresentationFormat>
  <Paragraphs>161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 Spread Simulation Across Network Topologies</dc:title>
  <dc:subject>PptxGenJS Presentation</dc:subject>
  <dc:creator>Roşca Eduard-Mitruţ</dc:creator>
  <cp:lastModifiedBy>Mitrut Rosca</cp:lastModifiedBy>
  <cp:revision>11</cp:revision>
  <dcterms:created xsi:type="dcterms:W3CDTF">2026-05-13T20:35:36Z</dcterms:created>
  <dcterms:modified xsi:type="dcterms:W3CDTF">2026-05-29T09:16:06Z</dcterms:modified>
</cp:coreProperties>
</file>