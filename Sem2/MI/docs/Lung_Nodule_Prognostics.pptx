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88825" cy="6858000"/>
  <p:notesSz cx="6858000" cy="12188825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d9488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1300" b="1" u="none" strike="noStrike">
                    <a:solidFill>
                      <a:srgbClr val="0f2a3f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Solid</c:v>
                </c:pt>
                <c:pt idx="1">
                  <c:v>Ground-glass</c:v>
                </c:pt>
                <c:pt idx="2">
                  <c:v>Part-solid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97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</c:ser>
        <c:gapWidth val="60"/>
        <c:overlap val="0"/>
        <c:axId val="76658352"/>
        <c:axId val="90299675"/>
      </c:barChart>
      <c:catAx>
        <c:axId val="766583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475569"/>
                </a:solidFill>
                <a:uFillTx/>
                <a:latin typeface="Arial"/>
              </a:defRPr>
            </a:pPr>
          </a:p>
        </c:txPr>
        <c:crossAx val="90299675"/>
        <c:crosses val="autoZero"/>
        <c:auto val="1"/>
        <c:lblAlgn val="ctr"/>
        <c:lblOffset val="100"/>
        <c:noMultiLvlLbl val="0"/>
      </c:catAx>
      <c:valAx>
        <c:axId val="90299675"/>
        <c:scaling>
          <c:orientation val="minMax"/>
          <c:max val="11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76658352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0d9488"/>
            </a:solidFill>
            <a:ln w="0">
              <a:noFill/>
            </a:ln>
          </c:spPr>
          <c:invertIfNegative val="0"/>
          <c:dLbls>
            <c:numFmt formatCode="0.00" sourceLinked="0"/>
            <c:txPr>
              <a:bodyPr wrap="square"/>
              <a:lstStyle/>
              <a:p>
                <a:pPr>
                  <a:defRPr sz="1050" b="1" u="none" strike="noStrike">
                    <a:solidFill>
                      <a:srgbClr val="0f2a3f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STL</c:v>
                </c:pt>
                <c:pt idx="1">
                  <c:v>Cross-stitch</c:v>
                </c:pt>
                <c:pt idx="2">
                  <c:v>Co-attention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0.56</c:v>
                </c:pt>
                <c:pt idx="1">
                  <c:v>0.55</c:v>
                </c:pt>
                <c:pt idx="2">
                  <c:v>0.49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Benign recall</c:v>
                </c:pt>
              </c:strCache>
            </c:strRef>
          </c:tx>
          <c:spPr>
            <a:solidFill>
              <a:srgbClr val="f59e0b"/>
            </a:solidFill>
            <a:ln w="0">
              <a:noFill/>
            </a:ln>
          </c:spPr>
          <c:invertIfNegative val="0"/>
          <c:dLbls>
            <c:numFmt formatCode="0.00" sourceLinked="0"/>
            <c:txPr>
              <a:bodyPr wrap="square"/>
              <a:lstStyle/>
              <a:p>
                <a:pPr>
                  <a:defRPr sz="1050" b="1" u="none" strike="noStrike">
                    <a:solidFill>
                      <a:srgbClr val="0f2a3f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STL</c:v>
                </c:pt>
                <c:pt idx="1">
                  <c:v>Cross-stitch</c:v>
                </c:pt>
                <c:pt idx="2">
                  <c:v>Co-attention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0.32</c:v>
                </c:pt>
                <c:pt idx="1">
                  <c:v>0.24</c:v>
                </c:pt>
                <c:pt idx="2">
                  <c:v>0.17</c:v>
                </c:pt>
              </c:numCache>
            </c:numRef>
          </c:val>
        </c:ser>
        <c:gapWidth val="50"/>
        <c:overlap val="0"/>
        <c:axId val="66161022"/>
        <c:axId val="73802334"/>
      </c:barChart>
      <c:catAx>
        <c:axId val="6616102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475569"/>
                </a:solidFill>
                <a:uFillTx/>
                <a:latin typeface="Arial"/>
              </a:defRPr>
            </a:pPr>
          </a:p>
        </c:txPr>
        <c:crossAx val="73802334"/>
        <c:crosses val="autoZero"/>
        <c:auto val="1"/>
        <c:lblAlgn val="ctr"/>
        <c:lblOffset val="100"/>
        <c:noMultiLvlLbl val="0"/>
      </c:catAx>
      <c:valAx>
        <c:axId val="73802334"/>
        <c:scaling>
          <c:orientation val="minMax"/>
          <c:max val="0.7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66161022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t"/>
      <c:overlay val="0"/>
      <c:spPr>
        <a:noFill/>
        <a:ln w="0">
          <a:noFill/>
        </a:ln>
      </c:spPr>
      <c:txPr>
        <a:bodyPr/>
        <a:lstStyle/>
        <a:p>
          <a:pPr>
            <a:defRPr sz="1100" b="0" u="none" strike="noStrike">
              <a:solidFill>
                <a:srgbClr val="475569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solidFill>
      <a:srgbClr val="ffffff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FCFC7E2-B08B-46F6-8734-35716407CAA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ED7024-82A5-49FB-AFEB-099F5E9A09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6E4AC1-E718-44CD-BE41-AFAB30AE4A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955C37-22F0-4200-A7DD-8CE98DB2DE9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BBDAD4-3970-40E2-8E9C-1F47B5D21C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DA7B62-02AD-4D0A-A852-B40F70C754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B20C0E-734A-4103-9405-FCA65AF6D3C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6FF63C-FD66-4ED9-9848-18178CB625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5B02BA-3102-4600-ACD2-524CA4D509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92E02C-1536-4041-8E34-F1B503E639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0F81F3-7037-4377-97F9-B6D6983EC9A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F68BA2-E372-4117-95E3-BC335EF20F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3F5D07-B145-434C-9788-905144B83C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AD8CEB-E342-4122-9FFF-B8FEFE663A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2.png"/><Relationship Id="rId3" Type="http://schemas.openxmlformats.org/officeDocument/2006/relationships/image" Target="../media/image12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0.png"/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Relationship Id="rId8" Type="http://schemas.openxmlformats.org/officeDocument/2006/relationships/image" Target="../media/image1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7498080" y="1508760"/>
            <a:ext cx="4297320" cy="4297320"/>
          </a:xfrm>
          <a:prstGeom prst="ellipse">
            <a:avLst/>
          </a:prstGeom>
          <a:noFill/>
          <a:ln w="15875">
            <a:solidFill>
              <a:srgbClr val="14b8a6">
                <a:alpha val="14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8046720" y="2057400"/>
            <a:ext cx="3200040" cy="3200040"/>
          </a:xfrm>
          <a:prstGeom prst="ellipse">
            <a:avLst/>
          </a:prstGeom>
          <a:noFill/>
          <a:ln w="15875">
            <a:solidFill>
              <a:srgbClr val="14b8a6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8549640" y="2560320"/>
            <a:ext cx="2194200" cy="2194200"/>
          </a:xfrm>
          <a:prstGeom prst="ellipse">
            <a:avLst/>
          </a:prstGeom>
          <a:noFill/>
          <a:ln w="15875">
            <a:solidFill>
              <a:srgbClr val="14b8a6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9006840" y="3017520"/>
            <a:ext cx="1279800" cy="1279800"/>
          </a:xfrm>
          <a:prstGeom prst="ellipse">
            <a:avLst/>
          </a:prstGeom>
          <a:noFill/>
          <a:ln w="15875">
            <a:solidFill>
              <a:srgbClr val="14b8a6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9500760" y="3511440"/>
            <a:ext cx="292320" cy="292320"/>
          </a:xfrm>
          <a:prstGeom prst="ellipse">
            <a:avLst/>
          </a:prstGeom>
          <a:solidFill>
            <a:srgbClr val="5eea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 flipH="1" flipV="1">
            <a:off x="8503920" y="2286000"/>
            <a:ext cx="1143000" cy="1371600"/>
          </a:xfrm>
          <a:prstGeom prst="line">
            <a:avLst/>
          </a:prstGeom>
          <a:ln w="9525">
            <a:solidFill>
              <a:srgbClr val="0d9488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 flipV="1">
            <a:off x="9646920" y="2834640"/>
            <a:ext cx="1325880" cy="822960"/>
          </a:xfrm>
          <a:prstGeom prst="line">
            <a:avLst/>
          </a:prstGeom>
          <a:ln w="9525">
            <a:solidFill>
              <a:srgbClr val="0d9488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9646920" y="3657600"/>
            <a:ext cx="1051560" cy="1463040"/>
          </a:xfrm>
          <a:prstGeom prst="line">
            <a:avLst/>
          </a:prstGeom>
          <a:ln w="9525">
            <a:solidFill>
              <a:srgbClr val="0d9488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 flipH="1">
            <a:off x="8229600" y="3657600"/>
            <a:ext cx="1417320" cy="1097280"/>
          </a:xfrm>
          <a:prstGeom prst="line">
            <a:avLst/>
          </a:prstGeom>
          <a:ln w="9525">
            <a:solidFill>
              <a:srgbClr val="0d9488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8430840" y="2212920"/>
            <a:ext cx="145800" cy="145800"/>
          </a:xfrm>
          <a:prstGeom prst="ellipse">
            <a:avLst/>
          </a:prstGeom>
          <a:solidFill>
            <a:srgbClr val="5eead4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10918080" y="2779920"/>
            <a:ext cx="109440" cy="109440"/>
          </a:xfrm>
          <a:prstGeom prst="ellipse">
            <a:avLst/>
          </a:prstGeom>
          <a:solidFill>
            <a:srgbClr val="5eead4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10607040" y="5029200"/>
            <a:ext cx="182520" cy="182520"/>
          </a:xfrm>
          <a:prstGeom prst="ellipse">
            <a:avLst/>
          </a:prstGeom>
          <a:solidFill>
            <a:srgbClr val="5eead4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8170200" y="4695480"/>
            <a:ext cx="118440" cy="118440"/>
          </a:xfrm>
          <a:prstGeom prst="ellipse">
            <a:avLst/>
          </a:prstGeom>
          <a:solidFill>
            <a:srgbClr val="5eead4">
              <a:alpha val="7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8880" bIns="388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777240" y="11430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pc="261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DS · INTELLIGENT MODELING REPORT · 2025–2026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731520" y="1783080"/>
            <a:ext cx="74977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8000"/>
              </a:lnSpc>
              <a:tabLst>
                <a:tab algn="l" pos="0"/>
              </a:tabLst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Lung Nodule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8000"/>
              </a:lnSpc>
              <a:tabLst>
                <a:tab algn="l" pos="0"/>
              </a:tabLst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Prognostics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777240" y="3703320"/>
            <a:ext cx="6949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900" b="0" u="none" strike="noStrike">
                <a:solidFill>
                  <a:srgbClr val="a9d6d0"/>
                </a:solidFill>
                <a:effectLst/>
                <a:uFillTx/>
                <a:latin typeface="Calibri"/>
                <a:ea typeface="Calibri"/>
              </a:rPr>
              <a:t>Multi-task deep learning with cross-talk for pulmonary nodule risk stratification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804600" y="4892040"/>
            <a:ext cx="2743200" cy="360"/>
          </a:xfrm>
          <a:prstGeom prst="line">
            <a:avLst/>
          </a:prstGeom>
          <a:ln w="1905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777240" y="5074920"/>
            <a:ext cx="68576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Raicu Maria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Roşca Eduard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250" b="0" u="none" strike="noStrike">
                <a:solidFill>
                  <a:srgbClr val="a9d6d0"/>
                </a:solidFill>
                <a:effectLst/>
                <a:uFillTx/>
                <a:latin typeface="Calibri"/>
                <a:ea typeface="Calibri"/>
              </a:rPr>
              <a:t>Data Science · Group 245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lang="en-US" sz="1250" b="0" u="none" strike="noStrike">
                <a:solidFill>
                  <a:srgbClr val="8fb0ba"/>
                </a:solidFill>
                <a:effectLst/>
                <a:uFillTx/>
                <a:latin typeface="Calibri"/>
                <a:ea typeface="Calibri"/>
              </a:rPr>
              <a:t>Babeş-Bolyai University, Cluj-Napoca, România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640080" y="42048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pc="261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THE CLINICAL PROBLEM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640080" y="749880"/>
            <a:ext cx="10881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300" b="1" u="none" strike="noStrike">
                <a:solidFill>
                  <a:srgbClr val="0f2a3f"/>
                </a:solidFill>
                <a:effectLst/>
                <a:uFillTx/>
                <a:latin typeface="Georgia"/>
                <a:ea typeface="Georgia"/>
              </a:rPr>
              <a:t>An indeterminate nodule is a clinical dilemma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"/>
          <p:cNvSpPr/>
          <p:nvPr/>
        </p:nvSpPr>
        <p:spPr>
          <a:xfrm>
            <a:off x="640080" y="1627560"/>
            <a:ext cx="108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14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Low-dose CT screening saves lives, but it surfaces many small lung nodules whose fate is uncertain — some stay harmless for years, others progress into aggressive cancer. Today, that call rests on a radiologist's subjective visual read.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3"/>
          <p:cNvSpPr/>
          <p:nvPr/>
        </p:nvSpPr>
        <p:spPr>
          <a:xfrm>
            <a:off x="640080" y="2697480"/>
            <a:ext cx="3419640" cy="3062880"/>
          </a:xfrm>
          <a:prstGeom prst="roundRect">
            <a:avLst>
              <a:gd name="adj" fmla="val 2985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algn="bl" blurRad="114480" dir="8100000" dist="37674" kx="0" ky="0" rotWithShape="0" sx="100000" sy="100000">
              <a:srgbClr val="334155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4"/>
          <p:cNvSpPr/>
          <p:nvPr/>
        </p:nvSpPr>
        <p:spPr>
          <a:xfrm>
            <a:off x="932760" y="2990160"/>
            <a:ext cx="840960" cy="84096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" name="Image 0" descr="preencoded.png"/>
          <p:cNvPicPr/>
          <p:nvPr/>
        </p:nvPicPr>
        <p:blipFill>
          <a:blip r:embed="rId1"/>
          <a:stretch/>
        </p:blipFill>
        <p:spPr>
          <a:xfrm>
            <a:off x="1143000" y="3200400"/>
            <a:ext cx="42012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Text 5"/>
          <p:cNvSpPr/>
          <p:nvPr/>
        </p:nvSpPr>
        <p:spPr>
          <a:xfrm>
            <a:off x="1901880" y="3081600"/>
            <a:ext cx="2002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pc="150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THE CAUSE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6"/>
          <p:cNvSpPr/>
          <p:nvPr/>
        </p:nvSpPr>
        <p:spPr>
          <a:xfrm>
            <a:off x="1901880" y="3355920"/>
            <a:ext cx="2002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0f2a3f"/>
                </a:solidFill>
                <a:effectLst/>
                <a:uFillTx/>
                <a:latin typeface="Georgia"/>
                <a:ea typeface="Georgia"/>
              </a:rPr>
              <a:t>Subjective assessment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7"/>
          <p:cNvSpPr/>
          <p:nvPr/>
        </p:nvSpPr>
        <p:spPr>
          <a:xfrm>
            <a:off x="932760" y="4114800"/>
            <a:ext cx="28710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Risk is judged by eye from size, shape and texture — vulnerable to human error and inter-reader variability.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8"/>
          <p:cNvSpPr/>
          <p:nvPr/>
        </p:nvSpPr>
        <p:spPr>
          <a:xfrm>
            <a:off x="4384440" y="2697480"/>
            <a:ext cx="3419640" cy="3062880"/>
          </a:xfrm>
          <a:prstGeom prst="roundRect">
            <a:avLst>
              <a:gd name="adj" fmla="val 2985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algn="bl" blurRad="114480" dir="8100000" dist="37674" kx="0" ky="0" rotWithShape="0" sx="100000" sy="100000">
              <a:srgbClr val="334155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9"/>
          <p:cNvSpPr/>
          <p:nvPr/>
        </p:nvSpPr>
        <p:spPr>
          <a:xfrm>
            <a:off x="4677120" y="2990160"/>
            <a:ext cx="840960" cy="84096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" name="Image 1" descr="preencoded.png"/>
          <p:cNvPicPr/>
          <p:nvPr/>
        </p:nvPicPr>
        <p:blipFill>
          <a:blip r:embed="rId2"/>
          <a:stretch/>
        </p:blipFill>
        <p:spPr>
          <a:xfrm>
            <a:off x="4887360" y="3200400"/>
            <a:ext cx="42012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Text 10"/>
          <p:cNvSpPr/>
          <p:nvPr/>
        </p:nvSpPr>
        <p:spPr>
          <a:xfrm>
            <a:off x="5646600" y="3081600"/>
            <a:ext cx="2002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pc="150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FAILURE MODE 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1"/>
          <p:cNvSpPr/>
          <p:nvPr/>
        </p:nvSpPr>
        <p:spPr>
          <a:xfrm>
            <a:off x="5646600" y="3355920"/>
            <a:ext cx="2002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0f2a3f"/>
                </a:solidFill>
                <a:effectLst/>
                <a:uFillTx/>
                <a:latin typeface="Georgia"/>
                <a:ea typeface="Georgia"/>
              </a:rPr>
              <a:t>Overtreatment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2"/>
          <p:cNvSpPr/>
          <p:nvPr/>
        </p:nvSpPr>
        <p:spPr>
          <a:xfrm>
            <a:off x="4677120" y="4114800"/>
            <a:ext cx="28710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Benign nodules sent for invasive, costly, stressful biopsies and repeated radiation exposure.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3"/>
          <p:cNvSpPr/>
          <p:nvPr/>
        </p:nvSpPr>
        <p:spPr>
          <a:xfrm>
            <a:off x="8129160" y="2697480"/>
            <a:ext cx="3419640" cy="3062880"/>
          </a:xfrm>
          <a:prstGeom prst="roundRect">
            <a:avLst>
              <a:gd name="adj" fmla="val 2985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algn="bl" blurRad="114480" dir="8100000" dist="37674" kx="0" ky="0" rotWithShape="0" sx="100000" sy="100000">
              <a:srgbClr val="334155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4"/>
          <p:cNvSpPr/>
          <p:nvPr/>
        </p:nvSpPr>
        <p:spPr>
          <a:xfrm>
            <a:off x="8421480" y="2990160"/>
            <a:ext cx="840960" cy="84096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" name="Image 2" descr="preencoded.png"/>
          <p:cNvPicPr/>
          <p:nvPr/>
        </p:nvPicPr>
        <p:blipFill>
          <a:blip r:embed="rId3"/>
          <a:stretch/>
        </p:blipFill>
        <p:spPr>
          <a:xfrm>
            <a:off x="8632080" y="3200400"/>
            <a:ext cx="420120" cy="42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Text 15"/>
          <p:cNvSpPr/>
          <p:nvPr/>
        </p:nvSpPr>
        <p:spPr>
          <a:xfrm>
            <a:off x="9390960" y="3081600"/>
            <a:ext cx="2002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pc="150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FAILURE MODE 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6"/>
          <p:cNvSpPr/>
          <p:nvPr/>
        </p:nvSpPr>
        <p:spPr>
          <a:xfrm>
            <a:off x="9390960" y="3355920"/>
            <a:ext cx="2002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0f2a3f"/>
                </a:solidFill>
                <a:effectLst/>
                <a:uFillTx/>
                <a:latin typeface="Georgia"/>
                <a:ea typeface="Georgia"/>
              </a:rPr>
              <a:t>Undertreatment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7"/>
          <p:cNvSpPr/>
          <p:nvPr/>
        </p:nvSpPr>
        <p:spPr>
          <a:xfrm>
            <a:off x="8421480" y="4114800"/>
            <a:ext cx="28710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Malignant tumors missed and left to grow until intervention comes too late.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8"/>
          <p:cNvSpPr/>
          <p:nvPr/>
        </p:nvSpPr>
        <p:spPr>
          <a:xfrm>
            <a:off x="640080" y="5897880"/>
            <a:ext cx="10881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i="1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The underlying visual data is simply too high-dimensional for perfectly consistent human judgement.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9"/>
          <p:cNvSpPr/>
          <p:nvPr/>
        </p:nvSpPr>
        <p:spPr>
          <a:xfrm>
            <a:off x="64008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Lung Nodule Prognostics  ·  MultiTaskCrossTalkNet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0"/>
          <p:cNvSpPr/>
          <p:nvPr/>
        </p:nvSpPr>
        <p:spPr>
          <a:xfrm>
            <a:off x="11064240" y="65106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640080" y="42048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pc="261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WHY AN INTELLIGENT ALGORITHM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640080" y="749880"/>
            <a:ext cx="10881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300" b="1" u="none" strike="noStrike">
                <a:solidFill>
                  <a:srgbClr val="0f2a3f"/>
                </a:solidFill>
                <a:effectLst/>
                <a:uFillTx/>
                <a:latin typeface="Georgia"/>
                <a:ea typeface="Georgia"/>
              </a:rPr>
              <a:t>Beyond the limits of the human eye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2"/>
          <p:cNvSpPr/>
          <p:nvPr/>
        </p:nvSpPr>
        <p:spPr>
          <a:xfrm>
            <a:off x="667440" y="1883520"/>
            <a:ext cx="712800" cy="712800"/>
          </a:xfrm>
          <a:prstGeom prst="ellipse">
            <a:avLst/>
          </a:prstGeom>
          <a:solidFill>
            <a:srgbClr val="0f2a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" name="Image 0" descr="preencoded.png"/>
          <p:cNvPicPr/>
          <p:nvPr/>
        </p:nvPicPr>
        <p:blipFill>
          <a:blip r:embed="rId1"/>
          <a:stretch/>
        </p:blipFill>
        <p:spPr>
          <a:xfrm>
            <a:off x="846000" y="2062080"/>
            <a:ext cx="3564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 3"/>
          <p:cNvSpPr/>
          <p:nvPr/>
        </p:nvSpPr>
        <p:spPr>
          <a:xfrm>
            <a:off x="1554480" y="1856160"/>
            <a:ext cx="557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f2a3f"/>
                </a:solidFill>
                <a:effectLst/>
                <a:uFillTx/>
                <a:latin typeface="Georgia"/>
                <a:ea typeface="Georgia"/>
              </a:rPr>
              <a:t>High-dimensional imaging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1554480" y="2221920"/>
            <a:ext cx="5577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3-D CT volumes hold tiny, complex patterns the human visual system cannot extract with perfect consistency.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5"/>
          <p:cNvSpPr/>
          <p:nvPr/>
        </p:nvSpPr>
        <p:spPr>
          <a:xfrm>
            <a:off x="667440" y="2862000"/>
            <a:ext cx="712800" cy="712800"/>
          </a:xfrm>
          <a:prstGeom prst="ellipse">
            <a:avLst/>
          </a:prstGeom>
          <a:solidFill>
            <a:srgbClr val="0f2a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" name="Image 1" descr="preencoded.png"/>
          <p:cNvPicPr/>
          <p:nvPr/>
        </p:nvPicPr>
        <p:blipFill>
          <a:blip r:embed="rId2"/>
          <a:stretch/>
        </p:blipFill>
        <p:spPr>
          <a:xfrm>
            <a:off x="846000" y="3040560"/>
            <a:ext cx="3564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 6"/>
          <p:cNvSpPr/>
          <p:nvPr/>
        </p:nvSpPr>
        <p:spPr>
          <a:xfrm>
            <a:off x="1554480" y="2834640"/>
            <a:ext cx="557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f2a3f"/>
                </a:solidFill>
                <a:effectLst/>
                <a:uFillTx/>
                <a:latin typeface="Georgia"/>
                <a:ea typeface="Georgia"/>
              </a:rPr>
              <a:t>Rules &amp; linear models fall short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7"/>
          <p:cNvSpPr/>
          <p:nvPr/>
        </p:nvSpPr>
        <p:spPr>
          <a:xfrm>
            <a:off x="1554480" y="3200400"/>
            <a:ext cx="5577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Progression depends on many interacting factors; rigid clinical guidelines and linear statistics cannot capture them.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8"/>
          <p:cNvSpPr/>
          <p:nvPr/>
        </p:nvSpPr>
        <p:spPr>
          <a:xfrm>
            <a:off x="667440" y="3840480"/>
            <a:ext cx="712800" cy="7128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" name="Image 2" descr="preencoded.png"/>
          <p:cNvPicPr/>
          <p:nvPr/>
        </p:nvPicPr>
        <p:blipFill>
          <a:blip r:embed="rId3"/>
          <a:stretch/>
        </p:blipFill>
        <p:spPr>
          <a:xfrm>
            <a:off x="846000" y="4018680"/>
            <a:ext cx="3564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Text 9"/>
          <p:cNvSpPr/>
          <p:nvPr/>
        </p:nvSpPr>
        <p:spPr>
          <a:xfrm>
            <a:off x="1554480" y="3813120"/>
            <a:ext cx="557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f2a3f"/>
                </a:solidFill>
                <a:effectLst/>
                <a:uFillTx/>
                <a:latin typeface="Georgia"/>
                <a:ea typeface="Georgia"/>
              </a:rPr>
              <a:t>Deep learning learns hierarchy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0"/>
          <p:cNvSpPr/>
          <p:nvPr/>
        </p:nvSpPr>
        <p:spPr>
          <a:xfrm>
            <a:off x="1554480" y="4178880"/>
            <a:ext cx="5577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CNNs automatically extract latent, hierarchical features straight from raw pixels and voxels.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1"/>
          <p:cNvSpPr/>
          <p:nvPr/>
        </p:nvSpPr>
        <p:spPr>
          <a:xfrm>
            <a:off x="667440" y="4818960"/>
            <a:ext cx="712800" cy="7128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" name="Image 3" descr="preencoded.png"/>
          <p:cNvPicPr/>
          <p:nvPr/>
        </p:nvPicPr>
        <p:blipFill>
          <a:blip r:embed="rId4"/>
          <a:stretch/>
        </p:blipFill>
        <p:spPr>
          <a:xfrm>
            <a:off x="846000" y="4997160"/>
            <a:ext cx="3564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 12"/>
          <p:cNvSpPr/>
          <p:nvPr/>
        </p:nvSpPr>
        <p:spPr>
          <a:xfrm>
            <a:off x="1554480" y="4791600"/>
            <a:ext cx="557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0f2a3f"/>
                </a:solidFill>
                <a:effectLst/>
                <a:uFillTx/>
                <a:latin typeface="Georgia"/>
                <a:ea typeface="Georgia"/>
              </a:rPr>
              <a:t>Multi-task mirrors biology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3"/>
          <p:cNvSpPr/>
          <p:nvPr/>
        </p:nvSpPr>
        <p:spPr>
          <a:xfrm>
            <a:off x="1554480" y="5157360"/>
            <a:ext cx="5577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Morphology, growth rate and malignancy are interdependent — not isolated variables to model in isolation.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4"/>
          <p:cNvSpPr/>
          <p:nvPr/>
        </p:nvSpPr>
        <p:spPr>
          <a:xfrm>
            <a:off x="7543800" y="1874520"/>
            <a:ext cx="4004640" cy="3977280"/>
          </a:xfrm>
          <a:prstGeom prst="roundRect">
            <a:avLst>
              <a:gd name="adj" fmla="val 2759"/>
            </a:avLst>
          </a:prstGeom>
          <a:solidFill>
            <a:srgbClr val="0b1f2a"/>
          </a:solidFill>
          <a:ln w="0">
            <a:noFill/>
          </a:ln>
          <a:effectLst>
            <a:outerShdw algn="bl" blurRad="88920" dir="8100000" dist="37674" kx="0" ky="0" rotWithShape="0" sx="100000" sy="100000">
              <a:srgbClr val="0b1f2a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5"/>
          <p:cNvSpPr/>
          <p:nvPr/>
        </p:nvSpPr>
        <p:spPr>
          <a:xfrm>
            <a:off x="9089280" y="2377440"/>
            <a:ext cx="914040" cy="91404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" name="Image 4" descr="preencoded.png"/>
          <p:cNvPicPr/>
          <p:nvPr/>
        </p:nvPicPr>
        <p:blipFill>
          <a:blip r:embed="rId5"/>
          <a:stretch/>
        </p:blipFill>
        <p:spPr>
          <a:xfrm>
            <a:off x="9308520" y="259704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 16"/>
          <p:cNvSpPr/>
          <p:nvPr/>
        </p:nvSpPr>
        <p:spPr>
          <a:xfrm>
            <a:off x="7909560" y="3474720"/>
            <a:ext cx="3273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201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THE CORE INSIGHT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7"/>
          <p:cNvSpPr/>
          <p:nvPr/>
        </p:nvSpPr>
        <p:spPr>
          <a:xfrm>
            <a:off x="7955280" y="3840480"/>
            <a:ext cx="31816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18000"/>
              </a:lnSpc>
              <a:tabLst>
                <a:tab algn="l" pos="0"/>
              </a:tabLst>
            </a:pPr>
            <a:r>
              <a:rPr lang="en-US" sz="1450" b="0" u="none" strike="noStrike">
                <a:solidFill>
                  <a:srgbClr val="dcefea"/>
                </a:solidFill>
                <a:effectLst/>
                <a:uFillTx/>
                <a:latin typeface="Calibri"/>
                <a:ea typeface="Calibri"/>
              </a:rPr>
              <a:t>A multi-task model can learn several biologically linked properties of a nodule at once — texture, malignancy and growth — rather than treating them as separate problems.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8"/>
          <p:cNvSpPr/>
          <p:nvPr/>
        </p:nvSpPr>
        <p:spPr>
          <a:xfrm>
            <a:off x="64008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Lung Nodule Prognostics  ·  MultiTaskCrossTalkNet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9"/>
          <p:cNvSpPr/>
          <p:nvPr/>
        </p:nvSpPr>
        <p:spPr>
          <a:xfrm>
            <a:off x="11064240" y="65106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0"/>
          <p:cNvSpPr/>
          <p:nvPr/>
        </p:nvSpPr>
        <p:spPr>
          <a:xfrm>
            <a:off x="640080" y="42048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pc="261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THE CENTRAL HYPOTHESIS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640080" y="868680"/>
            <a:ext cx="100580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Tasks that are biologically linked should be learned together.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2"/>
          <p:cNvSpPr/>
          <p:nvPr/>
        </p:nvSpPr>
        <p:spPr>
          <a:xfrm>
            <a:off x="640080" y="2240280"/>
            <a:ext cx="10423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6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a9d6d0"/>
                </a:solidFill>
                <a:effectLst/>
                <a:uFillTx/>
                <a:latin typeface="Calibri"/>
                <a:ea typeface="Calibri"/>
              </a:rPr>
              <a:t>Physical composition, malignancy risk and growth rate are interdependent. Sharing what each task learns should yield a more robust predictor than treating them in isolation — unlike single-task learning, which shares nothing.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3"/>
          <p:cNvSpPr/>
          <p:nvPr/>
        </p:nvSpPr>
        <p:spPr>
          <a:xfrm>
            <a:off x="640080" y="3566160"/>
            <a:ext cx="3419640" cy="2331360"/>
          </a:xfrm>
          <a:prstGeom prst="roundRect">
            <a:avLst>
              <a:gd name="adj" fmla="val 3922"/>
            </a:avLst>
          </a:prstGeom>
          <a:solidFill>
            <a:srgbClr val="1235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4"/>
          <p:cNvSpPr/>
          <p:nvPr/>
        </p:nvSpPr>
        <p:spPr>
          <a:xfrm>
            <a:off x="868680" y="3794760"/>
            <a:ext cx="676440" cy="67644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" name="Image 0" descr="preencoded.png"/>
          <p:cNvPicPr/>
          <p:nvPr/>
        </p:nvPicPr>
        <p:blipFill>
          <a:blip r:embed="rId1"/>
          <a:stretch/>
        </p:blipFill>
        <p:spPr>
          <a:xfrm>
            <a:off x="1037880" y="396396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 5"/>
          <p:cNvSpPr/>
          <p:nvPr/>
        </p:nvSpPr>
        <p:spPr>
          <a:xfrm>
            <a:off x="951120" y="4590360"/>
            <a:ext cx="2797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Predict together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6"/>
          <p:cNvSpPr/>
          <p:nvPr/>
        </p:nvSpPr>
        <p:spPr>
          <a:xfrm>
            <a:off x="951120" y="5029200"/>
            <a:ext cx="2797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6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a9d6d0"/>
                </a:solidFill>
                <a:effectLst/>
                <a:uFillTx/>
                <a:latin typeface="Calibri"/>
                <a:ea typeface="Calibri"/>
              </a:rPr>
              <a:t>One model predicts nodule texture and malignancy side by side, instead of one model per task.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7"/>
          <p:cNvSpPr/>
          <p:nvPr/>
        </p:nvSpPr>
        <p:spPr>
          <a:xfrm>
            <a:off x="4384440" y="3566160"/>
            <a:ext cx="3419640" cy="2331360"/>
          </a:xfrm>
          <a:prstGeom prst="roundRect">
            <a:avLst>
              <a:gd name="adj" fmla="val 3922"/>
            </a:avLst>
          </a:prstGeom>
          <a:solidFill>
            <a:srgbClr val="1235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8"/>
          <p:cNvSpPr/>
          <p:nvPr/>
        </p:nvSpPr>
        <p:spPr>
          <a:xfrm>
            <a:off x="4613040" y="3794760"/>
            <a:ext cx="676440" cy="67644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" name="Image 1" descr="preencoded.png"/>
          <p:cNvPicPr/>
          <p:nvPr/>
        </p:nvPicPr>
        <p:blipFill>
          <a:blip r:embed="rId2"/>
          <a:stretch/>
        </p:blipFill>
        <p:spPr>
          <a:xfrm>
            <a:off x="4782240" y="396396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 9"/>
          <p:cNvSpPr/>
          <p:nvPr/>
        </p:nvSpPr>
        <p:spPr>
          <a:xfrm>
            <a:off x="4695480" y="4590360"/>
            <a:ext cx="2797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Let the tasks “talk”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0"/>
          <p:cNvSpPr/>
          <p:nvPr/>
        </p:nvSpPr>
        <p:spPr>
          <a:xfrm>
            <a:off x="4695480" y="5029200"/>
            <a:ext cx="2797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6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a9d6d0"/>
                </a:solidFill>
                <a:effectLst/>
                <a:uFillTx/>
                <a:latin typeface="Calibri"/>
                <a:ea typeface="Calibri"/>
              </a:rPr>
              <a:t>Learnable links pass useful signal between the two tasks as the network trains — this is the “cross-talk”.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1"/>
          <p:cNvSpPr/>
          <p:nvPr/>
        </p:nvSpPr>
        <p:spPr>
          <a:xfrm>
            <a:off x="8129160" y="3566160"/>
            <a:ext cx="3419640" cy="2331360"/>
          </a:xfrm>
          <a:prstGeom prst="roundRect">
            <a:avLst>
              <a:gd name="adj" fmla="val 3922"/>
            </a:avLst>
          </a:prstGeom>
          <a:solidFill>
            <a:srgbClr val="1235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2"/>
          <p:cNvSpPr/>
          <p:nvPr/>
        </p:nvSpPr>
        <p:spPr>
          <a:xfrm>
            <a:off x="8357760" y="3794760"/>
            <a:ext cx="676440" cy="67644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2" descr="preencoded.png"/>
          <p:cNvPicPr/>
          <p:nvPr/>
        </p:nvPicPr>
        <p:blipFill>
          <a:blip r:embed="rId3"/>
          <a:stretch/>
        </p:blipFill>
        <p:spPr>
          <a:xfrm>
            <a:off x="8526960" y="396396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 13"/>
          <p:cNvSpPr/>
          <p:nvPr/>
        </p:nvSpPr>
        <p:spPr>
          <a:xfrm>
            <a:off x="8439840" y="4590360"/>
            <a:ext cx="2797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Compared against isolation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4"/>
          <p:cNvSpPr/>
          <p:nvPr/>
        </p:nvSpPr>
        <p:spPr>
          <a:xfrm>
            <a:off x="8439840" y="5029200"/>
            <a:ext cx="2797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6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a9d6d0"/>
                </a:solidFill>
                <a:effectLst/>
                <a:uFillTx/>
                <a:latin typeface="Calibri"/>
                <a:ea typeface="Calibri"/>
              </a:rPr>
              <a:t>Single-task baselines learn each task on its own and share nothing — the benchmark to beat.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5"/>
          <p:cNvSpPr/>
          <p:nvPr/>
        </p:nvSpPr>
        <p:spPr>
          <a:xfrm>
            <a:off x="64008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b7a86"/>
                </a:solidFill>
                <a:effectLst/>
                <a:uFillTx/>
                <a:latin typeface="Calibri"/>
                <a:ea typeface="Calibri"/>
              </a:rPr>
              <a:t>Lung Nodule Prognostics  ·  MultiTaskCrossTalkNet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6"/>
          <p:cNvSpPr/>
          <p:nvPr/>
        </p:nvSpPr>
        <p:spPr>
          <a:xfrm>
            <a:off x="11064240" y="65106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5b7a86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640080" y="42048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pc="261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PREDICTION TARGETS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640080" y="749880"/>
            <a:ext cx="10881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300" b="1" u="none" strike="noStrike">
                <a:solidFill>
                  <a:srgbClr val="0f2a3f"/>
                </a:solidFill>
                <a:effectLst/>
                <a:uFillTx/>
                <a:latin typeface="Georgia"/>
                <a:ea typeface="Georgia"/>
              </a:rPr>
              <a:t>Three clinical tasks — one shared model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640080" y="1828800"/>
            <a:ext cx="3419640" cy="274284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algn="bl" blurRad="114480" dir="8100000" dist="37674" kx="0" ky="0" rotWithShape="0" sx="100000" sy="100000">
              <a:srgbClr val="334155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914400" y="2084760"/>
            <a:ext cx="1096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0d9488"/>
                </a:solidFill>
                <a:effectLst/>
                <a:uFillTx/>
                <a:latin typeface="Georgia"/>
                <a:ea typeface="Georgia"/>
              </a:rPr>
              <a:t>T1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4"/>
          <p:cNvSpPr/>
          <p:nvPr/>
        </p:nvSpPr>
        <p:spPr>
          <a:xfrm>
            <a:off x="3081600" y="2039040"/>
            <a:ext cx="712800" cy="7128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2" name="Image 0" descr="preencoded.png"/>
          <p:cNvPicPr/>
          <p:nvPr/>
        </p:nvPicPr>
        <p:blipFill>
          <a:blip r:embed="rId1"/>
          <a:stretch/>
        </p:blipFill>
        <p:spPr>
          <a:xfrm>
            <a:off x="3259800" y="2217600"/>
            <a:ext cx="3564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 5"/>
          <p:cNvSpPr/>
          <p:nvPr/>
        </p:nvSpPr>
        <p:spPr>
          <a:xfrm>
            <a:off x="932760" y="2853000"/>
            <a:ext cx="2871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1" u="none" strike="noStrike">
                <a:solidFill>
                  <a:srgbClr val="0f2a3f"/>
                </a:solidFill>
                <a:effectLst/>
                <a:uFillTx/>
                <a:latin typeface="Georgia"/>
                <a:ea typeface="Georgia"/>
              </a:rPr>
              <a:t>Malignancy risk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6"/>
          <p:cNvSpPr/>
          <p:nvPr/>
        </p:nvSpPr>
        <p:spPr>
          <a:xfrm>
            <a:off x="932760" y="3218760"/>
            <a:ext cx="287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i="1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Binary target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7"/>
          <p:cNvSpPr/>
          <p:nvPr/>
        </p:nvSpPr>
        <p:spPr>
          <a:xfrm>
            <a:off x="932760" y="3584520"/>
            <a:ext cx="2834280" cy="292320"/>
          </a:xfrm>
          <a:prstGeom prst="roundRect">
            <a:avLst>
              <a:gd name="adj" fmla="val 15625"/>
            </a:avLst>
          </a:prstGeom>
          <a:solidFill>
            <a:srgbClr val="e6f4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8"/>
          <p:cNvSpPr/>
          <p:nvPr/>
        </p:nvSpPr>
        <p:spPr>
          <a:xfrm>
            <a:off x="1097280" y="3584520"/>
            <a:ext cx="2596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0b7268"/>
                </a:solidFill>
                <a:effectLst/>
                <a:uFillTx/>
                <a:latin typeface="Calibri"/>
                <a:ea typeface="Calibri"/>
              </a:rPr>
              <a:t>0 · Benign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9"/>
          <p:cNvSpPr/>
          <p:nvPr/>
        </p:nvSpPr>
        <p:spPr>
          <a:xfrm>
            <a:off x="932760" y="3913560"/>
            <a:ext cx="2834280" cy="292320"/>
          </a:xfrm>
          <a:prstGeom prst="roundRect">
            <a:avLst>
              <a:gd name="adj" fmla="val 15625"/>
            </a:avLst>
          </a:prstGeom>
          <a:solidFill>
            <a:srgbClr val="e6f4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0"/>
          <p:cNvSpPr/>
          <p:nvPr/>
        </p:nvSpPr>
        <p:spPr>
          <a:xfrm>
            <a:off x="1097280" y="3913560"/>
            <a:ext cx="2596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0b7268"/>
                </a:solidFill>
                <a:effectLst/>
                <a:uFillTx/>
                <a:latin typeface="Calibri"/>
                <a:ea typeface="Calibri"/>
              </a:rPr>
              <a:t>1 · Malignant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1"/>
          <p:cNvSpPr/>
          <p:nvPr/>
        </p:nvSpPr>
        <p:spPr>
          <a:xfrm>
            <a:off x="4384440" y="1828800"/>
            <a:ext cx="3419640" cy="274284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5875">
            <a:solidFill>
              <a:srgbClr val="f0d9a8"/>
            </a:solidFill>
            <a:prstDash val="dash"/>
            <a:round/>
          </a:ln>
          <a:effectLst>
            <a:outerShdw algn="bl" blurRad="114480" dir="8100000" dist="37674" kx="0" ky="0" rotWithShape="0" sx="100000" sy="100000">
              <a:srgbClr val="334155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2"/>
          <p:cNvSpPr/>
          <p:nvPr/>
        </p:nvSpPr>
        <p:spPr>
          <a:xfrm>
            <a:off x="4658760" y="2084760"/>
            <a:ext cx="1096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c8a24a"/>
                </a:solidFill>
                <a:effectLst/>
                <a:uFillTx/>
                <a:latin typeface="Georgia"/>
                <a:ea typeface="Georgia"/>
              </a:rPr>
              <a:t>T2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3"/>
          <p:cNvSpPr/>
          <p:nvPr/>
        </p:nvSpPr>
        <p:spPr>
          <a:xfrm>
            <a:off x="6825960" y="2039040"/>
            <a:ext cx="712800" cy="712800"/>
          </a:xfrm>
          <a:prstGeom prst="ellipse">
            <a:avLst/>
          </a:prstGeom>
          <a:solidFill>
            <a:srgbClr val="d6b3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Image 1" descr="preencoded.png"/>
          <p:cNvPicPr/>
          <p:nvPr/>
        </p:nvPicPr>
        <p:blipFill>
          <a:blip r:embed="rId2"/>
          <a:stretch/>
        </p:blipFill>
        <p:spPr>
          <a:xfrm>
            <a:off x="7004160" y="2217600"/>
            <a:ext cx="3564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Shape 14"/>
          <p:cNvSpPr/>
          <p:nvPr/>
        </p:nvSpPr>
        <p:spPr>
          <a:xfrm>
            <a:off x="5463720" y="2139840"/>
            <a:ext cx="1298160" cy="328680"/>
          </a:xfrm>
          <a:prstGeom prst="roundRect">
            <a:avLst>
              <a:gd name="adj" fmla="val 13889"/>
            </a:avLst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5"/>
          <p:cNvSpPr/>
          <p:nvPr/>
        </p:nvSpPr>
        <p:spPr>
          <a:xfrm>
            <a:off x="5463720" y="2139840"/>
            <a:ext cx="12981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pc="99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EXCLUDED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6"/>
          <p:cNvSpPr/>
          <p:nvPr/>
        </p:nvSpPr>
        <p:spPr>
          <a:xfrm>
            <a:off x="4677120" y="2853000"/>
            <a:ext cx="2871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1" u="none" strike="noStrike">
                <a:solidFill>
                  <a:srgbClr val="8a7a52"/>
                </a:solidFill>
                <a:effectLst/>
                <a:uFillTx/>
                <a:latin typeface="Georgia"/>
                <a:ea typeface="Georgia"/>
              </a:rPr>
              <a:t>Two-year progression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7"/>
          <p:cNvSpPr/>
          <p:nvPr/>
        </p:nvSpPr>
        <p:spPr>
          <a:xfrm>
            <a:off x="4677120" y="3218760"/>
            <a:ext cx="287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i="1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Binary target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8"/>
          <p:cNvSpPr/>
          <p:nvPr/>
        </p:nvSpPr>
        <p:spPr>
          <a:xfrm>
            <a:off x="4677120" y="3584520"/>
            <a:ext cx="2834280" cy="292320"/>
          </a:xfrm>
          <a:prstGeom prst="roundRect">
            <a:avLst>
              <a:gd name="adj" fmla="val 15625"/>
            </a:avLst>
          </a:prstGeom>
          <a:solidFill>
            <a:srgbClr val="f3ea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9"/>
          <p:cNvSpPr/>
          <p:nvPr/>
        </p:nvSpPr>
        <p:spPr>
          <a:xfrm>
            <a:off x="4841640" y="3584520"/>
            <a:ext cx="2596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9a803f"/>
                </a:solidFill>
                <a:effectLst/>
                <a:uFillTx/>
                <a:latin typeface="Calibri"/>
                <a:ea typeface="Calibri"/>
              </a:rPr>
              <a:t>0 · Stable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0"/>
          <p:cNvSpPr/>
          <p:nvPr/>
        </p:nvSpPr>
        <p:spPr>
          <a:xfrm>
            <a:off x="4677120" y="3913560"/>
            <a:ext cx="2834280" cy="292320"/>
          </a:xfrm>
          <a:prstGeom prst="roundRect">
            <a:avLst>
              <a:gd name="adj" fmla="val 15625"/>
            </a:avLst>
          </a:prstGeom>
          <a:solidFill>
            <a:srgbClr val="f3ea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1"/>
          <p:cNvSpPr/>
          <p:nvPr/>
        </p:nvSpPr>
        <p:spPr>
          <a:xfrm>
            <a:off x="4841640" y="3913560"/>
            <a:ext cx="2596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9a803f"/>
                </a:solidFill>
                <a:effectLst/>
                <a:uFillTx/>
                <a:latin typeface="Calibri"/>
                <a:ea typeface="Calibri"/>
              </a:rPr>
              <a:t>1 · Progressive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22"/>
          <p:cNvSpPr/>
          <p:nvPr/>
        </p:nvSpPr>
        <p:spPr>
          <a:xfrm>
            <a:off x="8129160" y="1828800"/>
            <a:ext cx="3419640" cy="274284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algn="bl" blurRad="114480" dir="8100000" dist="37674" kx="0" ky="0" rotWithShape="0" sx="100000" sy="100000">
              <a:srgbClr val="334155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3"/>
          <p:cNvSpPr/>
          <p:nvPr/>
        </p:nvSpPr>
        <p:spPr>
          <a:xfrm>
            <a:off x="8403480" y="2084760"/>
            <a:ext cx="1096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0d9488"/>
                </a:solidFill>
                <a:effectLst/>
                <a:uFillTx/>
                <a:latin typeface="Georgia"/>
                <a:ea typeface="Georgia"/>
              </a:rPr>
              <a:t>T3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4"/>
          <p:cNvSpPr/>
          <p:nvPr/>
        </p:nvSpPr>
        <p:spPr>
          <a:xfrm>
            <a:off x="10570320" y="2039040"/>
            <a:ext cx="712800" cy="7128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4" name="Image 2" descr="preencoded.png"/>
          <p:cNvPicPr/>
          <p:nvPr/>
        </p:nvPicPr>
        <p:blipFill>
          <a:blip r:embed="rId3"/>
          <a:stretch/>
        </p:blipFill>
        <p:spPr>
          <a:xfrm>
            <a:off x="10748880" y="2217600"/>
            <a:ext cx="3564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Text 25"/>
          <p:cNvSpPr/>
          <p:nvPr/>
        </p:nvSpPr>
        <p:spPr>
          <a:xfrm>
            <a:off x="8421480" y="2853000"/>
            <a:ext cx="2871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50" b="1" u="none" strike="noStrike">
                <a:solidFill>
                  <a:srgbClr val="0f2a3f"/>
                </a:solidFill>
                <a:effectLst/>
                <a:uFillTx/>
                <a:latin typeface="Georgia"/>
                <a:ea typeface="Georgia"/>
              </a:rPr>
              <a:t>Radiological subtype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6"/>
          <p:cNvSpPr/>
          <p:nvPr/>
        </p:nvSpPr>
        <p:spPr>
          <a:xfrm>
            <a:off x="8421480" y="3218760"/>
            <a:ext cx="2871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i="1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3-class target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7"/>
          <p:cNvSpPr/>
          <p:nvPr/>
        </p:nvSpPr>
        <p:spPr>
          <a:xfrm>
            <a:off x="8421480" y="3584520"/>
            <a:ext cx="2834280" cy="292320"/>
          </a:xfrm>
          <a:prstGeom prst="roundRect">
            <a:avLst>
              <a:gd name="adj" fmla="val 15625"/>
            </a:avLst>
          </a:prstGeom>
          <a:solidFill>
            <a:srgbClr val="e6f4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8"/>
          <p:cNvSpPr/>
          <p:nvPr/>
        </p:nvSpPr>
        <p:spPr>
          <a:xfrm>
            <a:off x="8586360" y="3584520"/>
            <a:ext cx="2596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0b7268"/>
                </a:solidFill>
                <a:effectLst/>
                <a:uFillTx/>
                <a:latin typeface="Calibri"/>
                <a:ea typeface="Calibri"/>
              </a:rPr>
              <a:t>0 · Solid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9"/>
          <p:cNvSpPr/>
          <p:nvPr/>
        </p:nvSpPr>
        <p:spPr>
          <a:xfrm>
            <a:off x="8421480" y="3913560"/>
            <a:ext cx="2834280" cy="292320"/>
          </a:xfrm>
          <a:prstGeom prst="roundRect">
            <a:avLst>
              <a:gd name="adj" fmla="val 15625"/>
            </a:avLst>
          </a:prstGeom>
          <a:solidFill>
            <a:srgbClr val="e6f4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0"/>
          <p:cNvSpPr/>
          <p:nvPr/>
        </p:nvSpPr>
        <p:spPr>
          <a:xfrm>
            <a:off x="8586360" y="3913560"/>
            <a:ext cx="2596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0b7268"/>
                </a:solidFill>
                <a:effectLst/>
                <a:uFillTx/>
                <a:latin typeface="Calibri"/>
                <a:ea typeface="Calibri"/>
              </a:rPr>
              <a:t>1 · Part-solid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31"/>
          <p:cNvSpPr/>
          <p:nvPr/>
        </p:nvSpPr>
        <p:spPr>
          <a:xfrm>
            <a:off x="8421480" y="4242960"/>
            <a:ext cx="2834280" cy="292320"/>
          </a:xfrm>
          <a:prstGeom prst="roundRect">
            <a:avLst>
              <a:gd name="adj" fmla="val 15625"/>
            </a:avLst>
          </a:prstGeom>
          <a:solidFill>
            <a:srgbClr val="e6f4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2"/>
          <p:cNvSpPr/>
          <p:nvPr/>
        </p:nvSpPr>
        <p:spPr>
          <a:xfrm>
            <a:off x="8586360" y="4242960"/>
            <a:ext cx="2596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0b7268"/>
                </a:solidFill>
                <a:effectLst/>
                <a:uFillTx/>
                <a:latin typeface="Calibri"/>
                <a:ea typeface="Calibri"/>
              </a:rPr>
              <a:t>2 · Ground-glass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33"/>
          <p:cNvSpPr/>
          <p:nvPr/>
        </p:nvSpPr>
        <p:spPr>
          <a:xfrm>
            <a:off x="640080" y="4846320"/>
            <a:ext cx="10908360" cy="1051200"/>
          </a:xfrm>
          <a:prstGeom prst="roundRect">
            <a:avLst>
              <a:gd name="adj" fmla="val 6957"/>
            </a:avLst>
          </a:prstGeom>
          <a:solidFill>
            <a:srgbClr val="fff7e8"/>
          </a:solidFill>
          <a:ln w="12700">
            <a:solidFill>
              <a:srgbClr val="f3df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34"/>
          <p:cNvSpPr/>
          <p:nvPr/>
        </p:nvSpPr>
        <p:spPr>
          <a:xfrm>
            <a:off x="960120" y="5052240"/>
            <a:ext cx="639720" cy="63972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Image 3" descr="preencoded.png"/>
          <p:cNvPicPr/>
          <p:nvPr/>
        </p:nvPicPr>
        <p:blipFill>
          <a:blip r:embed="rId4"/>
          <a:stretch/>
        </p:blipFill>
        <p:spPr>
          <a:xfrm>
            <a:off x="1120320" y="52120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Text 35"/>
          <p:cNvSpPr/>
          <p:nvPr/>
        </p:nvSpPr>
        <p:spPr>
          <a:xfrm>
            <a:off x="1783080" y="4956120"/>
            <a:ext cx="950940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b45309"/>
                </a:solidFill>
                <a:effectLst/>
                <a:uFillTx/>
                <a:latin typeface="Calibri"/>
                <a:ea typeface="Calibri"/>
              </a:rPr>
              <a:t>Progression was dropped from every experiment.  </a:t>
            </a: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Its labels live in a clinical file with no shared identifier to join against the DICOM/XML imaging annotations — so they could not be matched to individual CT crops. All results use a two-task model: texture + malignancy.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36"/>
          <p:cNvSpPr/>
          <p:nvPr/>
        </p:nvSpPr>
        <p:spPr>
          <a:xfrm>
            <a:off x="64008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Lung Nodule Prognostics  ·  MultiTaskCrossTalkNet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37"/>
          <p:cNvSpPr/>
          <p:nvPr/>
        </p:nvSpPr>
        <p:spPr>
          <a:xfrm>
            <a:off x="11064240" y="65106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 0"/>
          <p:cNvSpPr/>
          <p:nvPr/>
        </p:nvSpPr>
        <p:spPr>
          <a:xfrm>
            <a:off x="640080" y="42048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pc="261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DATA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"/>
          <p:cNvSpPr/>
          <p:nvPr/>
        </p:nvSpPr>
        <p:spPr>
          <a:xfrm>
            <a:off x="640080" y="749880"/>
            <a:ext cx="10881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300" b="1" u="none" strike="noStrike">
                <a:solidFill>
                  <a:srgbClr val="0f2a3f"/>
                </a:solidFill>
                <a:effectLst/>
                <a:uFillTx/>
                <a:latin typeface="Georgia"/>
                <a:ea typeface="Georgia"/>
              </a:rPr>
              <a:t>508 nodule crops from LIDC-IDRI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2"/>
          <p:cNvSpPr/>
          <p:nvPr/>
        </p:nvSpPr>
        <p:spPr>
          <a:xfrm>
            <a:off x="640080" y="1783080"/>
            <a:ext cx="2624040" cy="137124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algn="bl" blurRad="114480" dir="8100000" dist="37674" kx="0" ky="0" rotWithShape="0" sx="100000" sy="100000">
              <a:srgbClr val="334155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3"/>
          <p:cNvSpPr/>
          <p:nvPr/>
        </p:nvSpPr>
        <p:spPr>
          <a:xfrm>
            <a:off x="777240" y="1984320"/>
            <a:ext cx="2349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0d9488"/>
                </a:solidFill>
                <a:effectLst/>
                <a:uFillTx/>
                <a:latin typeface="Georgia"/>
                <a:ea typeface="Georgia"/>
              </a:rPr>
              <a:t>508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4"/>
          <p:cNvSpPr/>
          <p:nvPr/>
        </p:nvSpPr>
        <p:spPr>
          <a:xfrm>
            <a:off x="777240" y="2651760"/>
            <a:ext cx="2349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nodule crops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5"/>
          <p:cNvSpPr/>
          <p:nvPr/>
        </p:nvSpPr>
        <p:spPr>
          <a:xfrm>
            <a:off x="3383280" y="1783080"/>
            <a:ext cx="2624040" cy="137124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algn="bl" blurRad="114480" dir="8100000" dist="37674" kx="0" ky="0" rotWithShape="0" sx="100000" sy="100000">
              <a:srgbClr val="334155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6"/>
          <p:cNvSpPr/>
          <p:nvPr/>
        </p:nvSpPr>
        <p:spPr>
          <a:xfrm>
            <a:off x="3520440" y="1984320"/>
            <a:ext cx="2349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700" b="1" u="none" strike="noStrike">
                <a:solidFill>
                  <a:srgbClr val="0d9488"/>
                </a:solidFill>
                <a:effectLst/>
                <a:uFillTx/>
                <a:latin typeface="Georgia"/>
                <a:ea typeface="Georgia"/>
              </a:rPr>
              <a:t>128×128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7"/>
          <p:cNvSpPr/>
          <p:nvPr/>
        </p:nvSpPr>
        <p:spPr>
          <a:xfrm>
            <a:off x="3520440" y="2651760"/>
            <a:ext cx="2349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px single-channel input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8"/>
          <p:cNvSpPr/>
          <p:nvPr/>
        </p:nvSpPr>
        <p:spPr>
          <a:xfrm>
            <a:off x="6126480" y="1783080"/>
            <a:ext cx="2624040" cy="137124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algn="bl" blurRad="114480" dir="8100000" dist="37674" kx="0" ky="0" rotWithShape="0" sx="100000" sy="100000">
              <a:srgbClr val="334155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9"/>
          <p:cNvSpPr/>
          <p:nvPr/>
        </p:nvSpPr>
        <p:spPr>
          <a:xfrm>
            <a:off x="6263640" y="1984320"/>
            <a:ext cx="2349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0d9488"/>
                </a:solidFill>
                <a:effectLst/>
                <a:uFillTx/>
                <a:latin typeface="Georgia"/>
                <a:ea typeface="Georgia"/>
              </a:rPr>
              <a:t>157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0"/>
          <p:cNvSpPr/>
          <p:nvPr/>
        </p:nvSpPr>
        <p:spPr>
          <a:xfrm>
            <a:off x="6263640" y="2651760"/>
            <a:ext cx="2349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clinical records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1"/>
          <p:cNvSpPr/>
          <p:nvPr/>
        </p:nvSpPr>
        <p:spPr>
          <a:xfrm>
            <a:off x="8869680" y="1783080"/>
            <a:ext cx="2624040" cy="137124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algn="bl" blurRad="114480" dir="8100000" dist="37674" kx="0" ky="0" rotWithShape="0" sx="100000" sy="100000">
              <a:srgbClr val="334155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2"/>
          <p:cNvSpPr/>
          <p:nvPr/>
        </p:nvSpPr>
        <p:spPr>
          <a:xfrm>
            <a:off x="9006840" y="1984320"/>
            <a:ext cx="2349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800" b="1" u="none" strike="noStrike">
                <a:solidFill>
                  <a:srgbClr val="0d9488"/>
                </a:solidFill>
                <a:effectLst/>
                <a:uFillTx/>
                <a:latin typeface="Georgia"/>
                <a:ea typeface="Georgia"/>
              </a:rPr>
              <a:t>≤ 4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3"/>
          <p:cNvSpPr/>
          <p:nvPr/>
        </p:nvSpPr>
        <p:spPr>
          <a:xfrm>
            <a:off x="9006840" y="2651760"/>
            <a:ext cx="2349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radiologists per nodule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4"/>
          <p:cNvSpPr/>
          <p:nvPr/>
        </p:nvSpPr>
        <p:spPr>
          <a:xfrm>
            <a:off x="640080" y="352044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pc="201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PREPROCESSING PIPELINE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5"/>
          <p:cNvSpPr/>
          <p:nvPr/>
        </p:nvSpPr>
        <p:spPr>
          <a:xfrm>
            <a:off x="640080" y="3840480"/>
            <a:ext cx="1992960" cy="141696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6"/>
          <p:cNvSpPr/>
          <p:nvPr/>
        </p:nvSpPr>
        <p:spPr>
          <a:xfrm>
            <a:off x="804600" y="4023360"/>
            <a:ext cx="420120" cy="42012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7"/>
          <p:cNvSpPr/>
          <p:nvPr/>
        </p:nvSpPr>
        <p:spPr>
          <a:xfrm>
            <a:off x="804600" y="402336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8"/>
          <p:cNvSpPr/>
          <p:nvPr/>
        </p:nvSpPr>
        <p:spPr>
          <a:xfrm>
            <a:off x="786240" y="4498920"/>
            <a:ext cx="170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0f2a3f"/>
                </a:solidFill>
                <a:effectLst/>
                <a:uFillTx/>
                <a:latin typeface="Georgia"/>
                <a:ea typeface="Georgia"/>
              </a:rPr>
              <a:t>Raw DICOM CT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9"/>
          <p:cNvSpPr/>
          <p:nvPr/>
        </p:nvSpPr>
        <p:spPr>
          <a:xfrm>
            <a:off x="786240" y="4827960"/>
            <a:ext cx="170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512×512 axial slices, sorted on Z-axis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Image 0" descr="preencoded.png"/>
          <p:cNvPicPr/>
          <p:nvPr/>
        </p:nvPicPr>
        <p:blipFill>
          <a:blip r:embed="rId1"/>
          <a:stretch/>
        </p:blipFill>
        <p:spPr>
          <a:xfrm>
            <a:off x="2697480" y="443016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Shape 20"/>
          <p:cNvSpPr/>
          <p:nvPr/>
        </p:nvSpPr>
        <p:spPr>
          <a:xfrm>
            <a:off x="2962800" y="3840480"/>
            <a:ext cx="1992960" cy="141696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1"/>
          <p:cNvSpPr/>
          <p:nvPr/>
        </p:nvSpPr>
        <p:spPr>
          <a:xfrm>
            <a:off x="3127320" y="4023360"/>
            <a:ext cx="420120" cy="42012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2"/>
          <p:cNvSpPr/>
          <p:nvPr/>
        </p:nvSpPr>
        <p:spPr>
          <a:xfrm>
            <a:off x="3127320" y="402336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3"/>
          <p:cNvSpPr/>
          <p:nvPr/>
        </p:nvSpPr>
        <p:spPr>
          <a:xfrm>
            <a:off x="3108960" y="4498920"/>
            <a:ext cx="170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0f2a3f"/>
                </a:solidFill>
                <a:effectLst/>
                <a:uFillTx/>
                <a:latin typeface="Georgia"/>
                <a:ea typeface="Georgia"/>
              </a:rPr>
              <a:t>Hounsfield Units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4"/>
          <p:cNvSpPr/>
          <p:nvPr/>
        </p:nvSpPr>
        <p:spPr>
          <a:xfrm>
            <a:off x="3108960" y="4827960"/>
            <a:ext cx="170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via RescaleSlope / Intercept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Image 1" descr="preencoded.png"/>
          <p:cNvPicPr/>
          <p:nvPr/>
        </p:nvPicPr>
        <p:blipFill>
          <a:blip r:embed="rId2"/>
          <a:stretch/>
        </p:blipFill>
        <p:spPr>
          <a:xfrm>
            <a:off x="5020200" y="443016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Shape 25"/>
          <p:cNvSpPr/>
          <p:nvPr/>
        </p:nvSpPr>
        <p:spPr>
          <a:xfrm>
            <a:off x="5285160" y="3840480"/>
            <a:ext cx="1992960" cy="141696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6"/>
          <p:cNvSpPr/>
          <p:nvPr/>
        </p:nvSpPr>
        <p:spPr>
          <a:xfrm>
            <a:off x="5449680" y="4023360"/>
            <a:ext cx="420120" cy="42012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7"/>
          <p:cNvSpPr/>
          <p:nvPr/>
        </p:nvSpPr>
        <p:spPr>
          <a:xfrm>
            <a:off x="5449680" y="402336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8"/>
          <p:cNvSpPr/>
          <p:nvPr/>
        </p:nvSpPr>
        <p:spPr>
          <a:xfrm>
            <a:off x="5431680" y="4498920"/>
            <a:ext cx="170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0f2a3f"/>
                </a:solidFill>
                <a:effectLst/>
                <a:uFillTx/>
                <a:latin typeface="Georgia"/>
                <a:ea typeface="Georgia"/>
              </a:rPr>
              <a:t>Clip &amp; normalize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9"/>
          <p:cNvSpPr/>
          <p:nvPr/>
        </p:nvSpPr>
        <p:spPr>
          <a:xfrm>
            <a:off x="5431680" y="4827960"/>
            <a:ext cx="170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[−1000, 400] HU → [0, 1]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1" name="Image 2" descr="preencoded.png"/>
          <p:cNvPicPr/>
          <p:nvPr/>
        </p:nvPicPr>
        <p:blipFill>
          <a:blip r:embed="rId3"/>
          <a:stretch/>
        </p:blipFill>
        <p:spPr>
          <a:xfrm>
            <a:off x="7342560" y="443016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Shape 30"/>
          <p:cNvSpPr/>
          <p:nvPr/>
        </p:nvSpPr>
        <p:spPr>
          <a:xfrm>
            <a:off x="7607880" y="3840480"/>
            <a:ext cx="1992960" cy="141696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31"/>
          <p:cNvSpPr/>
          <p:nvPr/>
        </p:nvSpPr>
        <p:spPr>
          <a:xfrm>
            <a:off x="7772400" y="4023360"/>
            <a:ext cx="420120" cy="42012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2"/>
          <p:cNvSpPr/>
          <p:nvPr/>
        </p:nvSpPr>
        <p:spPr>
          <a:xfrm>
            <a:off x="7772400" y="402336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3"/>
          <p:cNvSpPr/>
          <p:nvPr/>
        </p:nvSpPr>
        <p:spPr>
          <a:xfrm>
            <a:off x="7754040" y="4498920"/>
            <a:ext cx="170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0f2a3f"/>
                </a:solidFill>
                <a:effectLst/>
                <a:uFillTx/>
                <a:latin typeface="Georgia"/>
                <a:ea typeface="Georgia"/>
              </a:rPr>
              <a:t>Crop ROI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34"/>
          <p:cNvSpPr/>
          <p:nvPr/>
        </p:nvSpPr>
        <p:spPr>
          <a:xfrm>
            <a:off x="7754040" y="4827960"/>
            <a:ext cx="170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around annotated bounding box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7" name="Image 3" descr="preencoded.png"/>
          <p:cNvPicPr/>
          <p:nvPr/>
        </p:nvPicPr>
        <p:blipFill>
          <a:blip r:embed="rId4"/>
          <a:stretch/>
        </p:blipFill>
        <p:spPr>
          <a:xfrm>
            <a:off x="9665280" y="4430160"/>
            <a:ext cx="237240" cy="23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Shape 35"/>
          <p:cNvSpPr/>
          <p:nvPr/>
        </p:nvSpPr>
        <p:spPr>
          <a:xfrm>
            <a:off x="9930240" y="3840480"/>
            <a:ext cx="1992960" cy="141696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36"/>
          <p:cNvSpPr/>
          <p:nvPr/>
        </p:nvSpPr>
        <p:spPr>
          <a:xfrm>
            <a:off x="10095120" y="4023360"/>
            <a:ext cx="420120" cy="42012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7"/>
          <p:cNvSpPr/>
          <p:nvPr/>
        </p:nvSpPr>
        <p:spPr>
          <a:xfrm>
            <a:off x="10095120" y="402336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38"/>
          <p:cNvSpPr/>
          <p:nvPr/>
        </p:nvSpPr>
        <p:spPr>
          <a:xfrm>
            <a:off x="10076760" y="4498920"/>
            <a:ext cx="170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0f2a3f"/>
                </a:solidFill>
                <a:effectLst/>
                <a:uFillTx/>
                <a:latin typeface="Georgia"/>
                <a:ea typeface="Georgia"/>
              </a:rPr>
              <a:t>Resize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39"/>
          <p:cNvSpPr/>
          <p:nvPr/>
        </p:nvSpPr>
        <p:spPr>
          <a:xfrm>
            <a:off x="10076760" y="4827960"/>
            <a:ext cx="1700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to 128×128 px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40"/>
          <p:cNvSpPr/>
          <p:nvPr/>
        </p:nvSpPr>
        <p:spPr>
          <a:xfrm>
            <a:off x="640080" y="5486400"/>
            <a:ext cx="10908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i="1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Because nodules are reviewed by multiple radiologists, the dataset captures real-world inter-reader variability and uncertainty.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41"/>
          <p:cNvSpPr/>
          <p:nvPr/>
        </p:nvSpPr>
        <p:spPr>
          <a:xfrm>
            <a:off x="64008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Lung Nodule Prognostics  ·  MultiTaskCrossTalkNet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42"/>
          <p:cNvSpPr/>
          <p:nvPr/>
        </p:nvSpPr>
        <p:spPr>
          <a:xfrm>
            <a:off x="11064240" y="65106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 0"/>
          <p:cNvSpPr/>
          <p:nvPr/>
        </p:nvSpPr>
        <p:spPr>
          <a:xfrm>
            <a:off x="640080" y="42048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pc="261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TARGETS &amp; DATA REALITY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"/>
          <p:cNvSpPr/>
          <p:nvPr/>
        </p:nvSpPr>
        <p:spPr>
          <a:xfrm>
            <a:off x="640080" y="749880"/>
            <a:ext cx="10881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300" b="1" u="none" strike="noStrike">
                <a:solidFill>
                  <a:srgbClr val="0f2a3f"/>
                </a:solidFill>
                <a:effectLst/>
                <a:uFillTx/>
                <a:latin typeface="Georgia"/>
                <a:ea typeface="Georgia"/>
              </a:rPr>
              <a:t>Simplified labels — and a severe imbalance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"/>
          <p:cNvSpPr/>
          <p:nvPr/>
        </p:nvSpPr>
        <p:spPr>
          <a:xfrm>
            <a:off x="640080" y="1828800"/>
            <a:ext cx="5028840" cy="178272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algn="bl" blurRad="114480" dir="8100000" dist="37674" kx="0" ky="0" rotWithShape="0" sx="100000" sy="100000">
              <a:srgbClr val="334155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3"/>
          <p:cNvSpPr/>
          <p:nvPr/>
        </p:nvSpPr>
        <p:spPr>
          <a:xfrm>
            <a:off x="859680" y="2002680"/>
            <a:ext cx="658080" cy="65808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0" name="Image 0" descr="preencoded.png"/>
          <p:cNvPicPr/>
          <p:nvPr/>
        </p:nvPicPr>
        <p:blipFill>
          <a:blip r:embed="rId1"/>
          <a:stretch/>
        </p:blipFill>
        <p:spPr>
          <a:xfrm>
            <a:off x="1024200" y="216720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Text 4"/>
          <p:cNvSpPr/>
          <p:nvPr/>
        </p:nvSpPr>
        <p:spPr>
          <a:xfrm>
            <a:off x="1600200" y="2084760"/>
            <a:ext cx="3931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f2a3f"/>
                </a:solidFill>
                <a:effectLst/>
                <a:uFillTx/>
                <a:latin typeface="Georgia"/>
                <a:ea typeface="Georgia"/>
              </a:rPr>
              <a:t>Texture score 1–5  →  3 subtypes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5"/>
          <p:cNvSpPr/>
          <p:nvPr/>
        </p:nvSpPr>
        <p:spPr>
          <a:xfrm>
            <a:off x="960120" y="2853000"/>
            <a:ext cx="4480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lang="en-US" sz="1250" b="1" u="none" strike="noStrike">
                <a:solidFill>
                  <a:srgbClr val="0b7268"/>
                </a:solidFill>
                <a:effectLst/>
                <a:uFillTx/>
                <a:latin typeface="Calibri"/>
                <a:ea typeface="Calibri"/>
              </a:rPr>
              <a:t>Ground-glass</a:t>
            </a: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  scores 1–2      </a:t>
            </a:r>
            <a:r>
              <a:rPr lang="en-US" sz="1250" b="1" u="none" strike="noStrike">
                <a:solidFill>
                  <a:srgbClr val="0b7268"/>
                </a:solidFill>
                <a:effectLst/>
                <a:uFillTx/>
                <a:latin typeface="Calibri"/>
                <a:ea typeface="Calibri"/>
              </a:rPr>
              <a:t>Part-solid</a:t>
            </a: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  score 3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0b7268"/>
                </a:solidFill>
                <a:effectLst/>
                <a:uFillTx/>
                <a:latin typeface="Calibri"/>
                <a:ea typeface="Calibri"/>
              </a:rPr>
              <a:t>Solid</a:t>
            </a: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  scores 4–5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6"/>
          <p:cNvSpPr/>
          <p:nvPr/>
        </p:nvSpPr>
        <p:spPr>
          <a:xfrm>
            <a:off x="640080" y="3794760"/>
            <a:ext cx="5028840" cy="178272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algn="bl" blurRad="114480" dir="8100000" dist="37674" kx="0" ky="0" rotWithShape="0" sx="100000" sy="100000">
              <a:srgbClr val="334155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7"/>
          <p:cNvSpPr/>
          <p:nvPr/>
        </p:nvSpPr>
        <p:spPr>
          <a:xfrm>
            <a:off x="859680" y="3968640"/>
            <a:ext cx="658080" cy="658080"/>
          </a:xfrm>
          <a:prstGeom prst="ellipse">
            <a:avLst/>
          </a:prstGeom>
          <a:solidFill>
            <a:srgbClr val="0f2a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5" name="Image 1" descr="preencoded.png"/>
          <p:cNvPicPr/>
          <p:nvPr/>
        </p:nvPicPr>
        <p:blipFill>
          <a:blip r:embed="rId2"/>
          <a:stretch/>
        </p:blipFill>
        <p:spPr>
          <a:xfrm>
            <a:off x="1024200" y="4133160"/>
            <a:ext cx="328680" cy="32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Text 8"/>
          <p:cNvSpPr/>
          <p:nvPr/>
        </p:nvSpPr>
        <p:spPr>
          <a:xfrm>
            <a:off x="1600200" y="4050720"/>
            <a:ext cx="3931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f2a3f"/>
                </a:solidFill>
                <a:effectLst/>
                <a:uFillTx/>
                <a:latin typeface="Georgia"/>
                <a:ea typeface="Georgia"/>
              </a:rPr>
              <a:t>Malignancy  →  binary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9"/>
          <p:cNvSpPr/>
          <p:nvPr/>
        </p:nvSpPr>
        <p:spPr>
          <a:xfrm>
            <a:off x="960120" y="4827960"/>
            <a:ext cx="4480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lang="en-US" sz="1250" b="1" u="none" strike="noStrike">
                <a:solidFill>
                  <a:srgbClr val="0f2a3f"/>
                </a:solidFill>
                <a:effectLst/>
                <a:uFillTx/>
                <a:latin typeface="Calibri"/>
                <a:ea typeface="Calibri"/>
              </a:rPr>
              <a:t>0 · Benign      1 · Malignant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Test split: </a:t>
            </a:r>
            <a:r>
              <a:rPr lang="en-US" sz="12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41 benign</a:t>
            </a: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  /  </a:t>
            </a:r>
            <a:r>
              <a:rPr lang="en-US" sz="1250" b="1" u="none" strike="noStrik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60 malignant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0"/>
          <p:cNvSpPr/>
          <p:nvPr/>
        </p:nvSpPr>
        <p:spPr>
          <a:xfrm>
            <a:off x="5989320" y="1783080"/>
            <a:ext cx="5559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50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TEXTURE DISTRIBUTION · TEST SET (n = 101)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9" name="Chart 0"/>
          <p:cNvGraphicFramePr/>
          <p:nvPr/>
        </p:nvGraphicFramePr>
        <p:xfrm>
          <a:off x="6080760" y="2103120"/>
          <a:ext cx="5376240" cy="2697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0" name="Shape 11"/>
          <p:cNvSpPr/>
          <p:nvPr/>
        </p:nvSpPr>
        <p:spPr>
          <a:xfrm>
            <a:off x="5989320" y="5029200"/>
            <a:ext cx="5559120" cy="868320"/>
          </a:xfrm>
          <a:prstGeom prst="roundRect">
            <a:avLst>
              <a:gd name="adj" fmla="val 8421"/>
            </a:avLst>
          </a:prstGeom>
          <a:solidFill>
            <a:srgbClr val="fff3dc"/>
          </a:solidFill>
          <a:ln w="12700">
            <a:solidFill>
              <a:srgbClr val="f3df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2"/>
          <p:cNvSpPr/>
          <p:nvPr/>
        </p:nvSpPr>
        <p:spPr>
          <a:xfrm>
            <a:off x="6309360" y="5029200"/>
            <a:ext cx="4919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b45309"/>
                </a:solidFill>
                <a:effectLst/>
                <a:uFillTx/>
                <a:latin typeface="Calibri"/>
                <a:ea typeface="Calibri"/>
              </a:rPr>
              <a:t>96% solid.  </a:t>
            </a:r>
            <a:r>
              <a:rPr lang="en-US" sz="1250" b="0" u="none" strike="noStrike">
                <a:solidFill>
                  <a:srgbClr val="8a6a2a"/>
                </a:solidFill>
                <a:effectLst/>
                <a:uFillTx/>
                <a:latin typeface="Calibri"/>
                <a:ea typeface="Calibri"/>
              </a:rPr>
              <a:t>With 97 of 101 test nodules solid, the minority subtypes are almost unlearnable.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3"/>
          <p:cNvSpPr/>
          <p:nvPr/>
        </p:nvSpPr>
        <p:spPr>
          <a:xfrm>
            <a:off x="64008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Lung Nodule Prognostics  ·  MultiTaskCrossTalkNet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4"/>
          <p:cNvSpPr/>
          <p:nvPr/>
        </p:nvSpPr>
        <p:spPr>
          <a:xfrm>
            <a:off x="11064240" y="65106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 0"/>
          <p:cNvSpPr/>
          <p:nvPr/>
        </p:nvSpPr>
        <p:spPr>
          <a:xfrm>
            <a:off x="640080" y="42048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pc="261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EXPERIMENTAL SETUP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"/>
          <p:cNvSpPr/>
          <p:nvPr/>
        </p:nvSpPr>
        <p:spPr>
          <a:xfrm>
            <a:off x="640080" y="749880"/>
            <a:ext cx="10881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300" b="1" u="none" strike="noStrike">
                <a:solidFill>
                  <a:srgbClr val="0f2a3f"/>
                </a:solidFill>
                <a:effectLst/>
                <a:uFillTx/>
                <a:latin typeface="Georgia"/>
                <a:ea typeface="Georgia"/>
              </a:rPr>
              <a:t>How the models were trained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2"/>
          <p:cNvSpPr/>
          <p:nvPr/>
        </p:nvSpPr>
        <p:spPr>
          <a:xfrm>
            <a:off x="640080" y="1874520"/>
            <a:ext cx="5348880" cy="178272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algn="bl" blurRad="114480" dir="8100000" dist="37674" kx="0" ky="0" rotWithShape="0" sx="100000" sy="100000">
              <a:srgbClr val="334155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3"/>
          <p:cNvSpPr/>
          <p:nvPr/>
        </p:nvSpPr>
        <p:spPr>
          <a:xfrm>
            <a:off x="868680" y="2103120"/>
            <a:ext cx="676440" cy="67644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8" name="Image 0" descr="preencoded.png"/>
          <p:cNvPicPr/>
          <p:nvPr/>
        </p:nvPicPr>
        <p:blipFill>
          <a:blip r:embed="rId1"/>
          <a:stretch/>
        </p:blipFill>
        <p:spPr>
          <a:xfrm>
            <a:off x="1037880" y="227232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Text 4"/>
          <p:cNvSpPr/>
          <p:nvPr/>
        </p:nvSpPr>
        <p:spPr>
          <a:xfrm>
            <a:off x="1609200" y="2240280"/>
            <a:ext cx="4160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50" b="1" u="none" strike="noStrike">
                <a:solidFill>
                  <a:srgbClr val="0f2a3f"/>
                </a:solidFill>
                <a:effectLst/>
                <a:uFillTx/>
                <a:latin typeface="Georgia"/>
                <a:ea typeface="Georgia"/>
              </a:rPr>
              <a:t>Data split — 60 / 20 / 20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5"/>
          <p:cNvSpPr/>
          <p:nvPr/>
        </p:nvSpPr>
        <p:spPr>
          <a:xfrm>
            <a:off x="951120" y="2926080"/>
            <a:ext cx="472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5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306</a:t>
            </a:r>
            <a:r>
              <a:rPr lang="en-US" sz="14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 train       </a:t>
            </a:r>
            <a:r>
              <a:rPr lang="en-US" sz="145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101</a:t>
            </a:r>
            <a:r>
              <a:rPr lang="en-US" sz="14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 val       </a:t>
            </a:r>
            <a:r>
              <a:rPr lang="en-US" sz="145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101</a:t>
            </a:r>
            <a:r>
              <a:rPr lang="en-US" sz="14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 test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6"/>
          <p:cNvSpPr/>
          <p:nvPr/>
        </p:nvSpPr>
        <p:spPr>
          <a:xfrm>
            <a:off x="6291000" y="1874520"/>
            <a:ext cx="5348880" cy="178272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algn="bl" blurRad="114480" dir="8100000" dist="37674" kx="0" ky="0" rotWithShape="0" sx="100000" sy="100000">
              <a:srgbClr val="334155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7"/>
          <p:cNvSpPr/>
          <p:nvPr/>
        </p:nvSpPr>
        <p:spPr>
          <a:xfrm>
            <a:off x="6519600" y="2103120"/>
            <a:ext cx="676440" cy="676440"/>
          </a:xfrm>
          <a:prstGeom prst="ellipse">
            <a:avLst/>
          </a:prstGeom>
          <a:solidFill>
            <a:srgbClr val="0f2a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3" name="Image 1" descr="preencoded.png"/>
          <p:cNvPicPr/>
          <p:nvPr/>
        </p:nvPicPr>
        <p:blipFill>
          <a:blip r:embed="rId2"/>
          <a:stretch/>
        </p:blipFill>
        <p:spPr>
          <a:xfrm>
            <a:off x="6688800" y="227232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" name="Text 8"/>
          <p:cNvSpPr/>
          <p:nvPr/>
        </p:nvSpPr>
        <p:spPr>
          <a:xfrm>
            <a:off x="7260480" y="2240280"/>
            <a:ext cx="4160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50" b="1" u="none" strike="noStrike">
                <a:solidFill>
                  <a:srgbClr val="0f2a3f"/>
                </a:solidFill>
                <a:effectLst/>
                <a:uFillTx/>
                <a:latin typeface="Georgia"/>
                <a:ea typeface="Georgia"/>
              </a:rPr>
              <a:t>Optimizer &amp; selection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9"/>
          <p:cNvSpPr/>
          <p:nvPr/>
        </p:nvSpPr>
        <p:spPr>
          <a:xfrm>
            <a:off x="6602040" y="2898720"/>
            <a:ext cx="47271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0f2a3f"/>
                </a:solidFill>
                <a:effectLst/>
                <a:uFillTx/>
                <a:latin typeface="Calibri"/>
                <a:ea typeface="Calibri"/>
              </a:rPr>
              <a:t>AdamW</a:t>
            </a: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  ·  the checkpoint with the lowest validation loss is kept and scored on the held-out test set.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0"/>
          <p:cNvSpPr/>
          <p:nvPr/>
        </p:nvSpPr>
        <p:spPr>
          <a:xfrm>
            <a:off x="640080" y="3931920"/>
            <a:ext cx="5348880" cy="178272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algn="bl" blurRad="114480" dir="8100000" dist="37674" kx="0" ky="0" rotWithShape="0" sx="100000" sy="100000">
              <a:srgbClr val="334155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1"/>
          <p:cNvSpPr/>
          <p:nvPr/>
        </p:nvSpPr>
        <p:spPr>
          <a:xfrm>
            <a:off x="868680" y="4160520"/>
            <a:ext cx="676440" cy="67644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8" name="Image 2" descr="preencoded.png"/>
          <p:cNvPicPr/>
          <p:nvPr/>
        </p:nvPicPr>
        <p:blipFill>
          <a:blip r:embed="rId3"/>
          <a:stretch/>
        </p:blipFill>
        <p:spPr>
          <a:xfrm>
            <a:off x="1037880" y="432972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Text 12"/>
          <p:cNvSpPr/>
          <p:nvPr/>
        </p:nvSpPr>
        <p:spPr>
          <a:xfrm>
            <a:off x="1609200" y="4297680"/>
            <a:ext cx="4160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50" b="1" u="none" strike="noStrike">
                <a:solidFill>
                  <a:srgbClr val="0f2a3f"/>
                </a:solidFill>
                <a:effectLst/>
                <a:uFillTx/>
                <a:latin typeface="Georgia"/>
                <a:ea typeface="Georgia"/>
              </a:rPr>
              <a:t>Single-task baseline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3"/>
          <p:cNvSpPr/>
          <p:nvPr/>
        </p:nvSpPr>
        <p:spPr>
          <a:xfrm>
            <a:off x="951120" y="4937760"/>
            <a:ext cx="4727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Each task is trained on its own with the cross-talk switched off, so any difference comes from the sharing itself — not from a bigger model.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4"/>
          <p:cNvSpPr/>
          <p:nvPr/>
        </p:nvSpPr>
        <p:spPr>
          <a:xfrm>
            <a:off x="6291000" y="3931920"/>
            <a:ext cx="5348880" cy="178272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algn="bl" blurRad="114480" dir="8100000" dist="37674" kx="0" ky="0" rotWithShape="0" sx="100000" sy="100000">
              <a:srgbClr val="334155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5"/>
          <p:cNvSpPr/>
          <p:nvPr/>
        </p:nvSpPr>
        <p:spPr>
          <a:xfrm>
            <a:off x="6519600" y="4160520"/>
            <a:ext cx="676440" cy="6764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3" name="Image 3" descr="preencoded.png"/>
          <p:cNvPicPr/>
          <p:nvPr/>
        </p:nvPicPr>
        <p:blipFill>
          <a:blip r:embed="rId4"/>
          <a:stretch/>
        </p:blipFill>
        <p:spPr>
          <a:xfrm>
            <a:off x="6688800" y="4329720"/>
            <a:ext cx="338040" cy="3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Text 16"/>
          <p:cNvSpPr/>
          <p:nvPr/>
        </p:nvSpPr>
        <p:spPr>
          <a:xfrm>
            <a:off x="7260480" y="4297680"/>
            <a:ext cx="4160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50" b="1" u="none" strike="noStrike">
                <a:solidFill>
                  <a:srgbClr val="0f2a3f"/>
                </a:solidFill>
                <a:effectLst/>
                <a:uFillTx/>
                <a:latin typeface="Georgia"/>
                <a:ea typeface="Georgia"/>
              </a:rPr>
              <a:t>Two sharing styles compared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7"/>
          <p:cNvSpPr/>
          <p:nvPr/>
        </p:nvSpPr>
        <p:spPr>
          <a:xfrm>
            <a:off x="6602040" y="4892040"/>
            <a:ext cx="472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lang="en-US" sz="1250" b="1" u="none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Cross-stitch</a:t>
            </a: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 — blends both tasks' features together.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b45309"/>
                </a:solidFill>
                <a:effectLst/>
                <a:uFillTx/>
                <a:latin typeface="Calibri"/>
                <a:ea typeface="Calibri"/>
              </a:rPr>
              <a:t>Co-attention</a:t>
            </a: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 — lets each task pick out the other's useful signals.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8"/>
          <p:cNvSpPr/>
          <p:nvPr/>
        </p:nvSpPr>
        <p:spPr>
          <a:xfrm>
            <a:off x="640080" y="5943600"/>
            <a:ext cx="1090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i="1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A preliminary 15-sample run validated the full pipeline before scaling to 508 samples.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9"/>
          <p:cNvSpPr/>
          <p:nvPr/>
        </p:nvSpPr>
        <p:spPr>
          <a:xfrm>
            <a:off x="64008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Lung Nodule Prognostics  ·  MultiTaskCrossTalkNet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0"/>
          <p:cNvSpPr/>
          <p:nvPr/>
        </p:nvSpPr>
        <p:spPr>
          <a:xfrm>
            <a:off x="11064240" y="65106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0"/>
          <p:cNvSpPr/>
          <p:nvPr/>
        </p:nvSpPr>
        <p:spPr>
          <a:xfrm>
            <a:off x="640080" y="42048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pc="261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RESULTS · MALIGNANCY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640080" y="749880"/>
            <a:ext cx="10881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300" b="1" u="none" strike="noStrike">
                <a:solidFill>
                  <a:srgbClr val="0f2a3f"/>
                </a:solidFill>
                <a:effectLst/>
                <a:uFillTx/>
                <a:latin typeface="Georgia"/>
                <a:ea typeface="Georgia"/>
              </a:rPr>
              <a:t>Cross-talk did not beat the baseline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"/>
          <p:cNvSpPr/>
          <p:nvPr/>
        </p:nvSpPr>
        <p:spPr>
          <a:xfrm>
            <a:off x="640080" y="1691640"/>
            <a:ext cx="6034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50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MACRO-F1 vs BENIGN RECALL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2" name="Chart 0"/>
          <p:cNvGraphicFramePr/>
          <p:nvPr/>
        </p:nvGraphicFramePr>
        <p:xfrm>
          <a:off x="548640" y="2011680"/>
          <a:ext cx="6263280" cy="3611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233" name="Table 0"/>
          <p:cNvGraphicFramePr/>
          <p:nvPr/>
        </p:nvGraphicFramePr>
        <p:xfrm>
          <a:off x="7086600" y="2011680"/>
          <a:ext cx="4461840" cy="1846800"/>
        </p:xfrm>
        <a:graphic>
          <a:graphicData uri="http://schemas.openxmlformats.org/drawingml/2006/table">
            <a:tbl>
              <a:tblPr/>
              <a:tblGrid>
                <a:gridCol w="1517760"/>
                <a:gridCol w="1023840"/>
                <a:gridCol w="960120"/>
                <a:gridCol w="960120"/>
              </a:tblGrid>
              <a:tr h="420480">
                <a:tc>
                  <a:txBody>
                    <a:bodyPr lIns="50760" rIns="50760" tIns="2520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Model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e2e8f0"/>
                      </a:solidFill>
                      <a:prstDash val="solid"/>
                    </a:lnL>
                    <a:lnR w="9360">
                      <a:solidFill>
                        <a:srgbClr val="e2e8f0"/>
                      </a:solidFill>
                      <a:prstDash val="solid"/>
                    </a:lnR>
                    <a:lnT w="9360">
                      <a:solidFill>
                        <a:srgbClr val="e2e8f0"/>
                      </a:solidFill>
                      <a:prstDash val="solid"/>
                    </a:lnT>
                    <a:lnB w="9360">
                      <a:solidFill>
                        <a:srgbClr val="e2e8f0"/>
                      </a:solidFill>
                      <a:prstDash val="solid"/>
                    </a:lnB>
                    <a:solidFill>
                      <a:srgbClr val="0f2a3f"/>
                    </a:solidFill>
                  </a:tcPr>
                </a:tc>
                <a:tc>
                  <a:txBody>
                    <a:bodyPr lIns="50760" rIns="50760" tIns="2520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Macro-F1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e2e8f0"/>
                      </a:solidFill>
                      <a:prstDash val="solid"/>
                    </a:lnL>
                    <a:lnR w="9360">
                      <a:solidFill>
                        <a:srgbClr val="e2e8f0"/>
                      </a:solidFill>
                      <a:prstDash val="solid"/>
                    </a:lnR>
                    <a:lnT w="9360">
                      <a:solidFill>
                        <a:srgbClr val="e2e8f0"/>
                      </a:solidFill>
                      <a:prstDash val="solid"/>
                    </a:lnT>
                    <a:lnB w="9360">
                      <a:solidFill>
                        <a:srgbClr val="e2e8f0"/>
                      </a:solidFill>
                      <a:prstDash val="solid"/>
                    </a:lnB>
                    <a:solidFill>
                      <a:srgbClr val="0f2a3f"/>
                    </a:solidFill>
                  </a:tcPr>
                </a:tc>
                <a:tc>
                  <a:txBody>
                    <a:bodyPr lIns="50760" rIns="50760" tIns="2520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Malig. F1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e2e8f0"/>
                      </a:solidFill>
                      <a:prstDash val="solid"/>
                    </a:lnL>
                    <a:lnR w="9360">
                      <a:solidFill>
                        <a:srgbClr val="e2e8f0"/>
                      </a:solidFill>
                      <a:prstDash val="solid"/>
                    </a:lnR>
                    <a:lnT w="9360">
                      <a:solidFill>
                        <a:srgbClr val="e2e8f0"/>
                      </a:solidFill>
                      <a:prstDash val="solid"/>
                    </a:lnT>
                    <a:lnB w="9360">
                      <a:solidFill>
                        <a:srgbClr val="e2e8f0"/>
                      </a:solidFill>
                      <a:prstDash val="solid"/>
                    </a:lnB>
                    <a:solidFill>
                      <a:srgbClr val="0f2a3f"/>
                    </a:solidFill>
                  </a:tcPr>
                </a:tc>
                <a:tc>
                  <a:txBody>
                    <a:bodyPr lIns="50760" rIns="50760" tIns="2520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Benign rec.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e2e8f0"/>
                      </a:solidFill>
                      <a:prstDash val="solid"/>
                    </a:lnL>
                    <a:lnR w="9360">
                      <a:solidFill>
                        <a:srgbClr val="e2e8f0"/>
                      </a:solidFill>
                      <a:prstDash val="solid"/>
                    </a:lnR>
                    <a:lnT w="9360">
                      <a:solidFill>
                        <a:srgbClr val="e2e8f0"/>
                      </a:solidFill>
                      <a:prstDash val="solid"/>
                    </a:lnT>
                    <a:lnB w="9360">
                      <a:solidFill>
                        <a:srgbClr val="e2e8f0"/>
                      </a:solidFill>
                      <a:prstDash val="solid"/>
                    </a:lnB>
                    <a:solidFill>
                      <a:srgbClr val="0f2a3f"/>
                    </a:solidFill>
                  </a:tcPr>
                </a:tc>
              </a:tr>
              <a:tr h="475200">
                <a:tc>
                  <a:txBody>
                    <a:bodyPr lIns="50760" rIns="50760" t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1" u="none" strike="noStrike">
                          <a:solidFill>
                            <a:srgbClr val="0f2a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STL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e2e8f0"/>
                      </a:solidFill>
                      <a:prstDash val="solid"/>
                    </a:lnL>
                    <a:lnR w="9360">
                      <a:solidFill>
                        <a:srgbClr val="e2e8f0"/>
                      </a:solidFill>
                      <a:prstDash val="solid"/>
                    </a:lnR>
                    <a:lnT w="9360">
                      <a:solidFill>
                        <a:srgbClr val="e2e8f0"/>
                      </a:solidFill>
                      <a:prstDash val="solid"/>
                    </a:lnT>
                    <a:lnB w="936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760" rIns="50760" tIns="2520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0d948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0.56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e2e8f0"/>
                      </a:solidFill>
                      <a:prstDash val="solid"/>
                    </a:lnL>
                    <a:lnR w="9360">
                      <a:solidFill>
                        <a:srgbClr val="e2e8f0"/>
                      </a:solidFill>
                      <a:prstDash val="solid"/>
                    </a:lnR>
                    <a:lnT w="9360">
                      <a:solidFill>
                        <a:srgbClr val="e2e8f0"/>
                      </a:solidFill>
                      <a:prstDash val="solid"/>
                    </a:lnT>
                    <a:lnB w="936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760" rIns="50760" tIns="2520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0.72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e2e8f0"/>
                      </a:solidFill>
                      <a:prstDash val="solid"/>
                    </a:lnL>
                    <a:lnR w="9360">
                      <a:solidFill>
                        <a:srgbClr val="e2e8f0"/>
                      </a:solidFill>
                      <a:prstDash val="solid"/>
                    </a:lnR>
                    <a:lnT w="9360">
                      <a:solidFill>
                        <a:srgbClr val="e2e8f0"/>
                      </a:solidFill>
                      <a:prstDash val="solid"/>
                    </a:lnT>
                    <a:lnB w="936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760" rIns="50760" tIns="2520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0d948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0.32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e2e8f0"/>
                      </a:solidFill>
                      <a:prstDash val="solid"/>
                    </a:lnL>
                    <a:lnR w="9360">
                      <a:solidFill>
                        <a:srgbClr val="e2e8f0"/>
                      </a:solidFill>
                      <a:prstDash val="solid"/>
                    </a:lnR>
                    <a:lnT w="9360">
                      <a:solidFill>
                        <a:srgbClr val="e2e8f0"/>
                      </a:solidFill>
                      <a:prstDash val="solid"/>
                    </a:lnT>
                    <a:lnB w="936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50760" rIns="50760" t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1" u="none" strike="noStrike">
                          <a:solidFill>
                            <a:srgbClr val="0f2a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Cross-stitch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e2e8f0"/>
                      </a:solidFill>
                      <a:prstDash val="solid"/>
                    </a:lnL>
                    <a:lnR w="9360">
                      <a:solidFill>
                        <a:srgbClr val="e2e8f0"/>
                      </a:solidFill>
                      <a:prstDash val="solid"/>
                    </a:lnR>
                    <a:lnT w="9360">
                      <a:solidFill>
                        <a:srgbClr val="e2e8f0"/>
                      </a:solidFill>
                      <a:prstDash val="solid"/>
                    </a:lnT>
                    <a:lnB w="9360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50760" rIns="50760" tIns="2520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0.55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e2e8f0"/>
                      </a:solidFill>
                      <a:prstDash val="solid"/>
                    </a:lnL>
                    <a:lnR w="9360">
                      <a:solidFill>
                        <a:srgbClr val="e2e8f0"/>
                      </a:solidFill>
                      <a:prstDash val="solid"/>
                    </a:lnR>
                    <a:lnT w="9360">
                      <a:solidFill>
                        <a:srgbClr val="e2e8f0"/>
                      </a:solidFill>
                      <a:prstDash val="solid"/>
                    </a:lnT>
                    <a:lnB w="9360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50760" rIns="50760" tIns="2520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0d948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0.74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e2e8f0"/>
                      </a:solidFill>
                      <a:prstDash val="solid"/>
                    </a:lnL>
                    <a:lnR w="9360">
                      <a:solidFill>
                        <a:srgbClr val="e2e8f0"/>
                      </a:solidFill>
                      <a:prstDash val="solid"/>
                    </a:lnR>
                    <a:lnT w="9360">
                      <a:solidFill>
                        <a:srgbClr val="e2e8f0"/>
                      </a:solidFill>
                      <a:prstDash val="solid"/>
                    </a:lnT>
                    <a:lnB w="9360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50760" rIns="50760" tIns="2520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0.24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e2e8f0"/>
                      </a:solidFill>
                      <a:prstDash val="solid"/>
                    </a:lnL>
                    <a:lnR w="9360">
                      <a:solidFill>
                        <a:srgbClr val="e2e8f0"/>
                      </a:solidFill>
                      <a:prstDash val="solid"/>
                    </a:lnR>
                    <a:lnT w="9360">
                      <a:solidFill>
                        <a:srgbClr val="e2e8f0"/>
                      </a:solidFill>
                      <a:prstDash val="solid"/>
                    </a:lnT>
                    <a:lnB w="9360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475200">
                <a:tc>
                  <a:txBody>
                    <a:bodyPr lIns="50760" rIns="50760" tIns="2520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1" u="none" strike="noStrike">
                          <a:solidFill>
                            <a:srgbClr val="0f2a3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Co-attention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e2e8f0"/>
                      </a:solidFill>
                      <a:prstDash val="solid"/>
                    </a:lnL>
                    <a:lnR w="9360">
                      <a:solidFill>
                        <a:srgbClr val="e2e8f0"/>
                      </a:solidFill>
                      <a:prstDash val="solid"/>
                    </a:lnR>
                    <a:lnT w="9360">
                      <a:solidFill>
                        <a:srgbClr val="e2e8f0"/>
                      </a:solidFill>
                      <a:prstDash val="solid"/>
                    </a:lnT>
                    <a:lnB w="936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760" rIns="50760" tIns="2520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0.49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e2e8f0"/>
                      </a:solidFill>
                      <a:prstDash val="solid"/>
                    </a:lnL>
                    <a:lnR w="9360">
                      <a:solidFill>
                        <a:srgbClr val="e2e8f0"/>
                      </a:solidFill>
                      <a:prstDash val="solid"/>
                    </a:lnR>
                    <a:lnT w="9360">
                      <a:solidFill>
                        <a:srgbClr val="e2e8f0"/>
                      </a:solidFill>
                      <a:prstDash val="solid"/>
                    </a:lnT>
                    <a:lnB w="936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760" rIns="50760" tIns="2520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0.72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e2e8f0"/>
                      </a:solidFill>
                      <a:prstDash val="solid"/>
                    </a:lnL>
                    <a:lnR w="9360">
                      <a:solidFill>
                        <a:srgbClr val="e2e8f0"/>
                      </a:solidFill>
                      <a:prstDash val="solid"/>
                    </a:lnR>
                    <a:lnT w="9360">
                      <a:solidFill>
                        <a:srgbClr val="e2e8f0"/>
                      </a:solidFill>
                      <a:prstDash val="solid"/>
                    </a:lnT>
                    <a:lnB w="936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50760" rIns="50760" tIns="25200" bIns="252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150" b="0" u="none" strike="noStrike">
                          <a:solidFill>
                            <a:srgbClr val="b4530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0.17</a:t>
                      </a:r>
                      <a:endParaRPr lang="en-US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50760" marR="50760" marT="25200" marB="25200">
                    <a:lnL w="9360">
                      <a:solidFill>
                        <a:srgbClr val="e2e8f0"/>
                      </a:solidFill>
                      <a:prstDash val="solid"/>
                    </a:lnL>
                    <a:lnR w="9360">
                      <a:solidFill>
                        <a:srgbClr val="e2e8f0"/>
                      </a:solidFill>
                      <a:prstDash val="solid"/>
                    </a:lnR>
                    <a:lnT w="9360">
                      <a:solidFill>
                        <a:srgbClr val="e2e8f0"/>
                      </a:solidFill>
                      <a:prstDash val="solid"/>
                    </a:lnT>
                    <a:lnB w="936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4" name="Shape 3"/>
          <p:cNvSpPr/>
          <p:nvPr/>
        </p:nvSpPr>
        <p:spPr>
          <a:xfrm>
            <a:off x="7086600" y="4114800"/>
            <a:ext cx="4461840" cy="150840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4"/>
          <p:cNvSpPr/>
          <p:nvPr/>
        </p:nvSpPr>
        <p:spPr>
          <a:xfrm>
            <a:off x="7360920" y="4260960"/>
            <a:ext cx="3913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pc="150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THE TRADE-OFF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5"/>
          <p:cNvSpPr/>
          <p:nvPr/>
        </p:nvSpPr>
        <p:spPr>
          <a:xfrm>
            <a:off x="7360920" y="4553640"/>
            <a:ext cx="39132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4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Cross-stitch nudges malignant recall up to 0.90, but </a:t>
            </a:r>
            <a:r>
              <a:rPr lang="en-US" sz="1250" b="1" u="none" strike="noStrike">
                <a:solidFill>
                  <a:srgbClr val="b45309"/>
                </a:solidFill>
                <a:effectLst/>
                <a:uFillTx/>
                <a:latin typeface="Calibri"/>
                <a:ea typeface="Calibri"/>
              </a:rPr>
              <a:t>erodes benign recall</a:t>
            </a: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 — leaving macro-F1 flat. Co-attention is worse on every metric. </a:t>
            </a:r>
            <a:r>
              <a:rPr lang="en-US" sz="1250" b="1" u="none" strike="noStrike">
                <a:solidFill>
                  <a:srgbClr val="0f2a3f"/>
                </a:solidFill>
                <a:effectLst/>
                <a:uFillTx/>
                <a:latin typeface="Calibri"/>
                <a:ea typeface="Calibri"/>
              </a:rPr>
              <a:t>No clear gain from sharing.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6"/>
          <p:cNvSpPr/>
          <p:nvPr/>
        </p:nvSpPr>
        <p:spPr>
          <a:xfrm>
            <a:off x="64008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Lung Nodule Prognostics  ·  MultiTaskCrossTalkNet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7"/>
          <p:cNvSpPr/>
          <p:nvPr/>
        </p:nvSpPr>
        <p:spPr>
          <a:xfrm>
            <a:off x="11064240" y="65106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 0"/>
          <p:cNvSpPr/>
          <p:nvPr/>
        </p:nvSpPr>
        <p:spPr>
          <a:xfrm>
            <a:off x="640080" y="42048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pc="261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RESULTS · TEXTURE &amp; QUALITATIVE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"/>
          <p:cNvSpPr/>
          <p:nvPr/>
        </p:nvSpPr>
        <p:spPr>
          <a:xfrm>
            <a:off x="640080" y="749880"/>
            <a:ext cx="10881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300" b="1" u="none" strike="noStrike">
                <a:solidFill>
                  <a:srgbClr val="0f2a3f"/>
                </a:solidFill>
                <a:effectLst/>
                <a:uFillTx/>
                <a:latin typeface="Georgia"/>
                <a:ea typeface="Georgia"/>
              </a:rPr>
              <a:t>All models collapse to “solid”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"/>
          <p:cNvSpPr/>
          <p:nvPr/>
        </p:nvSpPr>
        <p:spPr>
          <a:xfrm>
            <a:off x="640080" y="160020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For texture, STL, cross-stitch and co-attention give </a:t>
            </a:r>
            <a:r>
              <a:rPr lang="en-US" sz="1350" b="1" u="none" strike="noStrike">
                <a:solidFill>
                  <a:srgbClr val="0f2a3f"/>
                </a:solidFill>
                <a:effectLst/>
                <a:uFillTx/>
                <a:latin typeface="Calibri"/>
                <a:ea typeface="Calibri"/>
              </a:rPr>
              <a:t>identical predictions</a:t>
            </a:r>
            <a:r>
              <a:rPr lang="en-US" sz="13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 — every nodule labelled solid (macro-F1 0.33) — because 97 of 101 test samples are solid. The four held-out crops below compare ground truth (GT) with the cross-stitch model's prediction (Pred).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2" name="Image 0" descr="assets/q000.png"/>
          <p:cNvPicPr/>
          <p:nvPr/>
        </p:nvPicPr>
        <p:blipFill>
          <a:blip r:embed="rId1"/>
          <a:stretch/>
        </p:blipFill>
        <p:spPr>
          <a:xfrm>
            <a:off x="640080" y="2395800"/>
            <a:ext cx="2212560" cy="221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3" name="Shape 3"/>
          <p:cNvSpPr/>
          <p:nvPr/>
        </p:nvSpPr>
        <p:spPr>
          <a:xfrm>
            <a:off x="640080" y="2395800"/>
            <a:ext cx="2212560" cy="2212560"/>
          </a:xfrm>
          <a:prstGeom prst="rect">
            <a:avLst/>
          </a:prstGeom>
          <a:noFill/>
          <a:ln w="254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4"/>
          <p:cNvSpPr/>
          <p:nvPr/>
        </p:nvSpPr>
        <p:spPr>
          <a:xfrm>
            <a:off x="2395800" y="2487240"/>
            <a:ext cx="365400" cy="36540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5" name="Image 1" descr="preencoded.png"/>
          <p:cNvPicPr/>
          <p:nvPr/>
        </p:nvPicPr>
        <p:blipFill>
          <a:blip r:embed="rId2"/>
          <a:stretch/>
        </p:blipFill>
        <p:spPr>
          <a:xfrm>
            <a:off x="2494440" y="2585880"/>
            <a:ext cx="167760" cy="16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Text 5"/>
          <p:cNvSpPr/>
          <p:nvPr/>
        </p:nvSpPr>
        <p:spPr>
          <a:xfrm>
            <a:off x="594360" y="4700160"/>
            <a:ext cx="2304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lang="en-US" sz="1100" b="1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GT:  </a:t>
            </a:r>
            <a:r>
              <a:rPr lang="en-US" sz="1100" b="1" u="none" strike="noStrike">
                <a:solidFill>
                  <a:srgbClr val="0f2a3f"/>
                </a:solidFill>
                <a:effectLst/>
                <a:uFillTx/>
                <a:latin typeface="Calibri"/>
                <a:ea typeface="Calibri"/>
              </a:rPr>
              <a:t>Solid · Benign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Pred:  </a:t>
            </a:r>
            <a:r>
              <a:rPr lang="en-US" sz="1100" b="1" u="none" strike="noStrike">
                <a:solidFill>
                  <a:srgbClr val="b45309"/>
                </a:solidFill>
                <a:effectLst/>
                <a:uFillTx/>
                <a:latin typeface="Calibri"/>
                <a:ea typeface="Calibri"/>
              </a:rPr>
              <a:t>Solid · Malignant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7" name="Image 2" descr="assets/q001.png"/>
          <p:cNvPicPr/>
          <p:nvPr/>
        </p:nvPicPr>
        <p:blipFill>
          <a:blip r:embed="rId3"/>
          <a:stretch/>
        </p:blipFill>
        <p:spPr>
          <a:xfrm>
            <a:off x="3566160" y="2395800"/>
            <a:ext cx="2212560" cy="221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Shape 6"/>
          <p:cNvSpPr/>
          <p:nvPr/>
        </p:nvSpPr>
        <p:spPr>
          <a:xfrm>
            <a:off x="3566160" y="2395800"/>
            <a:ext cx="2212560" cy="2212560"/>
          </a:xfrm>
          <a:prstGeom prst="rect">
            <a:avLst/>
          </a:prstGeom>
          <a:noFill/>
          <a:ln w="25400">
            <a:solidFill>
              <a:srgbClr val="15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7"/>
          <p:cNvSpPr/>
          <p:nvPr/>
        </p:nvSpPr>
        <p:spPr>
          <a:xfrm>
            <a:off x="5321880" y="2487240"/>
            <a:ext cx="365400" cy="365400"/>
          </a:xfrm>
          <a:prstGeom prst="ellipse">
            <a:avLst/>
          </a:prstGeom>
          <a:solidFill>
            <a:srgbClr val="15a34a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0" name="Image 3" descr="preencoded.png"/>
          <p:cNvPicPr/>
          <p:nvPr/>
        </p:nvPicPr>
        <p:blipFill>
          <a:blip r:embed="rId4"/>
          <a:stretch/>
        </p:blipFill>
        <p:spPr>
          <a:xfrm>
            <a:off x="5420520" y="2585880"/>
            <a:ext cx="167760" cy="16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1" name="Text 8"/>
          <p:cNvSpPr/>
          <p:nvPr/>
        </p:nvSpPr>
        <p:spPr>
          <a:xfrm>
            <a:off x="3520440" y="4700160"/>
            <a:ext cx="2304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lang="en-US" sz="1100" b="1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GT:  </a:t>
            </a:r>
            <a:r>
              <a:rPr lang="en-US" sz="1100" b="1" u="none" strike="noStrike">
                <a:solidFill>
                  <a:srgbClr val="0f2a3f"/>
                </a:solidFill>
                <a:effectLst/>
                <a:uFillTx/>
                <a:latin typeface="Calibri"/>
                <a:ea typeface="Calibri"/>
              </a:rPr>
              <a:t>Solid · Malignant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Pred:  </a:t>
            </a:r>
            <a:r>
              <a:rPr lang="en-US" sz="1100" b="1" u="none" strike="noStrike">
                <a:solidFill>
                  <a:srgbClr val="0b7268"/>
                </a:solidFill>
                <a:effectLst/>
                <a:uFillTx/>
                <a:latin typeface="Calibri"/>
                <a:ea typeface="Calibri"/>
              </a:rPr>
              <a:t>Solid · Malignant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2" name="Image 4" descr="assets/q002.png"/>
          <p:cNvPicPr/>
          <p:nvPr/>
        </p:nvPicPr>
        <p:blipFill>
          <a:blip r:embed="rId5"/>
          <a:stretch/>
        </p:blipFill>
        <p:spPr>
          <a:xfrm>
            <a:off x="6492240" y="2395800"/>
            <a:ext cx="2212560" cy="221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" name="Shape 9"/>
          <p:cNvSpPr/>
          <p:nvPr/>
        </p:nvSpPr>
        <p:spPr>
          <a:xfrm>
            <a:off x="6492240" y="2395800"/>
            <a:ext cx="2212560" cy="2212560"/>
          </a:xfrm>
          <a:prstGeom prst="rect">
            <a:avLst/>
          </a:prstGeom>
          <a:noFill/>
          <a:ln w="254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0"/>
          <p:cNvSpPr/>
          <p:nvPr/>
        </p:nvSpPr>
        <p:spPr>
          <a:xfrm>
            <a:off x="8247960" y="2487240"/>
            <a:ext cx="365400" cy="36540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5" name="Image 5" descr="preencoded.png"/>
          <p:cNvPicPr/>
          <p:nvPr/>
        </p:nvPicPr>
        <p:blipFill>
          <a:blip r:embed="rId6"/>
          <a:stretch/>
        </p:blipFill>
        <p:spPr>
          <a:xfrm>
            <a:off x="8346600" y="2585880"/>
            <a:ext cx="167760" cy="16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" name="Text 11"/>
          <p:cNvSpPr/>
          <p:nvPr/>
        </p:nvSpPr>
        <p:spPr>
          <a:xfrm>
            <a:off x="6446520" y="4700160"/>
            <a:ext cx="2304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lang="en-US" sz="1100" b="1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GT:  </a:t>
            </a:r>
            <a:r>
              <a:rPr lang="en-US" sz="1100" b="1" u="none" strike="noStrike">
                <a:solidFill>
                  <a:srgbClr val="0f2a3f"/>
                </a:solidFill>
                <a:effectLst/>
                <a:uFillTx/>
                <a:latin typeface="Calibri"/>
                <a:ea typeface="Calibri"/>
              </a:rPr>
              <a:t>Solid · Benign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Pred:  </a:t>
            </a:r>
            <a:r>
              <a:rPr lang="en-US" sz="1100" b="1" u="none" strike="noStrike">
                <a:solidFill>
                  <a:srgbClr val="b45309"/>
                </a:solidFill>
                <a:effectLst/>
                <a:uFillTx/>
                <a:latin typeface="Calibri"/>
                <a:ea typeface="Calibri"/>
              </a:rPr>
              <a:t>Solid · Malignant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7" name="Image 6" descr="assets/q003.png"/>
          <p:cNvPicPr/>
          <p:nvPr/>
        </p:nvPicPr>
        <p:blipFill>
          <a:blip r:embed="rId7"/>
          <a:stretch/>
        </p:blipFill>
        <p:spPr>
          <a:xfrm>
            <a:off x="9418320" y="2395800"/>
            <a:ext cx="2212560" cy="221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Shape 12"/>
          <p:cNvSpPr/>
          <p:nvPr/>
        </p:nvSpPr>
        <p:spPr>
          <a:xfrm>
            <a:off x="9418320" y="2395800"/>
            <a:ext cx="2212560" cy="2212560"/>
          </a:xfrm>
          <a:prstGeom prst="rect">
            <a:avLst/>
          </a:prstGeom>
          <a:noFill/>
          <a:ln w="254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13"/>
          <p:cNvSpPr/>
          <p:nvPr/>
        </p:nvSpPr>
        <p:spPr>
          <a:xfrm>
            <a:off x="11174040" y="2487240"/>
            <a:ext cx="365400" cy="36540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0" name="Image 7" descr="preencoded.png"/>
          <p:cNvPicPr/>
          <p:nvPr/>
        </p:nvPicPr>
        <p:blipFill>
          <a:blip r:embed="rId8"/>
          <a:stretch/>
        </p:blipFill>
        <p:spPr>
          <a:xfrm>
            <a:off x="11272680" y="2585880"/>
            <a:ext cx="167760" cy="16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Text 14"/>
          <p:cNvSpPr/>
          <p:nvPr/>
        </p:nvSpPr>
        <p:spPr>
          <a:xfrm>
            <a:off x="9372600" y="4700160"/>
            <a:ext cx="2304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lang="en-US" sz="1100" b="1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GT:  </a:t>
            </a:r>
            <a:r>
              <a:rPr lang="en-US" sz="1100" b="1" u="none" strike="noStrike">
                <a:solidFill>
                  <a:srgbClr val="0f2a3f"/>
                </a:solidFill>
                <a:effectLst/>
                <a:uFillTx/>
                <a:latin typeface="Calibri"/>
                <a:ea typeface="Calibri"/>
              </a:rPr>
              <a:t>Ground-glass · Malignant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2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Pred:  </a:t>
            </a:r>
            <a:r>
              <a:rPr lang="en-US" sz="1100" b="1" u="none" strike="noStrike">
                <a:solidFill>
                  <a:srgbClr val="b45309"/>
                </a:solidFill>
                <a:effectLst/>
                <a:uFillTx/>
                <a:latin typeface="Calibri"/>
                <a:ea typeface="Calibri"/>
              </a:rPr>
              <a:t>Solid · Benign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5"/>
          <p:cNvSpPr/>
          <p:nvPr/>
        </p:nvSpPr>
        <p:spPr>
          <a:xfrm>
            <a:off x="640080" y="5669280"/>
            <a:ext cx="10908360" cy="63972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f3df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6"/>
          <p:cNvSpPr/>
          <p:nvPr/>
        </p:nvSpPr>
        <p:spPr>
          <a:xfrm>
            <a:off x="914400" y="566928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b45309"/>
                </a:solidFill>
                <a:effectLst/>
                <a:uFillTx/>
                <a:latin typeface="Calibri"/>
                <a:ea typeface="Calibri"/>
              </a:rPr>
              <a:t>Takeaway.  </a:t>
            </a:r>
            <a:r>
              <a:rPr lang="en-US" sz="1250" b="0" u="none" strike="noStrike">
                <a:solidFill>
                  <a:srgbClr val="8a6a2a"/>
                </a:solidFill>
                <a:effectLst/>
                <a:uFillTx/>
                <a:latin typeface="Calibri"/>
                <a:ea typeface="Calibri"/>
              </a:rPr>
              <a:t>With no learning gradient for the minority subtypes, the cross-talk signal carries no useful information — and can reinforce the existing majority-class bias.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7"/>
          <p:cNvSpPr/>
          <p:nvPr/>
        </p:nvSpPr>
        <p:spPr>
          <a:xfrm>
            <a:off x="64008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Lung Nodule Prognostics  ·  MultiTaskCrossTalkNet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8"/>
          <p:cNvSpPr/>
          <p:nvPr/>
        </p:nvSpPr>
        <p:spPr>
          <a:xfrm>
            <a:off x="11064240" y="65106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ext 0"/>
          <p:cNvSpPr/>
          <p:nvPr/>
        </p:nvSpPr>
        <p:spPr>
          <a:xfrm>
            <a:off x="640080" y="42048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pc="261" strike="noStrik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THE HONEST NEGATIVE RESULT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"/>
          <p:cNvSpPr/>
          <p:nvPr/>
        </p:nvSpPr>
        <p:spPr>
          <a:xfrm>
            <a:off x="640080" y="868680"/>
            <a:ext cx="10515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The hypothesis was not supported — and that is a useful result.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2"/>
          <p:cNvSpPr/>
          <p:nvPr/>
        </p:nvSpPr>
        <p:spPr>
          <a:xfrm>
            <a:off x="640080" y="2606040"/>
            <a:ext cx="3456000" cy="3108600"/>
          </a:xfrm>
          <a:prstGeom prst="roundRect">
            <a:avLst>
              <a:gd name="adj" fmla="val 2941"/>
            </a:avLst>
          </a:prstGeom>
          <a:solidFill>
            <a:srgbClr val="1235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3"/>
          <p:cNvSpPr/>
          <p:nvPr/>
        </p:nvSpPr>
        <p:spPr>
          <a:xfrm>
            <a:off x="960120" y="2880360"/>
            <a:ext cx="2815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59e0b"/>
                </a:solidFill>
                <a:effectLst/>
                <a:uFillTx/>
                <a:latin typeface="Georgia"/>
                <a:ea typeface="Georgia"/>
              </a:rPr>
              <a:t>01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4"/>
          <p:cNvSpPr/>
          <p:nvPr/>
        </p:nvSpPr>
        <p:spPr>
          <a:xfrm>
            <a:off x="960120" y="3630240"/>
            <a:ext cx="2815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Not the architecture — the data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5"/>
          <p:cNvSpPr/>
          <p:nvPr/>
        </p:nvSpPr>
        <p:spPr>
          <a:xfrm>
            <a:off x="960120" y="4389120"/>
            <a:ext cx="28159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6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a9d6d0"/>
                </a:solidFill>
                <a:effectLst/>
                <a:uFillTx/>
                <a:latin typeface="Calibri"/>
                <a:ea typeface="Calibri"/>
              </a:rPr>
              <a:t>The bottleneck was class distribution and label quality, not the cross-talk design itself.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6"/>
          <p:cNvSpPr/>
          <p:nvPr/>
        </p:nvSpPr>
        <p:spPr>
          <a:xfrm>
            <a:off x="4370760" y="2606040"/>
            <a:ext cx="3456000" cy="3108600"/>
          </a:xfrm>
          <a:prstGeom prst="roundRect">
            <a:avLst>
              <a:gd name="adj" fmla="val 2941"/>
            </a:avLst>
          </a:prstGeom>
          <a:solidFill>
            <a:srgbClr val="1235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7"/>
          <p:cNvSpPr/>
          <p:nvPr/>
        </p:nvSpPr>
        <p:spPr>
          <a:xfrm>
            <a:off x="4690800" y="2880360"/>
            <a:ext cx="2815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59e0b"/>
                </a:solidFill>
                <a:effectLst/>
                <a:uFillTx/>
                <a:latin typeface="Georgia"/>
                <a:ea typeface="Georgia"/>
              </a:rPr>
              <a:t>02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8"/>
          <p:cNvSpPr/>
          <p:nvPr/>
        </p:nvSpPr>
        <p:spPr>
          <a:xfrm>
            <a:off x="4690800" y="3630240"/>
            <a:ext cx="2815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Negative transfer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9"/>
          <p:cNvSpPr/>
          <p:nvPr/>
        </p:nvSpPr>
        <p:spPr>
          <a:xfrm>
            <a:off x="4690800" y="4389120"/>
            <a:ext cx="28159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6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a9d6d0"/>
                </a:solidFill>
                <a:effectLst/>
                <a:uFillTx/>
                <a:latin typeface="Calibri"/>
                <a:ea typeface="Calibri"/>
              </a:rPr>
              <a:t>A degenerate texture branch (“always solid”) passed no useful gradient and reinforced the malignant-majority bias.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0"/>
          <p:cNvSpPr/>
          <p:nvPr/>
        </p:nvSpPr>
        <p:spPr>
          <a:xfrm>
            <a:off x="8101440" y="2606040"/>
            <a:ext cx="3456000" cy="3108600"/>
          </a:xfrm>
          <a:prstGeom prst="roundRect">
            <a:avLst>
              <a:gd name="adj" fmla="val 2941"/>
            </a:avLst>
          </a:prstGeom>
          <a:solidFill>
            <a:srgbClr val="1235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1"/>
          <p:cNvSpPr/>
          <p:nvPr/>
        </p:nvSpPr>
        <p:spPr>
          <a:xfrm>
            <a:off x="8421480" y="2880360"/>
            <a:ext cx="2815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59e0b"/>
                </a:solidFill>
                <a:effectLst/>
                <a:uFillTx/>
                <a:latin typeface="Georgia"/>
                <a:ea typeface="Georgia"/>
              </a:rPr>
              <a:t>03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2"/>
          <p:cNvSpPr/>
          <p:nvPr/>
        </p:nvSpPr>
        <p:spPr>
          <a:xfrm>
            <a:off x="8421480" y="3630240"/>
            <a:ext cx="2815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2000"/>
              </a:lnSpc>
              <a:tabLst>
                <a:tab algn="l" pos="0"/>
              </a:tabLst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Honest reporting matters</a:t>
            </a:r>
            <a:endParaRPr lang="en-US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3"/>
          <p:cNvSpPr/>
          <p:nvPr/>
        </p:nvSpPr>
        <p:spPr>
          <a:xfrm>
            <a:off x="8421480" y="4389120"/>
            <a:ext cx="28159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6000"/>
              </a:lnSpc>
              <a:tabLst>
                <a:tab algn="l" pos="0"/>
              </a:tabLst>
            </a:pPr>
            <a:r>
              <a:rPr lang="en-US" sz="1250" b="0" u="none" strike="noStrike">
                <a:solidFill>
                  <a:srgbClr val="a9d6d0"/>
                </a:solidFill>
                <a:effectLst/>
                <a:uFillTx/>
                <a:latin typeface="Calibri"/>
                <a:ea typeface="Calibri"/>
              </a:rPr>
              <a:t>A clear negative result is a real signal for others applying multi-task learning to small, imbalanced medical datasets.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4"/>
          <p:cNvSpPr/>
          <p:nvPr/>
        </p:nvSpPr>
        <p:spPr>
          <a:xfrm>
            <a:off x="64008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5b7a86"/>
                </a:solidFill>
                <a:effectLst/>
                <a:uFillTx/>
                <a:latin typeface="Calibri"/>
                <a:ea typeface="Calibri"/>
              </a:rPr>
              <a:t>Lung Nodule Prognostics  ·  MultiTaskCrossTalkNet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5"/>
          <p:cNvSpPr/>
          <p:nvPr/>
        </p:nvSpPr>
        <p:spPr>
          <a:xfrm>
            <a:off x="11064240" y="65106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5b7a86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Text 0"/>
          <p:cNvSpPr/>
          <p:nvPr/>
        </p:nvSpPr>
        <p:spPr>
          <a:xfrm>
            <a:off x="640080" y="42048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pc="261" strike="noStrike">
                <a:solidFill>
                  <a:srgbClr val="0d9488"/>
                </a:solidFill>
                <a:effectLst/>
                <a:uFillTx/>
                <a:latin typeface="Calibri"/>
                <a:ea typeface="Calibri"/>
              </a:rPr>
              <a:t>LIMITATIONS &amp; FUTURE WORK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"/>
          <p:cNvSpPr/>
          <p:nvPr/>
        </p:nvSpPr>
        <p:spPr>
          <a:xfrm>
            <a:off x="640080" y="749880"/>
            <a:ext cx="108810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300" b="1" u="none" strike="noStrike">
                <a:solidFill>
                  <a:srgbClr val="0f2a3f"/>
                </a:solidFill>
                <a:effectLst/>
                <a:uFillTx/>
                <a:latin typeface="Georgia"/>
                <a:ea typeface="Georgia"/>
              </a:rPr>
              <a:t>What to fix, and what comes next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2"/>
          <p:cNvSpPr/>
          <p:nvPr/>
        </p:nvSpPr>
        <p:spPr>
          <a:xfrm>
            <a:off x="640080" y="1828800"/>
            <a:ext cx="5348880" cy="4160160"/>
          </a:xfrm>
          <a:prstGeom prst="roundRect">
            <a:avLst>
              <a:gd name="adj" fmla="val 2198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algn="bl" blurRad="114480" dir="8100000" dist="37674" kx="0" ky="0" rotWithShape="0" sx="100000" sy="100000">
              <a:srgbClr val="334155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3"/>
          <p:cNvSpPr/>
          <p:nvPr/>
        </p:nvSpPr>
        <p:spPr>
          <a:xfrm>
            <a:off x="831960" y="2039040"/>
            <a:ext cx="712800" cy="7128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6" name="Image 0" descr="preencoded.png"/>
          <p:cNvPicPr/>
          <p:nvPr/>
        </p:nvPicPr>
        <p:blipFill>
          <a:blip r:embed="rId1"/>
          <a:stretch/>
        </p:blipFill>
        <p:spPr>
          <a:xfrm>
            <a:off x="1010520" y="2217600"/>
            <a:ext cx="3564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7" name="Text 4"/>
          <p:cNvSpPr/>
          <p:nvPr/>
        </p:nvSpPr>
        <p:spPr>
          <a:xfrm>
            <a:off x="1627560" y="2121480"/>
            <a:ext cx="4251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900" b="1" u="none" strike="noStrike">
                <a:solidFill>
                  <a:srgbClr val="0f2a3f"/>
                </a:solidFill>
                <a:effectLst/>
                <a:uFillTx/>
                <a:latin typeface="Georgia"/>
                <a:ea typeface="Georgia"/>
              </a:rPr>
              <a:t>Limitations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5"/>
          <p:cNvSpPr/>
          <p:nvPr/>
        </p:nvSpPr>
        <p:spPr>
          <a:xfrm>
            <a:off x="1005840" y="3026520"/>
            <a:ext cx="145800" cy="1458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6"/>
          <p:cNvSpPr/>
          <p:nvPr/>
        </p:nvSpPr>
        <p:spPr>
          <a:xfrm>
            <a:off x="1298520" y="2926080"/>
            <a:ext cx="43887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0f2a3f"/>
                </a:solidFill>
                <a:effectLst/>
                <a:uFillTx/>
                <a:latin typeface="Calibri"/>
                <a:ea typeface="Calibri"/>
              </a:rPr>
              <a:t>Extreme class imbalance — </a:t>
            </a: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97 of 101 test nodules solid — minority subtypes cannot be meaningfully evaluated.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7"/>
          <p:cNvSpPr/>
          <p:nvPr/>
        </p:nvSpPr>
        <p:spPr>
          <a:xfrm>
            <a:off x="1005840" y="3767400"/>
            <a:ext cx="145800" cy="1458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8"/>
          <p:cNvSpPr/>
          <p:nvPr/>
        </p:nvSpPr>
        <p:spPr>
          <a:xfrm>
            <a:off x="1298520" y="3666600"/>
            <a:ext cx="43887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0f2a3f"/>
                </a:solidFill>
                <a:effectLst/>
                <a:uFillTx/>
                <a:latin typeface="Calibri"/>
                <a:ea typeface="Calibri"/>
              </a:rPr>
              <a:t>Three tasks → two — </a:t>
            </a: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Progression dropped for lack of a join key — the task most likely to benefit from sharing.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9"/>
          <p:cNvSpPr/>
          <p:nvPr/>
        </p:nvSpPr>
        <p:spPr>
          <a:xfrm>
            <a:off x="1005840" y="4507920"/>
            <a:ext cx="145800" cy="1458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0"/>
          <p:cNvSpPr/>
          <p:nvPr/>
        </p:nvSpPr>
        <p:spPr>
          <a:xfrm>
            <a:off x="1298520" y="4407480"/>
            <a:ext cx="43887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0f2a3f"/>
                </a:solidFill>
                <a:effectLst/>
                <a:uFillTx/>
                <a:latin typeface="Calibri"/>
                <a:ea typeface="Calibri"/>
              </a:rPr>
              <a:t>Modest scale — </a:t>
            </a: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508 samples strain multi-branch CNNs; the richer co-attention unit likely overfits.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11"/>
          <p:cNvSpPr/>
          <p:nvPr/>
        </p:nvSpPr>
        <p:spPr>
          <a:xfrm>
            <a:off x="1005840" y="5248800"/>
            <a:ext cx="145800" cy="1458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2"/>
          <p:cNvSpPr/>
          <p:nvPr/>
        </p:nvSpPr>
        <p:spPr>
          <a:xfrm>
            <a:off x="1298520" y="5148000"/>
            <a:ext cx="43887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0f2a3f"/>
                </a:solidFill>
                <a:effectLst/>
                <a:uFillTx/>
                <a:latin typeface="Calibri"/>
                <a:ea typeface="Calibri"/>
              </a:rPr>
              <a:t>2-D only — </a:t>
            </a: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 single mid-slice discards the volumetric information radiologists rely on.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13"/>
          <p:cNvSpPr/>
          <p:nvPr/>
        </p:nvSpPr>
        <p:spPr>
          <a:xfrm>
            <a:off x="6291000" y="1828800"/>
            <a:ext cx="5348880" cy="4160160"/>
          </a:xfrm>
          <a:prstGeom prst="roundRect">
            <a:avLst>
              <a:gd name="adj" fmla="val 2198"/>
            </a:avLst>
          </a:prstGeom>
          <a:solidFill>
            <a:srgbClr val="f8fafc"/>
          </a:solidFill>
          <a:ln w="12700">
            <a:solidFill>
              <a:srgbClr val="e2e8f0"/>
            </a:solidFill>
            <a:round/>
          </a:ln>
          <a:effectLst>
            <a:outerShdw algn="bl" blurRad="114480" dir="8100000" dist="37674" kx="0" ky="0" rotWithShape="0" sx="100000" sy="100000">
              <a:srgbClr val="334155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14"/>
          <p:cNvSpPr/>
          <p:nvPr/>
        </p:nvSpPr>
        <p:spPr>
          <a:xfrm>
            <a:off x="6483240" y="2039040"/>
            <a:ext cx="712800" cy="7128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8" name="Image 1" descr="preencoded.png"/>
          <p:cNvPicPr/>
          <p:nvPr/>
        </p:nvPicPr>
        <p:blipFill>
          <a:blip r:embed="rId2"/>
          <a:stretch/>
        </p:blipFill>
        <p:spPr>
          <a:xfrm>
            <a:off x="6661440" y="2217600"/>
            <a:ext cx="356400" cy="35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Text 15"/>
          <p:cNvSpPr/>
          <p:nvPr/>
        </p:nvSpPr>
        <p:spPr>
          <a:xfrm>
            <a:off x="7278480" y="2121480"/>
            <a:ext cx="4251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900" b="1" u="none" strike="noStrike">
                <a:solidFill>
                  <a:srgbClr val="0f2a3f"/>
                </a:solidFill>
                <a:effectLst/>
                <a:uFillTx/>
                <a:latin typeface="Georgia"/>
                <a:ea typeface="Georgia"/>
              </a:rPr>
              <a:t>Future work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16"/>
          <p:cNvSpPr/>
          <p:nvPr/>
        </p:nvSpPr>
        <p:spPr>
          <a:xfrm>
            <a:off x="6656760" y="3026520"/>
            <a:ext cx="145800" cy="1458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7"/>
          <p:cNvSpPr/>
          <p:nvPr/>
        </p:nvSpPr>
        <p:spPr>
          <a:xfrm>
            <a:off x="6949440" y="2926080"/>
            <a:ext cx="43887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0f2a3f"/>
                </a:solidFill>
                <a:effectLst/>
                <a:uFillTx/>
                <a:latin typeface="Calibri"/>
                <a:ea typeface="Calibri"/>
              </a:rPr>
              <a:t>Balance the classes — </a:t>
            </a: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Class-weighted loss, minority oversampling, or balanced sampling strategies.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18"/>
          <p:cNvSpPr/>
          <p:nvPr/>
        </p:nvSpPr>
        <p:spPr>
          <a:xfrm>
            <a:off x="6656760" y="3767400"/>
            <a:ext cx="145800" cy="1458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9"/>
          <p:cNvSpPr/>
          <p:nvPr/>
        </p:nvSpPr>
        <p:spPr>
          <a:xfrm>
            <a:off x="6949440" y="3666600"/>
            <a:ext cx="43887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0f2a3f"/>
                </a:solidFill>
                <a:effectLst/>
                <a:uFillTx/>
                <a:latin typeface="Calibri"/>
                <a:ea typeface="Calibri"/>
              </a:rPr>
              <a:t>Go volumetric — </a:t>
            </a: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3-D convolutional inputs to capture full nodule morphology.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20"/>
          <p:cNvSpPr/>
          <p:nvPr/>
        </p:nvSpPr>
        <p:spPr>
          <a:xfrm>
            <a:off x="6656760" y="4507920"/>
            <a:ext cx="145800" cy="1458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1"/>
          <p:cNvSpPr/>
          <p:nvPr/>
        </p:nvSpPr>
        <p:spPr>
          <a:xfrm>
            <a:off x="6949440" y="4407480"/>
            <a:ext cx="43887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0f2a3f"/>
                </a:solidFill>
                <a:effectLst/>
                <a:uFillTx/>
                <a:latin typeface="Calibri"/>
                <a:ea typeface="Calibri"/>
              </a:rPr>
              <a:t>Restore progression — </a:t>
            </a: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Re-introduce the third task via a corrected clinical-to-imaging linkage.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22"/>
          <p:cNvSpPr/>
          <p:nvPr/>
        </p:nvSpPr>
        <p:spPr>
          <a:xfrm>
            <a:off x="6656760" y="5248800"/>
            <a:ext cx="145800" cy="1458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23"/>
          <p:cNvSpPr/>
          <p:nvPr/>
        </p:nvSpPr>
        <p:spPr>
          <a:xfrm>
            <a:off x="6949440" y="5148000"/>
            <a:ext cx="43887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250" b="1" u="none" strike="noStrike">
                <a:solidFill>
                  <a:srgbClr val="0f2a3f"/>
                </a:solidFill>
                <a:effectLst/>
                <a:uFillTx/>
                <a:latin typeface="Calibri"/>
                <a:ea typeface="Calibri"/>
              </a:rPr>
              <a:t>Better subtype coverage — </a:t>
            </a:r>
            <a:r>
              <a:rPr lang="en-US" sz="1250" b="0" u="none" strike="noStrik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 larger dataset with stronger ground-glass and part-solid representation.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24"/>
          <p:cNvSpPr/>
          <p:nvPr/>
        </p:nvSpPr>
        <p:spPr>
          <a:xfrm>
            <a:off x="640080" y="65106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Lung Nodule Prognostics  ·  MultiTaskCrossTalkNet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25"/>
          <p:cNvSpPr/>
          <p:nvPr/>
        </p:nvSpPr>
        <p:spPr>
          <a:xfrm>
            <a:off x="11064240" y="65106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0" u="none" strike="noStrike">
                <a:solidFill>
                  <a:srgbClr val="7c8ca0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0"/>
          <p:cNvSpPr/>
          <p:nvPr/>
        </p:nvSpPr>
        <p:spPr>
          <a:xfrm>
            <a:off x="8046720" y="1371600"/>
            <a:ext cx="4023000" cy="4023000"/>
          </a:xfrm>
          <a:prstGeom prst="ellipse">
            <a:avLst/>
          </a:prstGeom>
          <a:noFill/>
          <a:ln w="15875">
            <a:solidFill>
              <a:srgbClr val="14b8a6">
                <a:alpha val="14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1"/>
          <p:cNvSpPr/>
          <p:nvPr/>
        </p:nvSpPr>
        <p:spPr>
          <a:xfrm>
            <a:off x="8549640" y="1874520"/>
            <a:ext cx="3017160" cy="3017160"/>
          </a:xfrm>
          <a:prstGeom prst="ellipse">
            <a:avLst/>
          </a:prstGeom>
          <a:noFill/>
          <a:ln w="15875">
            <a:solidFill>
              <a:srgbClr val="14b8a6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2"/>
          <p:cNvSpPr/>
          <p:nvPr/>
        </p:nvSpPr>
        <p:spPr>
          <a:xfrm>
            <a:off x="9052560" y="2377440"/>
            <a:ext cx="2011320" cy="2011320"/>
          </a:xfrm>
          <a:prstGeom prst="ellipse">
            <a:avLst/>
          </a:prstGeom>
          <a:noFill/>
          <a:ln w="15875">
            <a:solidFill>
              <a:srgbClr val="14b8a6">
                <a:alpha val="2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3"/>
          <p:cNvSpPr/>
          <p:nvPr/>
        </p:nvSpPr>
        <p:spPr>
          <a:xfrm>
            <a:off x="9509760" y="2834640"/>
            <a:ext cx="1096920" cy="1096920"/>
          </a:xfrm>
          <a:prstGeom prst="ellipse">
            <a:avLst/>
          </a:prstGeom>
          <a:noFill/>
          <a:ln w="15875">
            <a:solidFill>
              <a:srgbClr val="14b8a6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4"/>
          <p:cNvSpPr/>
          <p:nvPr/>
        </p:nvSpPr>
        <p:spPr>
          <a:xfrm>
            <a:off x="9921240" y="3246120"/>
            <a:ext cx="273960" cy="273960"/>
          </a:xfrm>
          <a:prstGeom prst="ellipse">
            <a:avLst/>
          </a:prstGeom>
          <a:solidFill>
            <a:srgbClr val="5eea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5"/>
          <p:cNvSpPr/>
          <p:nvPr/>
        </p:nvSpPr>
        <p:spPr>
          <a:xfrm>
            <a:off x="640080" y="420480"/>
            <a:ext cx="10881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1" u="none" spc="261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CONCLUSION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6"/>
          <p:cNvSpPr/>
          <p:nvPr/>
        </p:nvSpPr>
        <p:spPr>
          <a:xfrm>
            <a:off x="640080" y="1097280"/>
            <a:ext cx="82292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Cross-talk is only as good as the supervision behind it.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7"/>
          <p:cNvSpPr/>
          <p:nvPr/>
        </p:nvSpPr>
        <p:spPr>
          <a:xfrm>
            <a:off x="640080" y="2880360"/>
            <a:ext cx="76806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2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a9d6d0"/>
                </a:solidFill>
                <a:effectLst/>
                <a:uFillTx/>
                <a:latin typeface="Calibri"/>
                <a:ea typeface="Calibri"/>
              </a:rPr>
              <a:t>MultiTaskCrossTalkNet jointly predicts nodule texture and malignancy through learnable cross-stitch and co-attention links. On 508 LIDC-IDRI crops under severe class imbalance, neither variant reliably beat the single-task baseline — the limiting factor was data quality and balance, not the architecture.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8"/>
          <p:cNvSpPr/>
          <p:nvPr/>
        </p:nvSpPr>
        <p:spPr>
          <a:xfrm>
            <a:off x="640080" y="4663440"/>
            <a:ext cx="7680600" cy="868320"/>
          </a:xfrm>
          <a:prstGeom prst="roundRect">
            <a:avLst>
              <a:gd name="adj" fmla="val 8421"/>
            </a:avLst>
          </a:prstGeom>
          <a:solidFill>
            <a:srgbClr val="1235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9"/>
          <p:cNvSpPr/>
          <p:nvPr/>
        </p:nvSpPr>
        <p:spPr>
          <a:xfrm>
            <a:off x="914400" y="4663440"/>
            <a:ext cx="72234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50" b="1" u="none" strike="noStrike">
                <a:solidFill>
                  <a:srgbClr val="5eead4"/>
                </a:solidFill>
                <a:effectLst/>
                <a:uFillTx/>
                <a:latin typeface="Calibri"/>
                <a:ea typeface="Calibri"/>
              </a:rPr>
              <a:t>The path forward:  </a:t>
            </a:r>
            <a:r>
              <a:rPr lang="en-US" sz="1350" b="0" u="none" strike="noStrike">
                <a:solidFill>
                  <a:srgbClr val="dcefea"/>
                </a:solidFill>
                <a:effectLst/>
                <a:uFillTx/>
                <a:latin typeface="Calibri"/>
                <a:ea typeface="Calibri"/>
              </a:rPr>
              <a:t>balanced sampling · volumetric inputs · a restored progression task.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0"/>
          <p:cNvSpPr/>
          <p:nvPr/>
        </p:nvSpPr>
        <p:spPr>
          <a:xfrm>
            <a:off x="640080" y="598932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Raicu Maria  ·  Roşca Eduard</a:t>
            </a:r>
            <a:r>
              <a:rPr lang="en-US" sz="1200" b="0" u="none" strike="noStrike">
                <a:solidFill>
                  <a:srgbClr val="8fb0ba"/>
                </a:solidFill>
                <a:effectLst/>
                <a:uFillTx/>
                <a:latin typeface="Calibri"/>
                <a:ea typeface="Calibri"/>
              </a:rPr>
              <a:t>      DS · Intelligent Modeling · 2025–2026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LibreOffice/25.8.6.2$Windows_X86_64 LibreOffice_project/b4b39682cd9868fa725bc664aff94278d315bd04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2026-06-01T14:57:03Z</dcterms:created>
  <dc:creator>Raicu Maria, Roşca Eduard</dc:creator>
  <dc:description/>
  <dc:language>en-US</dc:language>
  <cp:lastModifiedBy>Raicu Maria, Roşca Eduard</cp:lastModifiedBy>
  <dcterms:modified xsi:type="dcterms:W3CDTF">2026-06-01T14:57:03Z</dcterms:modified>
  <cp:revision>1</cp:revision>
  <dc:subject>PptxGenJS Presentation</dc:subject>
  <dc:title>Lung Nodule Prognostics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