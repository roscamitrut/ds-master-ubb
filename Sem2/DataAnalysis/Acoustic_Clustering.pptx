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015628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4.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027"/>
        </a:solidFill>
        <a:effectLst/>
      </p:bgPr>
    </p:bg>
    <p:spTree>
      <p:nvGrpSpPr>
        <p:cNvPr id="1" name=""/>
        <p:cNvGrpSpPr/>
        <p:nvPr/>
      </p:nvGrpSpPr>
      <p:grpSpPr>
        <a:xfrm>
          <a:off x="0" y="0"/>
          <a:ext cx="0" cy="0"/>
          <a:chOff x="0" y="0"/>
          <a:chExt cx="0" cy="0"/>
        </a:xfrm>
      </p:grpSpPr>
      <p:sp>
        <p:nvSpPr>
          <p:cNvPr id="2" name="Shape 0"/>
          <p:cNvSpPr/>
          <p:nvPr/>
        </p:nvSpPr>
        <p:spPr>
          <a:xfrm>
            <a:off x="8321040" y="3200400"/>
            <a:ext cx="137160" cy="457200"/>
          </a:xfrm>
          <a:prstGeom prst="roundRect">
            <a:avLst>
              <a:gd name="adj" fmla="val 46667"/>
            </a:avLst>
          </a:prstGeom>
          <a:solidFill>
            <a:srgbClr val="028090"/>
          </a:solidFill>
          <a:ln/>
        </p:spPr>
        <p:txBody>
          <a:bodyPr/>
          <a:lstStyle/>
          <a:p>
            <a:endParaRPr lang="en-US"/>
          </a:p>
        </p:txBody>
      </p:sp>
      <p:sp>
        <p:nvSpPr>
          <p:cNvPr id="3" name="Shape 1"/>
          <p:cNvSpPr/>
          <p:nvPr/>
        </p:nvSpPr>
        <p:spPr>
          <a:xfrm>
            <a:off x="8613648" y="2926080"/>
            <a:ext cx="137160" cy="1005840"/>
          </a:xfrm>
          <a:prstGeom prst="roundRect">
            <a:avLst>
              <a:gd name="adj" fmla="val 46667"/>
            </a:avLst>
          </a:prstGeom>
          <a:solidFill>
            <a:srgbClr val="00A896"/>
          </a:solidFill>
          <a:ln/>
        </p:spPr>
        <p:txBody>
          <a:bodyPr/>
          <a:lstStyle/>
          <a:p>
            <a:endParaRPr lang="en-US"/>
          </a:p>
        </p:txBody>
      </p:sp>
      <p:sp>
        <p:nvSpPr>
          <p:cNvPr id="4" name="Shape 2"/>
          <p:cNvSpPr/>
          <p:nvPr/>
        </p:nvSpPr>
        <p:spPr>
          <a:xfrm>
            <a:off x="8906256" y="3108960"/>
            <a:ext cx="137160" cy="640080"/>
          </a:xfrm>
          <a:prstGeom prst="roundRect">
            <a:avLst>
              <a:gd name="adj" fmla="val 46667"/>
            </a:avLst>
          </a:prstGeom>
          <a:solidFill>
            <a:srgbClr val="02C39A"/>
          </a:solidFill>
          <a:ln/>
        </p:spPr>
        <p:txBody>
          <a:bodyPr/>
          <a:lstStyle/>
          <a:p>
            <a:endParaRPr lang="en-US"/>
          </a:p>
        </p:txBody>
      </p:sp>
      <p:sp>
        <p:nvSpPr>
          <p:cNvPr id="5" name="Shape 3"/>
          <p:cNvSpPr/>
          <p:nvPr/>
        </p:nvSpPr>
        <p:spPr>
          <a:xfrm>
            <a:off x="9198864" y="2697480"/>
            <a:ext cx="137160" cy="1463040"/>
          </a:xfrm>
          <a:prstGeom prst="roundRect">
            <a:avLst>
              <a:gd name="adj" fmla="val 46667"/>
            </a:avLst>
          </a:prstGeom>
          <a:solidFill>
            <a:srgbClr val="028090"/>
          </a:solidFill>
          <a:ln/>
        </p:spPr>
        <p:txBody>
          <a:bodyPr/>
          <a:lstStyle/>
          <a:p>
            <a:endParaRPr lang="en-US"/>
          </a:p>
        </p:txBody>
      </p:sp>
      <p:sp>
        <p:nvSpPr>
          <p:cNvPr id="6" name="Shape 4"/>
          <p:cNvSpPr/>
          <p:nvPr/>
        </p:nvSpPr>
        <p:spPr>
          <a:xfrm>
            <a:off x="9491472" y="3017520"/>
            <a:ext cx="137160" cy="822960"/>
          </a:xfrm>
          <a:prstGeom prst="roundRect">
            <a:avLst>
              <a:gd name="adj" fmla="val 46667"/>
            </a:avLst>
          </a:prstGeom>
          <a:solidFill>
            <a:srgbClr val="00A896"/>
          </a:solidFill>
          <a:ln/>
        </p:spPr>
        <p:txBody>
          <a:bodyPr/>
          <a:lstStyle/>
          <a:p>
            <a:endParaRPr lang="en-US"/>
          </a:p>
        </p:txBody>
      </p:sp>
      <p:sp>
        <p:nvSpPr>
          <p:cNvPr id="7" name="Shape 5"/>
          <p:cNvSpPr/>
          <p:nvPr/>
        </p:nvSpPr>
        <p:spPr>
          <a:xfrm>
            <a:off x="9784080" y="2468880"/>
            <a:ext cx="137160" cy="1920240"/>
          </a:xfrm>
          <a:prstGeom prst="roundRect">
            <a:avLst>
              <a:gd name="adj" fmla="val 46667"/>
            </a:avLst>
          </a:prstGeom>
          <a:solidFill>
            <a:srgbClr val="02C39A"/>
          </a:solidFill>
          <a:ln/>
        </p:spPr>
        <p:txBody>
          <a:bodyPr/>
          <a:lstStyle/>
          <a:p>
            <a:endParaRPr lang="en-US"/>
          </a:p>
        </p:txBody>
      </p:sp>
      <p:sp>
        <p:nvSpPr>
          <p:cNvPr id="8" name="Shape 6"/>
          <p:cNvSpPr/>
          <p:nvPr/>
        </p:nvSpPr>
        <p:spPr>
          <a:xfrm>
            <a:off x="10076688" y="2834640"/>
            <a:ext cx="137160" cy="1188720"/>
          </a:xfrm>
          <a:prstGeom prst="roundRect">
            <a:avLst>
              <a:gd name="adj" fmla="val 46667"/>
            </a:avLst>
          </a:prstGeom>
          <a:solidFill>
            <a:srgbClr val="028090"/>
          </a:solidFill>
          <a:ln/>
        </p:spPr>
        <p:txBody>
          <a:bodyPr/>
          <a:lstStyle/>
          <a:p>
            <a:endParaRPr lang="en-US"/>
          </a:p>
        </p:txBody>
      </p:sp>
      <p:sp>
        <p:nvSpPr>
          <p:cNvPr id="9" name="Shape 7"/>
          <p:cNvSpPr/>
          <p:nvPr/>
        </p:nvSpPr>
        <p:spPr>
          <a:xfrm>
            <a:off x="10369296" y="2240280"/>
            <a:ext cx="137160" cy="2377440"/>
          </a:xfrm>
          <a:prstGeom prst="roundRect">
            <a:avLst>
              <a:gd name="adj" fmla="val 46667"/>
            </a:avLst>
          </a:prstGeom>
          <a:solidFill>
            <a:srgbClr val="00A896"/>
          </a:solidFill>
          <a:ln/>
        </p:spPr>
        <p:txBody>
          <a:bodyPr/>
          <a:lstStyle/>
          <a:p>
            <a:endParaRPr lang="en-US"/>
          </a:p>
        </p:txBody>
      </p:sp>
      <p:sp>
        <p:nvSpPr>
          <p:cNvPr id="10" name="Shape 8"/>
          <p:cNvSpPr/>
          <p:nvPr/>
        </p:nvSpPr>
        <p:spPr>
          <a:xfrm>
            <a:off x="10661904" y="2971800"/>
            <a:ext cx="137160" cy="914400"/>
          </a:xfrm>
          <a:prstGeom prst="roundRect">
            <a:avLst>
              <a:gd name="adj" fmla="val 46667"/>
            </a:avLst>
          </a:prstGeom>
          <a:solidFill>
            <a:srgbClr val="02C39A"/>
          </a:solidFill>
          <a:ln/>
        </p:spPr>
        <p:txBody>
          <a:bodyPr/>
          <a:lstStyle/>
          <a:p>
            <a:endParaRPr lang="en-US"/>
          </a:p>
        </p:txBody>
      </p:sp>
      <p:sp>
        <p:nvSpPr>
          <p:cNvPr id="11" name="Shape 9"/>
          <p:cNvSpPr/>
          <p:nvPr/>
        </p:nvSpPr>
        <p:spPr>
          <a:xfrm>
            <a:off x="10954512" y="2606040"/>
            <a:ext cx="137160" cy="1645920"/>
          </a:xfrm>
          <a:prstGeom prst="roundRect">
            <a:avLst>
              <a:gd name="adj" fmla="val 46667"/>
            </a:avLst>
          </a:prstGeom>
          <a:solidFill>
            <a:srgbClr val="028090"/>
          </a:solidFill>
          <a:ln/>
        </p:spPr>
        <p:txBody>
          <a:bodyPr/>
          <a:lstStyle/>
          <a:p>
            <a:endParaRPr lang="en-US"/>
          </a:p>
        </p:txBody>
      </p:sp>
      <p:sp>
        <p:nvSpPr>
          <p:cNvPr id="12" name="Shape 10"/>
          <p:cNvSpPr/>
          <p:nvPr/>
        </p:nvSpPr>
        <p:spPr>
          <a:xfrm>
            <a:off x="11247120" y="3154680"/>
            <a:ext cx="137160" cy="548640"/>
          </a:xfrm>
          <a:prstGeom prst="roundRect">
            <a:avLst>
              <a:gd name="adj" fmla="val 46667"/>
            </a:avLst>
          </a:prstGeom>
          <a:solidFill>
            <a:srgbClr val="00A896"/>
          </a:solidFill>
          <a:ln/>
        </p:spPr>
        <p:txBody>
          <a:bodyPr/>
          <a:lstStyle/>
          <a:p>
            <a:endParaRPr lang="en-US"/>
          </a:p>
        </p:txBody>
      </p:sp>
      <p:sp>
        <p:nvSpPr>
          <p:cNvPr id="13" name="Shape 11"/>
          <p:cNvSpPr/>
          <p:nvPr/>
        </p:nvSpPr>
        <p:spPr>
          <a:xfrm>
            <a:off x="11539728" y="2788920"/>
            <a:ext cx="137160" cy="1280160"/>
          </a:xfrm>
          <a:prstGeom prst="roundRect">
            <a:avLst>
              <a:gd name="adj" fmla="val 46667"/>
            </a:avLst>
          </a:prstGeom>
          <a:solidFill>
            <a:srgbClr val="02C39A"/>
          </a:solidFill>
          <a:ln/>
        </p:spPr>
        <p:txBody>
          <a:bodyPr/>
          <a:lstStyle/>
          <a:p>
            <a:endParaRPr lang="en-US"/>
          </a:p>
        </p:txBody>
      </p:sp>
      <p:sp>
        <p:nvSpPr>
          <p:cNvPr id="14" name="Shape 12"/>
          <p:cNvSpPr/>
          <p:nvPr/>
        </p:nvSpPr>
        <p:spPr>
          <a:xfrm>
            <a:off x="11832336" y="3063240"/>
            <a:ext cx="137160" cy="731520"/>
          </a:xfrm>
          <a:prstGeom prst="roundRect">
            <a:avLst>
              <a:gd name="adj" fmla="val 46667"/>
            </a:avLst>
          </a:prstGeom>
          <a:solidFill>
            <a:srgbClr val="028090"/>
          </a:solidFill>
          <a:ln/>
        </p:spPr>
        <p:txBody>
          <a:bodyPr/>
          <a:lstStyle/>
          <a:p>
            <a:endParaRPr lang="en-US"/>
          </a:p>
        </p:txBody>
      </p:sp>
      <p:sp>
        <p:nvSpPr>
          <p:cNvPr id="15" name="Shape 13"/>
          <p:cNvSpPr/>
          <p:nvPr/>
        </p:nvSpPr>
        <p:spPr>
          <a:xfrm>
            <a:off x="777240" y="777240"/>
            <a:ext cx="868680" cy="868680"/>
          </a:xfrm>
          <a:prstGeom prst="ellipse">
            <a:avLst/>
          </a:prstGeom>
          <a:solidFill>
            <a:srgbClr val="028090"/>
          </a:solidFill>
          <a:ln/>
        </p:spPr>
        <p:txBody>
          <a:bodyPr/>
          <a:lstStyle/>
          <a:p>
            <a:endParaRPr lang="en-US"/>
          </a:p>
        </p:txBody>
      </p:sp>
      <p:pic>
        <p:nvPicPr>
          <p:cNvPr id="16" name="Image 0" descr="preencoded.png"/>
          <p:cNvPicPr>
            <a:picLocks noChangeAspect="1"/>
          </p:cNvPicPr>
          <p:nvPr/>
        </p:nvPicPr>
        <p:blipFill>
          <a:blip r:embed="rId3"/>
          <a:stretch>
            <a:fillRect/>
          </a:stretch>
        </p:blipFill>
        <p:spPr>
          <a:xfrm>
            <a:off x="987552" y="987552"/>
            <a:ext cx="448056" cy="448056"/>
          </a:xfrm>
          <a:prstGeom prst="rect">
            <a:avLst/>
          </a:prstGeom>
        </p:spPr>
      </p:pic>
      <p:sp>
        <p:nvSpPr>
          <p:cNvPr id="17" name="Text 14"/>
          <p:cNvSpPr/>
          <p:nvPr/>
        </p:nvSpPr>
        <p:spPr>
          <a:xfrm>
            <a:off x="822960" y="2103120"/>
            <a:ext cx="7315200" cy="365760"/>
          </a:xfrm>
          <a:prstGeom prst="rect">
            <a:avLst/>
          </a:prstGeom>
          <a:noFill/>
          <a:ln/>
        </p:spPr>
        <p:txBody>
          <a:bodyPr wrap="square" lIns="0" tIns="0" rIns="0" bIns="0" rtlCol="0" anchor="ctr"/>
          <a:lstStyle/>
          <a:p>
            <a:pPr marL="0" indent="0">
              <a:buNone/>
            </a:pPr>
            <a:r>
              <a:rPr lang="en-US" sz="1250" b="1" kern="0" spc="250" dirty="0">
                <a:solidFill>
                  <a:srgbClr val="02C39A"/>
                </a:solidFill>
                <a:latin typeface="Calibri" pitchFamily="34" charset="0"/>
                <a:ea typeface="Calibri" pitchFamily="34" charset="-122"/>
                <a:cs typeface="Calibri" pitchFamily="34" charset="-120"/>
              </a:rPr>
              <a:t>DATA ANALYSIS &amp; KNOWLEDGE DISCOVERY  ·  2025–2026</a:t>
            </a:r>
            <a:endParaRPr lang="en-US" sz="1250" dirty="0"/>
          </a:p>
        </p:txBody>
      </p:sp>
      <p:sp>
        <p:nvSpPr>
          <p:cNvPr id="18" name="Text 15"/>
          <p:cNvSpPr/>
          <p:nvPr/>
        </p:nvSpPr>
        <p:spPr>
          <a:xfrm>
            <a:off x="777240" y="2578608"/>
            <a:ext cx="7498080" cy="1828800"/>
          </a:xfrm>
          <a:prstGeom prst="rect">
            <a:avLst/>
          </a:prstGeom>
          <a:noFill/>
          <a:ln/>
        </p:spPr>
        <p:txBody>
          <a:bodyPr wrap="square" lIns="0" tIns="0" rIns="0" bIns="0" rtlCol="0" anchor="ctr"/>
          <a:lstStyle/>
          <a:p>
            <a:pPr marL="0" indent="0">
              <a:lnSpc>
                <a:spcPts val="5000"/>
              </a:lnSpc>
              <a:buNone/>
            </a:pPr>
            <a:r>
              <a:rPr lang="en-US" sz="4700" b="1" dirty="0">
                <a:solidFill>
                  <a:srgbClr val="FFFFFF"/>
                </a:solidFill>
                <a:latin typeface="Georgia" pitchFamily="34" charset="0"/>
                <a:ea typeface="Georgia" pitchFamily="34" charset="-122"/>
                <a:cs typeface="Georgia" pitchFamily="34" charset="-120"/>
              </a:rPr>
              <a:t>Clustering of</a:t>
            </a:r>
            <a:endParaRPr lang="en-US" sz="4700" dirty="0"/>
          </a:p>
          <a:p>
            <a:pPr marL="0" indent="0">
              <a:lnSpc>
                <a:spcPts val="5000"/>
              </a:lnSpc>
              <a:buNone/>
            </a:pPr>
            <a:r>
              <a:rPr lang="en-US" sz="4700" b="1" dirty="0">
                <a:solidFill>
                  <a:srgbClr val="FFFFFF"/>
                </a:solidFill>
                <a:latin typeface="Georgia" pitchFamily="34" charset="0"/>
                <a:ea typeface="Georgia" pitchFamily="34" charset="-122"/>
                <a:cs typeface="Georgia" pitchFamily="34" charset="-120"/>
              </a:rPr>
              <a:t>Acoustic Environments</a:t>
            </a:r>
            <a:endParaRPr lang="en-US" sz="4700" dirty="0"/>
          </a:p>
        </p:txBody>
      </p:sp>
      <p:sp>
        <p:nvSpPr>
          <p:cNvPr id="19" name="Text 16"/>
          <p:cNvSpPr/>
          <p:nvPr/>
        </p:nvSpPr>
        <p:spPr>
          <a:xfrm>
            <a:off x="822960" y="4434840"/>
            <a:ext cx="6949440" cy="548640"/>
          </a:xfrm>
          <a:prstGeom prst="rect">
            <a:avLst/>
          </a:prstGeom>
          <a:noFill/>
          <a:ln/>
        </p:spPr>
        <p:txBody>
          <a:bodyPr wrap="square" lIns="0" tIns="0" rIns="0" bIns="0" rtlCol="0" anchor="ctr"/>
          <a:lstStyle/>
          <a:p>
            <a:pPr marL="0" indent="0">
              <a:buNone/>
            </a:pPr>
            <a:r>
              <a:rPr lang="en-US" sz="1700" i="1" dirty="0">
                <a:solidFill>
                  <a:srgbClr val="AEC8CB"/>
                </a:solidFill>
                <a:latin typeface="Calibri" pitchFamily="34" charset="0"/>
                <a:ea typeface="Calibri" pitchFamily="34" charset="-122"/>
                <a:cs typeface="Calibri" pitchFamily="34" charset="-120"/>
              </a:rPr>
              <a:t>Detecting machine faults from sound.</a:t>
            </a:r>
            <a:endParaRPr lang="en-US" sz="1700" dirty="0"/>
          </a:p>
        </p:txBody>
      </p:sp>
      <p:sp>
        <p:nvSpPr>
          <p:cNvPr id="20" name="Shape 17"/>
          <p:cNvSpPr/>
          <p:nvPr/>
        </p:nvSpPr>
        <p:spPr>
          <a:xfrm>
            <a:off x="841248" y="5257800"/>
            <a:ext cx="2743200" cy="0"/>
          </a:xfrm>
          <a:prstGeom prst="line">
            <a:avLst/>
          </a:prstGeom>
          <a:noFill/>
          <a:ln w="19050">
            <a:solidFill>
              <a:srgbClr val="028090"/>
            </a:solidFill>
            <a:prstDash val="solid"/>
          </a:ln>
        </p:spPr>
        <p:txBody>
          <a:bodyPr/>
          <a:lstStyle/>
          <a:p>
            <a:endParaRPr lang="en-US"/>
          </a:p>
        </p:txBody>
      </p:sp>
      <p:sp>
        <p:nvSpPr>
          <p:cNvPr id="21" name="Text 18"/>
          <p:cNvSpPr/>
          <p:nvPr/>
        </p:nvSpPr>
        <p:spPr>
          <a:xfrm>
            <a:off x="822960" y="5440680"/>
            <a:ext cx="7315200" cy="731520"/>
          </a:xfrm>
          <a:prstGeom prst="rect">
            <a:avLst/>
          </a:prstGeom>
          <a:noFill/>
          <a:ln/>
        </p:spPr>
        <p:txBody>
          <a:bodyPr wrap="square" lIns="0" tIns="0" rIns="0" bIns="0" rtlCol="0" anchor="ctr"/>
          <a:lstStyle/>
          <a:p>
            <a:pPr marL="0" indent="0">
              <a:lnSpc>
                <a:spcPts val="1900"/>
              </a:lnSpc>
              <a:buNone/>
            </a:pPr>
            <a:r>
              <a:rPr lang="en-US" sz="1300" b="1" dirty="0">
                <a:solidFill>
                  <a:srgbClr val="FFFFFF"/>
                </a:solidFill>
                <a:latin typeface="Calibri" pitchFamily="34" charset="0"/>
                <a:ea typeface="Calibri" pitchFamily="34" charset="-122"/>
                <a:cs typeface="Calibri" pitchFamily="34" charset="-120"/>
              </a:rPr>
              <a:t>Roşca Eduard-Mitruţ</a:t>
            </a:r>
            <a:endParaRPr lang="en-US" sz="1300" dirty="0"/>
          </a:p>
          <a:p>
            <a:pPr marL="0" indent="0">
              <a:lnSpc>
                <a:spcPts val="1900"/>
              </a:lnSpc>
              <a:buNone/>
            </a:pPr>
            <a:r>
              <a:rPr lang="en-US" sz="1300" dirty="0">
                <a:solidFill>
                  <a:srgbClr val="8FA6AA"/>
                </a:solidFill>
                <a:latin typeface="Calibri" pitchFamily="34" charset="0"/>
                <a:ea typeface="Calibri" pitchFamily="34" charset="-122"/>
                <a:cs typeface="Calibri" pitchFamily="34" charset="-120"/>
              </a:rPr>
              <a:t>Data Science · Group 245 · Babeş-Bolyai University, Cluj-Napoca</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77240" y="548640"/>
            <a:ext cx="4572000" cy="274320"/>
          </a:xfrm>
          <a:prstGeom prst="rect">
            <a:avLst/>
          </a:prstGeom>
          <a:noFill/>
          <a:ln/>
        </p:spPr>
        <p:txBody>
          <a:bodyPr wrap="square" lIns="0" tIns="0" rIns="0" bIns="0" rtlCol="0" anchor="ctr"/>
          <a:lstStyle/>
          <a:p>
            <a:pPr marL="0" indent="0">
              <a:buNone/>
            </a:pPr>
            <a:r>
              <a:rPr lang="en-US" sz="1100" b="1" kern="0" spc="300" dirty="0">
                <a:solidFill>
                  <a:srgbClr val="028090"/>
                </a:solidFill>
                <a:latin typeface="Calibri" pitchFamily="34" charset="0"/>
                <a:ea typeface="Calibri" pitchFamily="34" charset="-122"/>
                <a:cs typeface="Calibri" pitchFamily="34" charset="-120"/>
              </a:rPr>
              <a:t>INTRODUCTION &amp; MOTIVATION</a:t>
            </a:r>
            <a:endParaRPr lang="en-US" sz="1100" dirty="0"/>
          </a:p>
        </p:txBody>
      </p:sp>
      <p:sp>
        <p:nvSpPr>
          <p:cNvPr id="3" name="Text 1"/>
          <p:cNvSpPr/>
          <p:nvPr/>
        </p:nvSpPr>
        <p:spPr>
          <a:xfrm>
            <a:off x="777240" y="822960"/>
            <a:ext cx="10607040" cy="685800"/>
          </a:xfrm>
          <a:prstGeom prst="rect">
            <a:avLst/>
          </a:prstGeom>
          <a:noFill/>
          <a:ln/>
        </p:spPr>
        <p:txBody>
          <a:bodyPr wrap="square" lIns="0" tIns="0" rIns="0" bIns="0" rtlCol="0" anchor="ctr"/>
          <a:lstStyle/>
          <a:p>
            <a:pPr marL="0" indent="0">
              <a:buNone/>
            </a:pPr>
            <a:r>
              <a:rPr lang="en-US" sz="3100" b="1" dirty="0">
                <a:solidFill>
                  <a:srgbClr val="0B2027"/>
                </a:solidFill>
                <a:latin typeface="Georgia" pitchFamily="34" charset="0"/>
                <a:ea typeface="Georgia" pitchFamily="34" charset="-122"/>
                <a:cs typeface="Georgia" pitchFamily="34" charset="-120"/>
              </a:rPr>
              <a:t>Machines </a:t>
            </a:r>
            <a:r>
              <a:rPr lang="en-US" sz="3100" b="1" dirty="0">
                <a:solidFill>
                  <a:srgbClr val="0B2027"/>
                </a:solidFill>
                <a:latin typeface="Georgia" pitchFamily="34" charset="0"/>
              </a:rPr>
              <a:t>fail loudly, long before they </a:t>
            </a:r>
            <a:r>
              <a:rPr lang="en-US" sz="3100" b="1" dirty="0">
                <a:solidFill>
                  <a:srgbClr val="0B2027"/>
                </a:solidFill>
                <a:latin typeface="Georgia" pitchFamily="34" charset="0"/>
                <a:ea typeface="Georgia" pitchFamily="34" charset="-122"/>
                <a:cs typeface="Georgia" pitchFamily="34" charset="-120"/>
              </a:rPr>
              <a:t>breakdown</a:t>
            </a:r>
            <a:endParaRPr lang="en-US" sz="3100" dirty="0"/>
          </a:p>
        </p:txBody>
      </p:sp>
      <p:sp>
        <p:nvSpPr>
          <p:cNvPr id="4" name="Text 2"/>
          <p:cNvSpPr/>
          <p:nvPr/>
        </p:nvSpPr>
        <p:spPr>
          <a:xfrm>
            <a:off x="777240" y="1600200"/>
            <a:ext cx="10607040" cy="914400"/>
          </a:xfrm>
          <a:prstGeom prst="rect">
            <a:avLst/>
          </a:prstGeom>
          <a:noFill/>
          <a:ln/>
        </p:spPr>
        <p:txBody>
          <a:bodyPr wrap="square" lIns="0" tIns="0" rIns="0" bIns="0" rtlCol="0" anchor="ctr"/>
          <a:lstStyle/>
          <a:p>
            <a:pPr marL="0" indent="0">
              <a:lnSpc>
                <a:spcPts val="2200"/>
              </a:lnSpc>
              <a:buNone/>
            </a:pPr>
            <a:r>
              <a:rPr lang="en-US" sz="1500" dirty="0">
                <a:solidFill>
                  <a:srgbClr val="1A2E33"/>
                </a:solidFill>
                <a:latin typeface="Calibri" pitchFamily="34" charset="0"/>
                <a:ea typeface="Calibri" pitchFamily="34" charset="-122"/>
                <a:cs typeface="Calibri" pitchFamily="34" charset="-120"/>
              </a:rPr>
              <a:t>A modern factory runs dozens of machines at once. Each one has an acoustic signature. When a bearing wears or a valve sticks, that signature sound changes a few days before a total breakdown. The challenge: those early warning sounds are easy for humans to miss in a noisy plant.</a:t>
            </a:r>
            <a:endParaRPr lang="en-US" sz="1500" dirty="0"/>
          </a:p>
        </p:txBody>
      </p:sp>
      <p:sp>
        <p:nvSpPr>
          <p:cNvPr id="5" name="Shape 3"/>
          <p:cNvSpPr/>
          <p:nvPr/>
        </p:nvSpPr>
        <p:spPr>
          <a:xfrm>
            <a:off x="777240" y="2788920"/>
            <a:ext cx="3337560" cy="3063240"/>
          </a:xfrm>
          <a:prstGeom prst="rect">
            <a:avLst/>
          </a:prstGeom>
          <a:solidFill>
            <a:srgbClr val="E8F4F3"/>
          </a:solidFill>
          <a:ln/>
          <a:effectLst>
            <a:outerShdw blurRad="101600" dist="38100" dir="8100000" algn="bl" rotWithShape="0">
              <a:srgbClr val="000000">
                <a:alpha val="16000"/>
              </a:srgbClr>
            </a:outerShdw>
          </a:effectLst>
        </p:spPr>
        <p:txBody>
          <a:bodyPr/>
          <a:lstStyle/>
          <a:p>
            <a:endParaRPr lang="en-US"/>
          </a:p>
        </p:txBody>
      </p:sp>
      <p:sp>
        <p:nvSpPr>
          <p:cNvPr id="6" name="Shape 4"/>
          <p:cNvSpPr/>
          <p:nvPr/>
        </p:nvSpPr>
        <p:spPr>
          <a:xfrm>
            <a:off x="777240" y="2788920"/>
            <a:ext cx="91440" cy="3063240"/>
          </a:xfrm>
          <a:prstGeom prst="rect">
            <a:avLst/>
          </a:prstGeom>
          <a:solidFill>
            <a:srgbClr val="028090"/>
          </a:solidFill>
          <a:ln/>
        </p:spPr>
        <p:txBody>
          <a:bodyPr/>
          <a:lstStyle/>
          <a:p>
            <a:endParaRPr lang="en-US"/>
          </a:p>
        </p:txBody>
      </p:sp>
      <p:sp>
        <p:nvSpPr>
          <p:cNvPr id="7" name="Shape 5"/>
          <p:cNvSpPr/>
          <p:nvPr/>
        </p:nvSpPr>
        <p:spPr>
          <a:xfrm>
            <a:off x="1097280" y="3108960"/>
            <a:ext cx="731520" cy="731520"/>
          </a:xfrm>
          <a:prstGeom prst="ellipse">
            <a:avLst/>
          </a:prstGeom>
          <a:solidFill>
            <a:srgbClr val="FFFFFF"/>
          </a:solidFill>
          <a:ln/>
          <a:effectLst>
            <a:outerShdw blurRad="101600" dist="38100" dir="8100000" algn="bl" rotWithShape="0">
              <a:srgbClr val="000000">
                <a:alpha val="16000"/>
              </a:srgbClr>
            </a:outerShdw>
          </a:effectLst>
        </p:spPr>
        <p:txBody>
          <a:bodyPr/>
          <a:lstStyle/>
          <a:p>
            <a:endParaRPr lang="en-US"/>
          </a:p>
        </p:txBody>
      </p:sp>
      <p:pic>
        <p:nvPicPr>
          <p:cNvPr id="8" name="Image 0" descr="preencoded.png"/>
          <p:cNvPicPr>
            <a:picLocks noChangeAspect="1"/>
          </p:cNvPicPr>
          <p:nvPr/>
        </p:nvPicPr>
        <p:blipFill>
          <a:blip r:embed="rId3"/>
          <a:stretch>
            <a:fillRect/>
          </a:stretch>
        </p:blipFill>
        <p:spPr>
          <a:xfrm>
            <a:off x="1280160" y="3291840"/>
            <a:ext cx="365760" cy="365760"/>
          </a:xfrm>
          <a:prstGeom prst="rect">
            <a:avLst/>
          </a:prstGeom>
        </p:spPr>
      </p:pic>
      <p:sp>
        <p:nvSpPr>
          <p:cNvPr id="9" name="Text 6"/>
          <p:cNvSpPr/>
          <p:nvPr/>
        </p:nvSpPr>
        <p:spPr>
          <a:xfrm>
            <a:off x="1097280" y="3977640"/>
            <a:ext cx="2743200" cy="502920"/>
          </a:xfrm>
          <a:prstGeom prst="rect">
            <a:avLst/>
          </a:prstGeom>
          <a:noFill/>
          <a:ln/>
        </p:spPr>
        <p:txBody>
          <a:bodyPr wrap="square" lIns="0" tIns="0" rIns="0" bIns="0" rtlCol="0" anchor="ctr"/>
          <a:lstStyle/>
          <a:p>
            <a:pPr marL="0" indent="0">
              <a:buNone/>
            </a:pPr>
            <a:r>
              <a:rPr lang="en-US" sz="1700" b="1" dirty="0">
                <a:solidFill>
                  <a:srgbClr val="0B2027"/>
                </a:solidFill>
                <a:latin typeface="Georgia" pitchFamily="34" charset="0"/>
                <a:ea typeface="Georgia" pitchFamily="34" charset="-122"/>
                <a:cs typeface="Georgia" pitchFamily="34" charset="-120"/>
              </a:rPr>
              <a:t>Costly downtime</a:t>
            </a:r>
            <a:endParaRPr lang="en-US" sz="1700" dirty="0"/>
          </a:p>
        </p:txBody>
      </p:sp>
      <p:sp>
        <p:nvSpPr>
          <p:cNvPr id="10" name="Text 7"/>
          <p:cNvSpPr/>
          <p:nvPr/>
        </p:nvSpPr>
        <p:spPr>
          <a:xfrm>
            <a:off x="1097280" y="4526280"/>
            <a:ext cx="2788920" cy="1188720"/>
          </a:xfrm>
          <a:prstGeom prst="rect">
            <a:avLst/>
          </a:prstGeom>
          <a:noFill/>
          <a:ln/>
        </p:spPr>
        <p:txBody>
          <a:bodyPr wrap="square" lIns="0" tIns="0" rIns="0" bIns="0" rtlCol="0" anchor="ctr"/>
          <a:lstStyle/>
          <a:p>
            <a:pPr marL="0" indent="0">
              <a:lnSpc>
                <a:spcPts val="1900"/>
              </a:lnSpc>
              <a:buNone/>
            </a:pPr>
            <a:r>
              <a:rPr lang="en-US" sz="1300" dirty="0">
                <a:solidFill>
                  <a:srgbClr val="1A2E33"/>
                </a:solidFill>
                <a:latin typeface="Calibri" pitchFamily="34" charset="0"/>
                <a:ea typeface="Calibri" pitchFamily="34" charset="-122"/>
                <a:cs typeface="Calibri" pitchFamily="34" charset="-120"/>
              </a:rPr>
              <a:t>Unplanned stoppages halt production and trigger expensive emergency repairs.</a:t>
            </a:r>
            <a:endParaRPr lang="en-US" sz="1300" dirty="0"/>
          </a:p>
        </p:txBody>
      </p:sp>
      <p:sp>
        <p:nvSpPr>
          <p:cNvPr id="11" name="Shape 8"/>
          <p:cNvSpPr/>
          <p:nvPr/>
        </p:nvSpPr>
        <p:spPr>
          <a:xfrm>
            <a:off x="4389120" y="2788920"/>
            <a:ext cx="3337560" cy="3063240"/>
          </a:xfrm>
          <a:prstGeom prst="rect">
            <a:avLst/>
          </a:prstGeom>
          <a:solidFill>
            <a:srgbClr val="E8F4F3"/>
          </a:solidFill>
          <a:ln/>
          <a:effectLst>
            <a:outerShdw blurRad="101600" dist="38100" dir="8100000" algn="bl" rotWithShape="0">
              <a:srgbClr val="000000">
                <a:alpha val="16000"/>
              </a:srgbClr>
            </a:outerShdw>
          </a:effectLst>
        </p:spPr>
        <p:txBody>
          <a:bodyPr/>
          <a:lstStyle/>
          <a:p>
            <a:endParaRPr lang="en-US"/>
          </a:p>
        </p:txBody>
      </p:sp>
      <p:sp>
        <p:nvSpPr>
          <p:cNvPr id="12" name="Shape 9"/>
          <p:cNvSpPr/>
          <p:nvPr/>
        </p:nvSpPr>
        <p:spPr>
          <a:xfrm>
            <a:off x="4389120" y="2788920"/>
            <a:ext cx="91440" cy="3063240"/>
          </a:xfrm>
          <a:prstGeom prst="rect">
            <a:avLst/>
          </a:prstGeom>
          <a:solidFill>
            <a:srgbClr val="028090"/>
          </a:solidFill>
          <a:ln/>
        </p:spPr>
        <p:txBody>
          <a:bodyPr/>
          <a:lstStyle/>
          <a:p>
            <a:endParaRPr lang="en-US"/>
          </a:p>
        </p:txBody>
      </p:sp>
      <p:sp>
        <p:nvSpPr>
          <p:cNvPr id="13" name="Shape 10"/>
          <p:cNvSpPr/>
          <p:nvPr/>
        </p:nvSpPr>
        <p:spPr>
          <a:xfrm>
            <a:off x="4709160" y="3108960"/>
            <a:ext cx="731520" cy="731520"/>
          </a:xfrm>
          <a:prstGeom prst="ellipse">
            <a:avLst/>
          </a:prstGeom>
          <a:solidFill>
            <a:srgbClr val="FFFFFF"/>
          </a:solidFill>
          <a:ln/>
          <a:effectLst>
            <a:outerShdw blurRad="101600" dist="38100" dir="8100000" algn="bl" rotWithShape="0">
              <a:srgbClr val="000000">
                <a:alpha val="16000"/>
              </a:srgbClr>
            </a:outerShdw>
          </a:effectLst>
        </p:spPr>
        <p:txBody>
          <a:bodyPr/>
          <a:lstStyle/>
          <a:p>
            <a:endParaRPr lang="en-US"/>
          </a:p>
        </p:txBody>
      </p:sp>
      <p:pic>
        <p:nvPicPr>
          <p:cNvPr id="14" name="Image 1" descr="preencoded.png"/>
          <p:cNvPicPr>
            <a:picLocks noChangeAspect="1"/>
          </p:cNvPicPr>
          <p:nvPr/>
        </p:nvPicPr>
        <p:blipFill>
          <a:blip r:embed="rId4"/>
          <a:stretch>
            <a:fillRect/>
          </a:stretch>
        </p:blipFill>
        <p:spPr>
          <a:xfrm>
            <a:off x="4892040" y="3291840"/>
            <a:ext cx="365760" cy="365760"/>
          </a:xfrm>
          <a:prstGeom prst="rect">
            <a:avLst/>
          </a:prstGeom>
        </p:spPr>
      </p:pic>
      <p:sp>
        <p:nvSpPr>
          <p:cNvPr id="15" name="Text 11"/>
          <p:cNvSpPr/>
          <p:nvPr/>
        </p:nvSpPr>
        <p:spPr>
          <a:xfrm>
            <a:off x="4709160" y="3977640"/>
            <a:ext cx="2743200" cy="502920"/>
          </a:xfrm>
          <a:prstGeom prst="rect">
            <a:avLst/>
          </a:prstGeom>
          <a:noFill/>
          <a:ln/>
        </p:spPr>
        <p:txBody>
          <a:bodyPr wrap="square" lIns="0" tIns="0" rIns="0" bIns="0" rtlCol="0" anchor="ctr"/>
          <a:lstStyle/>
          <a:p>
            <a:pPr marL="0" indent="0">
              <a:buNone/>
            </a:pPr>
            <a:r>
              <a:rPr lang="en-US" sz="1700" b="1" dirty="0">
                <a:solidFill>
                  <a:srgbClr val="0B2027"/>
                </a:solidFill>
                <a:latin typeface="Georgia" pitchFamily="34" charset="0"/>
                <a:ea typeface="Georgia" pitchFamily="34" charset="-122"/>
                <a:cs typeface="Georgia" pitchFamily="34" charset="-120"/>
              </a:rPr>
              <a:t>Rare, unlabelled faults</a:t>
            </a:r>
            <a:endParaRPr lang="en-US" sz="1700" dirty="0"/>
          </a:p>
        </p:txBody>
      </p:sp>
      <p:sp>
        <p:nvSpPr>
          <p:cNvPr id="16" name="Text 12"/>
          <p:cNvSpPr/>
          <p:nvPr/>
        </p:nvSpPr>
        <p:spPr>
          <a:xfrm>
            <a:off x="4709160" y="4526280"/>
            <a:ext cx="2788920" cy="1188720"/>
          </a:xfrm>
          <a:prstGeom prst="rect">
            <a:avLst/>
          </a:prstGeom>
          <a:noFill/>
          <a:ln/>
        </p:spPr>
        <p:txBody>
          <a:bodyPr wrap="square" lIns="0" tIns="0" rIns="0" bIns="0" rtlCol="0" anchor="ctr"/>
          <a:lstStyle/>
          <a:p>
            <a:pPr marL="0" indent="0">
              <a:lnSpc>
                <a:spcPts val="1900"/>
              </a:lnSpc>
              <a:buNone/>
            </a:pPr>
            <a:r>
              <a:rPr lang="en-US" sz="1300" dirty="0">
                <a:solidFill>
                  <a:srgbClr val="1A2E33"/>
                </a:solidFill>
                <a:latin typeface="Calibri" pitchFamily="34" charset="0"/>
                <a:ea typeface="Calibri" pitchFamily="34" charset="-122"/>
                <a:cs typeface="Calibri" pitchFamily="34" charset="-120"/>
              </a:rPr>
              <a:t>Faults happen too rarely to collect labelled examples of every failure type.</a:t>
            </a:r>
            <a:endParaRPr lang="en-US" sz="1300" dirty="0"/>
          </a:p>
        </p:txBody>
      </p:sp>
      <p:sp>
        <p:nvSpPr>
          <p:cNvPr id="17" name="Shape 13"/>
          <p:cNvSpPr/>
          <p:nvPr/>
        </p:nvSpPr>
        <p:spPr>
          <a:xfrm>
            <a:off x="8001000" y="2788920"/>
            <a:ext cx="3337560" cy="3063240"/>
          </a:xfrm>
          <a:prstGeom prst="rect">
            <a:avLst/>
          </a:prstGeom>
          <a:solidFill>
            <a:srgbClr val="E8F4F3"/>
          </a:solidFill>
          <a:ln/>
          <a:effectLst>
            <a:outerShdw blurRad="101600" dist="38100" dir="8100000" algn="bl" rotWithShape="0">
              <a:srgbClr val="000000">
                <a:alpha val="16000"/>
              </a:srgbClr>
            </a:outerShdw>
          </a:effectLst>
        </p:spPr>
        <p:txBody>
          <a:bodyPr/>
          <a:lstStyle/>
          <a:p>
            <a:endParaRPr lang="en-US"/>
          </a:p>
        </p:txBody>
      </p:sp>
      <p:sp>
        <p:nvSpPr>
          <p:cNvPr id="18" name="Shape 14"/>
          <p:cNvSpPr/>
          <p:nvPr/>
        </p:nvSpPr>
        <p:spPr>
          <a:xfrm>
            <a:off x="8001000" y="2788920"/>
            <a:ext cx="91440" cy="3063240"/>
          </a:xfrm>
          <a:prstGeom prst="rect">
            <a:avLst/>
          </a:prstGeom>
          <a:solidFill>
            <a:srgbClr val="028090"/>
          </a:solidFill>
          <a:ln/>
        </p:spPr>
        <p:txBody>
          <a:bodyPr/>
          <a:lstStyle/>
          <a:p>
            <a:endParaRPr lang="en-US"/>
          </a:p>
        </p:txBody>
      </p:sp>
      <p:sp>
        <p:nvSpPr>
          <p:cNvPr id="19" name="Shape 15"/>
          <p:cNvSpPr/>
          <p:nvPr/>
        </p:nvSpPr>
        <p:spPr>
          <a:xfrm>
            <a:off x="8321040" y="3108960"/>
            <a:ext cx="731520" cy="731520"/>
          </a:xfrm>
          <a:prstGeom prst="ellipse">
            <a:avLst/>
          </a:prstGeom>
          <a:solidFill>
            <a:srgbClr val="FFFFFF"/>
          </a:solidFill>
          <a:ln/>
          <a:effectLst>
            <a:outerShdw blurRad="101600" dist="38100" dir="8100000" algn="bl" rotWithShape="0">
              <a:srgbClr val="000000">
                <a:alpha val="16000"/>
              </a:srgbClr>
            </a:outerShdw>
          </a:effectLst>
        </p:spPr>
        <p:txBody>
          <a:bodyPr/>
          <a:lstStyle/>
          <a:p>
            <a:endParaRPr lang="en-US"/>
          </a:p>
        </p:txBody>
      </p:sp>
      <p:pic>
        <p:nvPicPr>
          <p:cNvPr id="20" name="Image 2" descr="preencoded.png"/>
          <p:cNvPicPr>
            <a:picLocks noChangeAspect="1"/>
          </p:cNvPicPr>
          <p:nvPr/>
        </p:nvPicPr>
        <p:blipFill>
          <a:blip r:embed="rId5"/>
          <a:stretch>
            <a:fillRect/>
          </a:stretch>
        </p:blipFill>
        <p:spPr>
          <a:xfrm>
            <a:off x="8503920" y="3291840"/>
            <a:ext cx="365760" cy="365760"/>
          </a:xfrm>
          <a:prstGeom prst="rect">
            <a:avLst/>
          </a:prstGeom>
        </p:spPr>
      </p:pic>
      <p:sp>
        <p:nvSpPr>
          <p:cNvPr id="21" name="Text 16"/>
          <p:cNvSpPr/>
          <p:nvPr/>
        </p:nvSpPr>
        <p:spPr>
          <a:xfrm>
            <a:off x="8321040" y="3977640"/>
            <a:ext cx="2743200" cy="502920"/>
          </a:xfrm>
          <a:prstGeom prst="rect">
            <a:avLst/>
          </a:prstGeom>
          <a:noFill/>
          <a:ln/>
        </p:spPr>
        <p:txBody>
          <a:bodyPr wrap="square" lIns="0" tIns="0" rIns="0" bIns="0" rtlCol="0" anchor="ctr"/>
          <a:lstStyle/>
          <a:p>
            <a:pPr marL="0" indent="0">
              <a:buNone/>
            </a:pPr>
            <a:r>
              <a:rPr lang="en-US" sz="1700" b="1" dirty="0">
                <a:solidFill>
                  <a:srgbClr val="0B2027"/>
                </a:solidFill>
                <a:latin typeface="Georgia" pitchFamily="34" charset="0"/>
                <a:ea typeface="Georgia" pitchFamily="34" charset="-122"/>
                <a:cs typeface="Georgia" pitchFamily="34" charset="-120"/>
              </a:rPr>
              <a:t>Worker safety</a:t>
            </a:r>
            <a:endParaRPr lang="en-US" sz="1700" dirty="0"/>
          </a:p>
        </p:txBody>
      </p:sp>
      <p:sp>
        <p:nvSpPr>
          <p:cNvPr id="22" name="Text 17"/>
          <p:cNvSpPr/>
          <p:nvPr/>
        </p:nvSpPr>
        <p:spPr>
          <a:xfrm>
            <a:off x="8321040" y="4526280"/>
            <a:ext cx="2788920" cy="1188720"/>
          </a:xfrm>
          <a:prstGeom prst="rect">
            <a:avLst/>
          </a:prstGeom>
          <a:noFill/>
          <a:ln/>
        </p:spPr>
        <p:txBody>
          <a:bodyPr wrap="square" lIns="0" tIns="0" rIns="0" bIns="0" rtlCol="0" anchor="ctr"/>
          <a:lstStyle/>
          <a:p>
            <a:pPr marL="0" indent="0">
              <a:lnSpc>
                <a:spcPts val="1900"/>
              </a:lnSpc>
              <a:buNone/>
            </a:pPr>
            <a:r>
              <a:rPr lang="en-US" sz="1300" dirty="0">
                <a:solidFill>
                  <a:srgbClr val="1A2E33"/>
                </a:solidFill>
                <a:latin typeface="Calibri" pitchFamily="34" charset="0"/>
                <a:ea typeface="Calibri" pitchFamily="34" charset="-122"/>
                <a:cs typeface="Calibri" pitchFamily="34" charset="-120"/>
              </a:rPr>
              <a:t>Undetected malfunctions can escalate into hazards for staff on the floor.</a:t>
            </a:r>
            <a:endParaRPr lang="en-US" sz="1300" dirty="0"/>
          </a:p>
        </p:txBody>
      </p:sp>
      <p:sp>
        <p:nvSpPr>
          <p:cNvPr id="23" name="Text 18"/>
          <p:cNvSpPr/>
          <p:nvPr/>
        </p:nvSpPr>
        <p:spPr>
          <a:xfrm>
            <a:off x="11277295" y="6355080"/>
            <a:ext cx="548640" cy="320040"/>
          </a:xfrm>
          <a:prstGeom prst="rect">
            <a:avLst/>
          </a:prstGeom>
          <a:noFill/>
          <a:ln/>
        </p:spPr>
        <p:txBody>
          <a:bodyPr wrap="square" lIns="0" tIns="0" rIns="0" bIns="0" rtlCol="0" anchor="ctr"/>
          <a:lstStyle/>
          <a:p>
            <a:pPr marL="0" indent="0" algn="r">
              <a:buNone/>
            </a:pPr>
            <a:r>
              <a:rPr lang="en-US" sz="1000" dirty="0">
                <a:solidFill>
                  <a:srgbClr val="5E7378"/>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2027"/>
        </a:solidFill>
        <a:effectLst/>
      </p:bgPr>
    </p:bg>
    <p:spTree>
      <p:nvGrpSpPr>
        <p:cNvPr id="1" name=""/>
        <p:cNvGrpSpPr/>
        <p:nvPr/>
      </p:nvGrpSpPr>
      <p:grpSpPr>
        <a:xfrm>
          <a:off x="0" y="0"/>
          <a:ext cx="0" cy="0"/>
          <a:chOff x="0" y="0"/>
          <a:chExt cx="0" cy="0"/>
        </a:xfrm>
      </p:grpSpPr>
      <p:sp>
        <p:nvSpPr>
          <p:cNvPr id="2" name="Text 0"/>
          <p:cNvSpPr/>
          <p:nvPr/>
        </p:nvSpPr>
        <p:spPr>
          <a:xfrm>
            <a:off x="777240" y="548640"/>
            <a:ext cx="4572000" cy="274320"/>
          </a:xfrm>
          <a:prstGeom prst="rect">
            <a:avLst/>
          </a:prstGeom>
          <a:noFill/>
          <a:ln/>
        </p:spPr>
        <p:txBody>
          <a:bodyPr wrap="square" lIns="0" tIns="0" rIns="0" bIns="0" rtlCol="0" anchor="ctr"/>
          <a:lstStyle/>
          <a:p>
            <a:pPr marL="0" indent="0">
              <a:buNone/>
            </a:pPr>
            <a:r>
              <a:rPr lang="en-US" sz="1100" b="1" kern="0" spc="300" dirty="0">
                <a:solidFill>
                  <a:srgbClr val="028090"/>
                </a:solidFill>
                <a:latin typeface="Calibri" pitchFamily="34" charset="0"/>
                <a:ea typeface="Calibri" pitchFamily="34" charset="-122"/>
                <a:cs typeface="Calibri" pitchFamily="34" charset="-120"/>
              </a:rPr>
              <a:t>THE GOAL</a:t>
            </a:r>
            <a:endParaRPr lang="en-US" sz="1100" dirty="0"/>
          </a:p>
        </p:txBody>
      </p:sp>
      <p:sp>
        <p:nvSpPr>
          <p:cNvPr id="3" name="Text 1"/>
          <p:cNvSpPr/>
          <p:nvPr/>
        </p:nvSpPr>
        <p:spPr>
          <a:xfrm>
            <a:off x="777240" y="822960"/>
            <a:ext cx="10607040" cy="685800"/>
          </a:xfrm>
          <a:prstGeom prst="rect">
            <a:avLst/>
          </a:prstGeom>
          <a:noFill/>
          <a:ln/>
        </p:spPr>
        <p:txBody>
          <a:bodyPr wrap="square" lIns="0" tIns="0" rIns="0" bIns="0" rtlCol="0" anchor="ctr"/>
          <a:lstStyle/>
          <a:p>
            <a:pPr marL="0" indent="0">
              <a:buNone/>
            </a:pPr>
            <a:r>
              <a:rPr lang="en-US" sz="3000" b="1" dirty="0">
                <a:solidFill>
                  <a:srgbClr val="FFFFFF"/>
                </a:solidFill>
                <a:latin typeface="Georgia" pitchFamily="34" charset="0"/>
                <a:ea typeface="Georgia" pitchFamily="34" charset="-122"/>
                <a:cs typeface="Georgia" pitchFamily="34" charset="-120"/>
              </a:rPr>
              <a:t>Group sounds by what they are</a:t>
            </a:r>
            <a:endParaRPr lang="en-US" sz="3000" dirty="0"/>
          </a:p>
        </p:txBody>
      </p:sp>
      <p:sp>
        <p:nvSpPr>
          <p:cNvPr id="4" name="Text 2"/>
          <p:cNvSpPr/>
          <p:nvPr/>
        </p:nvSpPr>
        <p:spPr>
          <a:xfrm>
            <a:off x="777240" y="1554480"/>
            <a:ext cx="10607040" cy="914400"/>
          </a:xfrm>
          <a:prstGeom prst="rect">
            <a:avLst/>
          </a:prstGeom>
          <a:noFill/>
          <a:ln/>
        </p:spPr>
        <p:txBody>
          <a:bodyPr wrap="square" lIns="0" tIns="0" rIns="0" bIns="0" rtlCol="0" anchor="ctr"/>
          <a:lstStyle/>
          <a:p>
            <a:pPr marL="0" indent="0">
              <a:lnSpc>
                <a:spcPts val="2200"/>
              </a:lnSpc>
              <a:buNone/>
            </a:pPr>
            <a:r>
              <a:rPr lang="en-US" sz="1500" dirty="0">
                <a:solidFill>
                  <a:srgbClr val="C7D8DA"/>
                </a:solidFill>
                <a:latin typeface="Calibri" pitchFamily="34" charset="0"/>
                <a:ea typeface="Calibri" pitchFamily="34" charset="-122"/>
                <a:cs typeface="Calibri" pitchFamily="34" charset="-120"/>
              </a:rPr>
              <a:t>Instead of training a model to recognise pre-defined fault categories, we use unsupervised clustering where the algorithm discovers structure in the audio on its own. This is the only practical approach when faults are rare, new, or impossible to label in advance.</a:t>
            </a:r>
            <a:endParaRPr lang="en-US" sz="1500" dirty="0"/>
          </a:p>
        </p:txBody>
      </p:sp>
      <p:sp>
        <p:nvSpPr>
          <p:cNvPr id="5" name="Shape 3"/>
          <p:cNvSpPr/>
          <p:nvPr/>
        </p:nvSpPr>
        <p:spPr>
          <a:xfrm>
            <a:off x="777240" y="2743200"/>
            <a:ext cx="5166360" cy="3154680"/>
          </a:xfrm>
          <a:prstGeom prst="rect">
            <a:avLst/>
          </a:prstGeom>
          <a:solidFill>
            <a:srgbClr val="13313A"/>
          </a:solidFill>
          <a:ln/>
          <a:effectLst>
            <a:outerShdw blurRad="101600" dist="38100" dir="8100000" algn="bl" rotWithShape="0">
              <a:srgbClr val="000000">
                <a:alpha val="16000"/>
              </a:srgbClr>
            </a:outerShdw>
          </a:effectLst>
        </p:spPr>
        <p:txBody>
          <a:bodyPr/>
          <a:lstStyle/>
          <a:p>
            <a:endParaRPr lang="en-US"/>
          </a:p>
        </p:txBody>
      </p:sp>
      <p:sp>
        <p:nvSpPr>
          <p:cNvPr id="6" name="Text 4"/>
          <p:cNvSpPr/>
          <p:nvPr/>
        </p:nvSpPr>
        <p:spPr>
          <a:xfrm>
            <a:off x="1143000" y="3063240"/>
            <a:ext cx="4480560" cy="640080"/>
          </a:xfrm>
          <a:prstGeom prst="rect">
            <a:avLst/>
          </a:prstGeom>
          <a:noFill/>
          <a:ln/>
        </p:spPr>
        <p:txBody>
          <a:bodyPr wrap="square" lIns="0" tIns="0" rIns="0" bIns="0" rtlCol="0" anchor="ctr"/>
          <a:lstStyle/>
          <a:p>
            <a:pPr marL="0" indent="0">
              <a:lnSpc>
                <a:spcPts val="1800"/>
              </a:lnSpc>
              <a:buNone/>
            </a:pPr>
            <a:r>
              <a:rPr lang="en-US" sz="1350" b="1" kern="0" spc="150" dirty="0">
                <a:solidFill>
                  <a:srgbClr val="9FB4B8"/>
                </a:solidFill>
                <a:latin typeface="Calibri" pitchFamily="34" charset="0"/>
                <a:ea typeface="Calibri" pitchFamily="34" charset="-122"/>
                <a:cs typeface="Calibri" pitchFamily="34" charset="-120"/>
              </a:rPr>
              <a:t>SUPERVISED CLASSIFICATION</a:t>
            </a:r>
            <a:endParaRPr lang="en-US" sz="1350" dirty="0"/>
          </a:p>
        </p:txBody>
      </p:sp>
      <p:sp>
        <p:nvSpPr>
          <p:cNvPr id="7" name="Shape 5"/>
          <p:cNvSpPr/>
          <p:nvPr/>
        </p:nvSpPr>
        <p:spPr>
          <a:xfrm>
            <a:off x="1143000" y="3703320"/>
            <a:ext cx="1280160" cy="0"/>
          </a:xfrm>
          <a:prstGeom prst="line">
            <a:avLst/>
          </a:prstGeom>
          <a:noFill/>
          <a:ln w="25400">
            <a:solidFill>
              <a:srgbClr val="D9544D"/>
            </a:solidFill>
            <a:prstDash val="solid"/>
          </a:ln>
        </p:spPr>
        <p:txBody>
          <a:bodyPr/>
          <a:lstStyle/>
          <a:p>
            <a:endParaRPr lang="en-US"/>
          </a:p>
        </p:txBody>
      </p:sp>
      <p:pic>
        <p:nvPicPr>
          <p:cNvPr id="8" name="Image 0" descr="preencoded.png"/>
          <p:cNvPicPr>
            <a:picLocks noChangeAspect="1"/>
          </p:cNvPicPr>
          <p:nvPr/>
        </p:nvPicPr>
        <p:blipFill>
          <a:blip r:embed="rId3"/>
          <a:stretch>
            <a:fillRect/>
          </a:stretch>
        </p:blipFill>
        <p:spPr>
          <a:xfrm>
            <a:off x="1161288" y="3959352"/>
            <a:ext cx="237744" cy="237744"/>
          </a:xfrm>
          <a:prstGeom prst="rect">
            <a:avLst/>
          </a:prstGeom>
        </p:spPr>
      </p:pic>
      <p:sp>
        <p:nvSpPr>
          <p:cNvPr id="9" name="Text 6"/>
          <p:cNvSpPr/>
          <p:nvPr/>
        </p:nvSpPr>
        <p:spPr>
          <a:xfrm>
            <a:off x="1554480" y="3895344"/>
            <a:ext cx="4114800" cy="502920"/>
          </a:xfrm>
          <a:prstGeom prst="rect">
            <a:avLst/>
          </a:prstGeom>
          <a:noFill/>
          <a:ln/>
        </p:spPr>
        <p:txBody>
          <a:bodyPr wrap="square" lIns="0" tIns="0" rIns="0" bIns="0" rtlCol="0" anchor="t"/>
          <a:lstStyle/>
          <a:p>
            <a:pPr marL="0" indent="0">
              <a:buNone/>
            </a:pPr>
            <a:r>
              <a:rPr lang="en-US" sz="1350" dirty="0">
                <a:solidFill>
                  <a:srgbClr val="C7D8DA"/>
                </a:solidFill>
                <a:latin typeface="Calibri" pitchFamily="34" charset="0"/>
                <a:ea typeface="Calibri" pitchFamily="34" charset="-122"/>
                <a:cs typeface="Calibri" pitchFamily="34" charset="-120"/>
              </a:rPr>
              <a:t>Needs thousands of hand-labelled clips</a:t>
            </a:r>
            <a:endParaRPr lang="en-US" sz="1350" dirty="0"/>
          </a:p>
        </p:txBody>
      </p:sp>
      <p:pic>
        <p:nvPicPr>
          <p:cNvPr id="10" name="Image 1" descr="preencoded.png"/>
          <p:cNvPicPr>
            <a:picLocks noChangeAspect="1"/>
          </p:cNvPicPr>
          <p:nvPr/>
        </p:nvPicPr>
        <p:blipFill>
          <a:blip r:embed="rId3"/>
          <a:stretch>
            <a:fillRect/>
          </a:stretch>
        </p:blipFill>
        <p:spPr>
          <a:xfrm>
            <a:off x="1161288" y="4526280"/>
            <a:ext cx="237744" cy="237744"/>
          </a:xfrm>
          <a:prstGeom prst="rect">
            <a:avLst/>
          </a:prstGeom>
        </p:spPr>
      </p:pic>
      <p:sp>
        <p:nvSpPr>
          <p:cNvPr id="11" name="Text 7"/>
          <p:cNvSpPr/>
          <p:nvPr/>
        </p:nvSpPr>
        <p:spPr>
          <a:xfrm>
            <a:off x="1554480" y="4462272"/>
            <a:ext cx="4114800" cy="502920"/>
          </a:xfrm>
          <a:prstGeom prst="rect">
            <a:avLst/>
          </a:prstGeom>
          <a:noFill/>
          <a:ln/>
        </p:spPr>
        <p:txBody>
          <a:bodyPr wrap="square" lIns="0" tIns="0" rIns="0" bIns="0" rtlCol="0" anchor="t"/>
          <a:lstStyle/>
          <a:p>
            <a:pPr marL="0" indent="0">
              <a:buNone/>
            </a:pPr>
            <a:r>
              <a:rPr lang="en-US" sz="1350" dirty="0">
                <a:solidFill>
                  <a:srgbClr val="C7D8DA"/>
                </a:solidFill>
                <a:latin typeface="Calibri" pitchFamily="34" charset="0"/>
                <a:ea typeface="Calibri" pitchFamily="34" charset="-122"/>
                <a:cs typeface="Calibri" pitchFamily="34" charset="-120"/>
              </a:rPr>
              <a:t>Only recognises faults it was taught</a:t>
            </a:r>
            <a:endParaRPr lang="en-US" sz="1350" dirty="0"/>
          </a:p>
        </p:txBody>
      </p:sp>
      <p:pic>
        <p:nvPicPr>
          <p:cNvPr id="12" name="Image 2" descr="preencoded.png"/>
          <p:cNvPicPr>
            <a:picLocks noChangeAspect="1"/>
          </p:cNvPicPr>
          <p:nvPr/>
        </p:nvPicPr>
        <p:blipFill>
          <a:blip r:embed="rId3"/>
          <a:stretch>
            <a:fillRect/>
          </a:stretch>
        </p:blipFill>
        <p:spPr>
          <a:xfrm>
            <a:off x="1161288" y="5093208"/>
            <a:ext cx="237744" cy="237744"/>
          </a:xfrm>
          <a:prstGeom prst="rect">
            <a:avLst/>
          </a:prstGeom>
        </p:spPr>
      </p:pic>
      <p:sp>
        <p:nvSpPr>
          <p:cNvPr id="13" name="Text 8"/>
          <p:cNvSpPr/>
          <p:nvPr/>
        </p:nvSpPr>
        <p:spPr>
          <a:xfrm>
            <a:off x="1554480" y="5029200"/>
            <a:ext cx="4114800" cy="502920"/>
          </a:xfrm>
          <a:prstGeom prst="rect">
            <a:avLst/>
          </a:prstGeom>
          <a:noFill/>
          <a:ln/>
        </p:spPr>
        <p:txBody>
          <a:bodyPr wrap="square" lIns="0" tIns="0" rIns="0" bIns="0" rtlCol="0" anchor="t"/>
          <a:lstStyle/>
          <a:p>
            <a:pPr marL="0" indent="0">
              <a:buNone/>
            </a:pPr>
            <a:r>
              <a:rPr lang="en-US" sz="1350" dirty="0">
                <a:solidFill>
                  <a:srgbClr val="C7D8DA"/>
                </a:solidFill>
                <a:latin typeface="Calibri" pitchFamily="34" charset="0"/>
                <a:ea typeface="Calibri" pitchFamily="34" charset="-122"/>
                <a:cs typeface="Calibri" pitchFamily="34" charset="-120"/>
              </a:rPr>
              <a:t>Blind to new, unseen failure modes</a:t>
            </a:r>
            <a:endParaRPr lang="en-US" sz="1350" dirty="0"/>
          </a:p>
        </p:txBody>
      </p:sp>
      <p:sp>
        <p:nvSpPr>
          <p:cNvPr id="14" name="Shape 9"/>
          <p:cNvSpPr/>
          <p:nvPr/>
        </p:nvSpPr>
        <p:spPr>
          <a:xfrm>
            <a:off x="6217920" y="2743200"/>
            <a:ext cx="5166360" cy="3154680"/>
          </a:xfrm>
          <a:prstGeom prst="rect">
            <a:avLst/>
          </a:prstGeom>
          <a:solidFill>
            <a:srgbClr val="028090"/>
          </a:solidFill>
          <a:ln/>
          <a:effectLst>
            <a:outerShdw blurRad="101600" dist="38100" dir="8100000" algn="bl" rotWithShape="0">
              <a:srgbClr val="000000">
                <a:alpha val="16000"/>
              </a:srgbClr>
            </a:outerShdw>
          </a:effectLst>
        </p:spPr>
        <p:txBody>
          <a:bodyPr/>
          <a:lstStyle/>
          <a:p>
            <a:endParaRPr lang="en-US"/>
          </a:p>
        </p:txBody>
      </p:sp>
      <p:sp>
        <p:nvSpPr>
          <p:cNvPr id="15" name="Text 10"/>
          <p:cNvSpPr/>
          <p:nvPr/>
        </p:nvSpPr>
        <p:spPr>
          <a:xfrm>
            <a:off x="6583680" y="3063240"/>
            <a:ext cx="4480560" cy="640080"/>
          </a:xfrm>
          <a:prstGeom prst="rect">
            <a:avLst/>
          </a:prstGeom>
          <a:noFill/>
          <a:ln/>
        </p:spPr>
        <p:txBody>
          <a:bodyPr wrap="square" lIns="0" tIns="0" rIns="0" bIns="0" rtlCol="0" anchor="ctr"/>
          <a:lstStyle/>
          <a:p>
            <a:pPr marL="0" indent="0">
              <a:lnSpc>
                <a:spcPts val="1800"/>
              </a:lnSpc>
              <a:buNone/>
            </a:pPr>
            <a:r>
              <a:rPr lang="en-US" sz="1350" b="1" kern="0" spc="150" dirty="0">
                <a:solidFill>
                  <a:srgbClr val="FFFFFF"/>
                </a:solidFill>
                <a:latin typeface="Calibri" pitchFamily="34" charset="0"/>
                <a:ea typeface="Calibri" pitchFamily="34" charset="-122"/>
                <a:cs typeface="Calibri" pitchFamily="34" charset="-120"/>
              </a:rPr>
              <a:t>UNSUPERVISED CLUSTERING</a:t>
            </a:r>
            <a:endParaRPr lang="en-US" sz="1350" dirty="0"/>
          </a:p>
        </p:txBody>
      </p:sp>
      <p:sp>
        <p:nvSpPr>
          <p:cNvPr id="16" name="Shape 11"/>
          <p:cNvSpPr/>
          <p:nvPr/>
        </p:nvSpPr>
        <p:spPr>
          <a:xfrm>
            <a:off x="6583680" y="3703320"/>
            <a:ext cx="1280160" cy="0"/>
          </a:xfrm>
          <a:prstGeom prst="line">
            <a:avLst/>
          </a:prstGeom>
          <a:noFill/>
          <a:ln w="25400">
            <a:solidFill>
              <a:srgbClr val="02C39A"/>
            </a:solidFill>
            <a:prstDash val="solid"/>
          </a:ln>
        </p:spPr>
        <p:txBody>
          <a:bodyPr/>
          <a:lstStyle/>
          <a:p>
            <a:endParaRPr lang="en-US"/>
          </a:p>
        </p:txBody>
      </p:sp>
      <p:pic>
        <p:nvPicPr>
          <p:cNvPr id="17" name="Image 3" descr="preencoded.png"/>
          <p:cNvPicPr>
            <a:picLocks noChangeAspect="1"/>
          </p:cNvPicPr>
          <p:nvPr/>
        </p:nvPicPr>
        <p:blipFill>
          <a:blip r:embed="rId4"/>
          <a:stretch>
            <a:fillRect/>
          </a:stretch>
        </p:blipFill>
        <p:spPr>
          <a:xfrm>
            <a:off x="6601968" y="3959352"/>
            <a:ext cx="237744" cy="237744"/>
          </a:xfrm>
          <a:prstGeom prst="rect">
            <a:avLst/>
          </a:prstGeom>
        </p:spPr>
      </p:pic>
      <p:sp>
        <p:nvSpPr>
          <p:cNvPr id="18" name="Text 12"/>
          <p:cNvSpPr/>
          <p:nvPr/>
        </p:nvSpPr>
        <p:spPr>
          <a:xfrm>
            <a:off x="6995160" y="3895344"/>
            <a:ext cx="4114800" cy="502920"/>
          </a:xfrm>
          <a:prstGeom prst="rect">
            <a:avLst/>
          </a:prstGeom>
          <a:noFill/>
          <a:ln/>
        </p:spPr>
        <p:txBody>
          <a:bodyPr wrap="square" lIns="0" tIns="0" rIns="0" bIns="0" rtlCol="0" anchor="t"/>
          <a:lstStyle/>
          <a:p>
            <a:pPr marL="0" indent="0">
              <a:buNone/>
            </a:pPr>
            <a:r>
              <a:rPr lang="en-US" sz="1350" dirty="0">
                <a:solidFill>
                  <a:srgbClr val="FFFFFF"/>
                </a:solidFill>
                <a:latin typeface="Calibri" pitchFamily="34" charset="0"/>
                <a:ea typeface="Calibri" pitchFamily="34" charset="-122"/>
                <a:cs typeface="Calibri" pitchFamily="34" charset="-120"/>
              </a:rPr>
              <a:t>No labels required at any stage</a:t>
            </a:r>
            <a:endParaRPr lang="en-US" sz="1350" dirty="0"/>
          </a:p>
        </p:txBody>
      </p:sp>
      <p:pic>
        <p:nvPicPr>
          <p:cNvPr id="19" name="Image 4" descr="preencoded.png"/>
          <p:cNvPicPr>
            <a:picLocks noChangeAspect="1"/>
          </p:cNvPicPr>
          <p:nvPr/>
        </p:nvPicPr>
        <p:blipFill>
          <a:blip r:embed="rId4"/>
          <a:stretch>
            <a:fillRect/>
          </a:stretch>
        </p:blipFill>
        <p:spPr>
          <a:xfrm>
            <a:off x="6601968" y="4526280"/>
            <a:ext cx="237744" cy="237744"/>
          </a:xfrm>
          <a:prstGeom prst="rect">
            <a:avLst/>
          </a:prstGeom>
        </p:spPr>
      </p:pic>
      <p:sp>
        <p:nvSpPr>
          <p:cNvPr id="20" name="Text 13"/>
          <p:cNvSpPr/>
          <p:nvPr/>
        </p:nvSpPr>
        <p:spPr>
          <a:xfrm>
            <a:off x="6995160" y="4462272"/>
            <a:ext cx="4114800" cy="502920"/>
          </a:xfrm>
          <a:prstGeom prst="rect">
            <a:avLst/>
          </a:prstGeom>
          <a:noFill/>
          <a:ln/>
        </p:spPr>
        <p:txBody>
          <a:bodyPr wrap="square" lIns="0" tIns="0" rIns="0" bIns="0" rtlCol="0" anchor="t"/>
          <a:lstStyle/>
          <a:p>
            <a:pPr marL="0" indent="0">
              <a:buNone/>
            </a:pPr>
            <a:r>
              <a:rPr lang="en-US" sz="1350" dirty="0">
                <a:solidFill>
                  <a:srgbClr val="FFFFFF"/>
                </a:solidFill>
                <a:latin typeface="Calibri" pitchFamily="34" charset="0"/>
                <a:ea typeface="Calibri" pitchFamily="34" charset="-122"/>
                <a:cs typeface="Calibri" pitchFamily="34" charset="-120"/>
              </a:rPr>
              <a:t>Discovers hidden acoustic groupings</a:t>
            </a:r>
            <a:endParaRPr lang="en-US" sz="1350" dirty="0"/>
          </a:p>
        </p:txBody>
      </p:sp>
      <p:pic>
        <p:nvPicPr>
          <p:cNvPr id="21" name="Image 5" descr="preencoded.png"/>
          <p:cNvPicPr>
            <a:picLocks noChangeAspect="1"/>
          </p:cNvPicPr>
          <p:nvPr/>
        </p:nvPicPr>
        <p:blipFill>
          <a:blip r:embed="rId4"/>
          <a:stretch>
            <a:fillRect/>
          </a:stretch>
        </p:blipFill>
        <p:spPr>
          <a:xfrm>
            <a:off x="6601968" y="5093208"/>
            <a:ext cx="237744" cy="237744"/>
          </a:xfrm>
          <a:prstGeom prst="rect">
            <a:avLst/>
          </a:prstGeom>
        </p:spPr>
      </p:pic>
      <p:sp>
        <p:nvSpPr>
          <p:cNvPr id="22" name="Text 14"/>
          <p:cNvSpPr/>
          <p:nvPr/>
        </p:nvSpPr>
        <p:spPr>
          <a:xfrm>
            <a:off x="6995160" y="5029200"/>
            <a:ext cx="4114800" cy="502920"/>
          </a:xfrm>
          <a:prstGeom prst="rect">
            <a:avLst/>
          </a:prstGeom>
          <a:noFill/>
          <a:ln/>
        </p:spPr>
        <p:txBody>
          <a:bodyPr wrap="square" lIns="0" tIns="0" rIns="0" bIns="0" rtlCol="0" anchor="t"/>
          <a:lstStyle/>
          <a:p>
            <a:pPr marL="0" indent="0">
              <a:buNone/>
            </a:pPr>
            <a:r>
              <a:rPr lang="en-US" sz="1350" dirty="0">
                <a:solidFill>
                  <a:srgbClr val="FFFFFF"/>
                </a:solidFill>
                <a:latin typeface="Calibri" pitchFamily="34" charset="0"/>
                <a:ea typeface="Calibri" pitchFamily="34" charset="-122"/>
                <a:cs typeface="Calibri" pitchFamily="34" charset="-120"/>
              </a:rPr>
              <a:t>Can flag previously unseen </a:t>
            </a:r>
            <a:r>
              <a:rPr lang="en-US" sz="1350" dirty="0" err="1">
                <a:solidFill>
                  <a:srgbClr val="FFFFFF"/>
                </a:solidFill>
                <a:latin typeface="Calibri" pitchFamily="34" charset="0"/>
                <a:ea typeface="Calibri" pitchFamily="34" charset="-122"/>
                <a:cs typeface="Calibri" pitchFamily="34" charset="-120"/>
              </a:rPr>
              <a:t>behaviour</a:t>
            </a:r>
            <a:r>
              <a:rPr lang="en-US" sz="1350" dirty="0">
                <a:solidFill>
                  <a:srgbClr val="FFFFFF"/>
                </a:solidFill>
                <a:latin typeface="Calibri" pitchFamily="34" charset="0"/>
                <a:ea typeface="Calibri" pitchFamily="34" charset="-122"/>
                <a:cs typeface="Calibri" pitchFamily="34" charset="-120"/>
              </a:rPr>
              <a:t> (!)</a:t>
            </a:r>
            <a:endParaRPr lang="en-US" sz="1350" dirty="0"/>
          </a:p>
        </p:txBody>
      </p:sp>
      <p:sp>
        <p:nvSpPr>
          <p:cNvPr id="23" name="Text 15"/>
          <p:cNvSpPr/>
          <p:nvPr/>
        </p:nvSpPr>
        <p:spPr>
          <a:xfrm>
            <a:off x="11277295" y="6355080"/>
            <a:ext cx="548640" cy="320040"/>
          </a:xfrm>
          <a:prstGeom prst="rect">
            <a:avLst/>
          </a:prstGeom>
          <a:noFill/>
          <a:ln/>
        </p:spPr>
        <p:txBody>
          <a:bodyPr wrap="square" lIns="0" tIns="0" rIns="0" bIns="0" rtlCol="0" anchor="ctr"/>
          <a:lstStyle/>
          <a:p>
            <a:pPr marL="0" indent="0" algn="r">
              <a:buNone/>
            </a:pPr>
            <a:r>
              <a:rPr lang="en-US" sz="1000" dirty="0">
                <a:solidFill>
                  <a:srgbClr val="5E7378"/>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77240" y="548640"/>
            <a:ext cx="4572000" cy="274320"/>
          </a:xfrm>
          <a:prstGeom prst="rect">
            <a:avLst/>
          </a:prstGeom>
          <a:noFill/>
          <a:ln/>
        </p:spPr>
        <p:txBody>
          <a:bodyPr wrap="square" lIns="0" tIns="0" rIns="0" bIns="0" rtlCol="0" anchor="ctr"/>
          <a:lstStyle/>
          <a:p>
            <a:pPr marL="0" indent="0">
              <a:buNone/>
            </a:pPr>
            <a:r>
              <a:rPr lang="en-US" sz="1100" b="1" kern="0" spc="300" dirty="0">
                <a:solidFill>
                  <a:srgbClr val="028090"/>
                </a:solidFill>
                <a:latin typeface="Calibri" pitchFamily="34" charset="0"/>
                <a:ea typeface="Calibri" pitchFamily="34" charset="-122"/>
                <a:cs typeface="Calibri" pitchFamily="34" charset="-120"/>
              </a:rPr>
              <a:t>DATASETS &amp; PROBLEM OVERVIEW</a:t>
            </a:r>
            <a:endParaRPr lang="en-US" sz="1100" dirty="0"/>
          </a:p>
        </p:txBody>
      </p:sp>
      <p:sp>
        <p:nvSpPr>
          <p:cNvPr id="3" name="Text 1"/>
          <p:cNvSpPr/>
          <p:nvPr/>
        </p:nvSpPr>
        <p:spPr>
          <a:xfrm>
            <a:off x="777240" y="841248"/>
            <a:ext cx="10424160" cy="1188720"/>
          </a:xfrm>
          <a:prstGeom prst="rect">
            <a:avLst/>
          </a:prstGeom>
          <a:noFill/>
          <a:ln/>
        </p:spPr>
        <p:txBody>
          <a:bodyPr wrap="square" lIns="0" tIns="0" rIns="0" bIns="0" rtlCol="0" anchor="ctr"/>
          <a:lstStyle/>
          <a:p>
            <a:pPr marL="0" indent="0">
              <a:lnSpc>
                <a:spcPts val="3100"/>
              </a:lnSpc>
              <a:buNone/>
            </a:pPr>
            <a:r>
              <a:rPr lang="en-US" sz="2600" b="1" dirty="0">
                <a:solidFill>
                  <a:srgbClr val="0B2027"/>
                </a:solidFill>
                <a:latin typeface="Georgia" pitchFamily="34" charset="0"/>
                <a:ea typeface="Georgia" pitchFamily="34" charset="-122"/>
                <a:cs typeface="Georgia" pitchFamily="34" charset="-120"/>
              </a:rPr>
              <a:t>Two stages: prove it on city sounds, then test it on machines</a:t>
            </a:r>
            <a:endParaRPr lang="en-US" sz="2600" dirty="0"/>
          </a:p>
        </p:txBody>
      </p:sp>
      <p:sp>
        <p:nvSpPr>
          <p:cNvPr id="4" name="Shape 2"/>
          <p:cNvSpPr/>
          <p:nvPr/>
        </p:nvSpPr>
        <p:spPr>
          <a:xfrm>
            <a:off x="777240" y="2148840"/>
            <a:ext cx="5166360" cy="4069080"/>
          </a:xfrm>
          <a:prstGeom prst="rect">
            <a:avLst/>
          </a:prstGeom>
          <a:solidFill>
            <a:srgbClr val="028090"/>
          </a:solidFill>
          <a:ln/>
          <a:effectLst>
            <a:outerShdw blurRad="101600" dist="38100" dir="8100000" algn="bl" rotWithShape="0">
              <a:srgbClr val="000000">
                <a:alpha val="16000"/>
              </a:srgbClr>
            </a:outerShdw>
          </a:effectLst>
        </p:spPr>
        <p:txBody>
          <a:bodyPr/>
          <a:lstStyle/>
          <a:p>
            <a:endParaRPr lang="en-US"/>
          </a:p>
        </p:txBody>
      </p:sp>
      <p:sp>
        <p:nvSpPr>
          <p:cNvPr id="5" name="Shape 3"/>
          <p:cNvSpPr/>
          <p:nvPr/>
        </p:nvSpPr>
        <p:spPr>
          <a:xfrm>
            <a:off x="1143000" y="2468880"/>
            <a:ext cx="777240" cy="777240"/>
          </a:xfrm>
          <a:prstGeom prst="ellipse">
            <a:avLst/>
          </a:prstGeom>
          <a:solidFill>
            <a:srgbClr val="00A896"/>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1344168" y="2670048"/>
            <a:ext cx="374904" cy="374904"/>
          </a:xfrm>
          <a:prstGeom prst="rect">
            <a:avLst/>
          </a:prstGeom>
        </p:spPr>
      </p:pic>
      <p:sp>
        <p:nvSpPr>
          <p:cNvPr id="7" name="Text 4"/>
          <p:cNvSpPr/>
          <p:nvPr/>
        </p:nvSpPr>
        <p:spPr>
          <a:xfrm>
            <a:off x="2103120" y="2551176"/>
            <a:ext cx="3657600" cy="320040"/>
          </a:xfrm>
          <a:prstGeom prst="rect">
            <a:avLst/>
          </a:prstGeom>
          <a:noFill/>
          <a:ln/>
        </p:spPr>
        <p:txBody>
          <a:bodyPr wrap="square" lIns="0" tIns="0" rIns="0" bIns="0" rtlCol="0" anchor="ctr"/>
          <a:lstStyle/>
          <a:p>
            <a:pPr marL="0" indent="0">
              <a:buNone/>
            </a:pPr>
            <a:r>
              <a:rPr lang="en-US" sz="1050" b="1" kern="0" spc="150" dirty="0">
                <a:solidFill>
                  <a:srgbClr val="CDEAE8"/>
                </a:solidFill>
                <a:latin typeface="Calibri" pitchFamily="34" charset="0"/>
                <a:ea typeface="Calibri" pitchFamily="34" charset="-122"/>
                <a:cs typeface="Calibri" pitchFamily="34" charset="-120"/>
              </a:rPr>
              <a:t>STAGE 1 · PROOF OF CONCEPT</a:t>
            </a:r>
            <a:endParaRPr lang="en-US" sz="1050" dirty="0"/>
          </a:p>
        </p:txBody>
      </p:sp>
      <p:sp>
        <p:nvSpPr>
          <p:cNvPr id="8" name="Text 5"/>
          <p:cNvSpPr/>
          <p:nvPr/>
        </p:nvSpPr>
        <p:spPr>
          <a:xfrm>
            <a:off x="2103120" y="2788920"/>
            <a:ext cx="3657600" cy="50292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UrbanSound8K</a:t>
            </a:r>
            <a:endParaRPr lang="en-US" sz="2400" dirty="0"/>
          </a:p>
        </p:txBody>
      </p:sp>
      <p:sp>
        <p:nvSpPr>
          <p:cNvPr id="9" name="Text 6"/>
          <p:cNvSpPr/>
          <p:nvPr/>
        </p:nvSpPr>
        <p:spPr>
          <a:xfrm>
            <a:off x="1161288" y="3493008"/>
            <a:ext cx="4572000" cy="731520"/>
          </a:xfrm>
          <a:prstGeom prst="rect">
            <a:avLst/>
          </a:prstGeom>
          <a:noFill/>
          <a:ln/>
        </p:spPr>
        <p:txBody>
          <a:bodyPr wrap="square" lIns="0" tIns="0" rIns="0" bIns="0" rtlCol="0" anchor="ctr"/>
          <a:lstStyle/>
          <a:p>
            <a:pPr marL="0" indent="0">
              <a:buNone/>
            </a:pPr>
            <a:r>
              <a:rPr lang="en-US" sz="3800" b="1" dirty="0">
                <a:solidFill>
                  <a:srgbClr val="02C39A"/>
                </a:solidFill>
                <a:latin typeface="Georgia" pitchFamily="34" charset="0"/>
                <a:ea typeface="Georgia" pitchFamily="34" charset="-122"/>
                <a:cs typeface="Georgia" pitchFamily="34" charset="-120"/>
              </a:rPr>
              <a:t>8,732  </a:t>
            </a:r>
            <a:r>
              <a:rPr lang="en-US" sz="1400" dirty="0">
                <a:solidFill>
                  <a:srgbClr val="CDEAE8"/>
                </a:solidFill>
                <a:latin typeface="Calibri" pitchFamily="34" charset="0"/>
                <a:ea typeface="Calibri" pitchFamily="34" charset="-122"/>
                <a:cs typeface="Calibri" pitchFamily="34" charset="-120"/>
              </a:rPr>
              <a:t>urban audio clips</a:t>
            </a:r>
            <a:endParaRPr lang="en-US" sz="3800" dirty="0"/>
          </a:p>
        </p:txBody>
      </p:sp>
      <p:sp>
        <p:nvSpPr>
          <p:cNvPr id="10" name="Shape 7"/>
          <p:cNvSpPr/>
          <p:nvPr/>
        </p:nvSpPr>
        <p:spPr>
          <a:xfrm>
            <a:off x="1161288" y="4343400"/>
            <a:ext cx="4389120" cy="0"/>
          </a:xfrm>
          <a:prstGeom prst="line">
            <a:avLst/>
          </a:prstGeom>
          <a:noFill/>
          <a:ln w="12700">
            <a:solidFill>
              <a:srgbClr val="00A896"/>
            </a:solidFill>
            <a:prstDash val="solid"/>
          </a:ln>
        </p:spPr>
        <p:txBody>
          <a:bodyPr/>
          <a:lstStyle/>
          <a:p>
            <a:endParaRPr lang="en-US"/>
          </a:p>
        </p:txBody>
      </p:sp>
      <p:sp>
        <p:nvSpPr>
          <p:cNvPr id="11" name="Text 8"/>
          <p:cNvSpPr/>
          <p:nvPr/>
        </p:nvSpPr>
        <p:spPr>
          <a:xfrm>
            <a:off x="1161288" y="4498848"/>
            <a:ext cx="4434840" cy="1645920"/>
          </a:xfrm>
          <a:prstGeom prst="rect">
            <a:avLst/>
          </a:prstGeom>
          <a:noFill/>
          <a:ln/>
        </p:spPr>
        <p:txBody>
          <a:bodyPr wrap="square" lIns="0" tIns="0" rIns="0" bIns="0" rtlCol="0" anchor="ctr"/>
          <a:lstStyle/>
          <a:p>
            <a:pPr marL="0" indent="0">
              <a:lnSpc>
                <a:spcPts val="2000"/>
              </a:lnSpc>
              <a:buNone/>
            </a:pPr>
            <a:r>
              <a:rPr lang="en-US" sz="1300" dirty="0">
                <a:solidFill>
                  <a:srgbClr val="E8F4F3"/>
                </a:solidFill>
                <a:latin typeface="Calibri" pitchFamily="34" charset="0"/>
                <a:ea typeface="Calibri" pitchFamily="34" charset="-122"/>
                <a:cs typeface="Calibri" pitchFamily="34" charset="-120"/>
              </a:rPr>
              <a:t>10 everyday sound categories — sirens, drilling, dog barks, engine idling. A well-known benchmark used to validate the clustering pipeline before industrial deployment.</a:t>
            </a:r>
            <a:endParaRPr lang="en-US" sz="1300" dirty="0"/>
          </a:p>
        </p:txBody>
      </p:sp>
      <p:sp>
        <p:nvSpPr>
          <p:cNvPr id="12" name="Shape 9"/>
          <p:cNvSpPr/>
          <p:nvPr/>
        </p:nvSpPr>
        <p:spPr>
          <a:xfrm>
            <a:off x="6217920" y="2148840"/>
            <a:ext cx="5166360" cy="4069080"/>
          </a:xfrm>
          <a:prstGeom prst="rect">
            <a:avLst/>
          </a:prstGeom>
          <a:solidFill>
            <a:srgbClr val="0B2027"/>
          </a:solidFill>
          <a:ln/>
          <a:effectLst>
            <a:outerShdw blurRad="101600" dist="38100" dir="8100000" algn="bl" rotWithShape="0">
              <a:srgbClr val="000000">
                <a:alpha val="16000"/>
              </a:srgbClr>
            </a:outerShdw>
          </a:effectLst>
        </p:spPr>
        <p:txBody>
          <a:bodyPr/>
          <a:lstStyle/>
          <a:p>
            <a:endParaRPr lang="en-US"/>
          </a:p>
        </p:txBody>
      </p:sp>
      <p:sp>
        <p:nvSpPr>
          <p:cNvPr id="13" name="Shape 10"/>
          <p:cNvSpPr/>
          <p:nvPr/>
        </p:nvSpPr>
        <p:spPr>
          <a:xfrm>
            <a:off x="6583680" y="2468880"/>
            <a:ext cx="777240" cy="777240"/>
          </a:xfrm>
          <a:prstGeom prst="ellipse">
            <a:avLst/>
          </a:prstGeom>
          <a:solidFill>
            <a:srgbClr val="028090"/>
          </a:solidFill>
          <a:ln/>
        </p:spPr>
        <p:txBody>
          <a:bodyPr/>
          <a:lstStyle/>
          <a:p>
            <a:endParaRPr lang="en-US"/>
          </a:p>
        </p:txBody>
      </p:sp>
      <p:pic>
        <p:nvPicPr>
          <p:cNvPr id="14" name="Image 1" descr="preencoded.png"/>
          <p:cNvPicPr>
            <a:picLocks noChangeAspect="1"/>
          </p:cNvPicPr>
          <p:nvPr/>
        </p:nvPicPr>
        <p:blipFill>
          <a:blip r:embed="rId4"/>
          <a:stretch>
            <a:fillRect/>
          </a:stretch>
        </p:blipFill>
        <p:spPr>
          <a:xfrm>
            <a:off x="6784848" y="2670048"/>
            <a:ext cx="374904" cy="374904"/>
          </a:xfrm>
          <a:prstGeom prst="rect">
            <a:avLst/>
          </a:prstGeom>
        </p:spPr>
      </p:pic>
      <p:sp>
        <p:nvSpPr>
          <p:cNvPr id="15" name="Text 11"/>
          <p:cNvSpPr/>
          <p:nvPr/>
        </p:nvSpPr>
        <p:spPr>
          <a:xfrm>
            <a:off x="7543800" y="2551176"/>
            <a:ext cx="3657600" cy="320040"/>
          </a:xfrm>
          <a:prstGeom prst="rect">
            <a:avLst/>
          </a:prstGeom>
          <a:noFill/>
          <a:ln/>
        </p:spPr>
        <p:txBody>
          <a:bodyPr wrap="square" lIns="0" tIns="0" rIns="0" bIns="0" rtlCol="0" anchor="ctr"/>
          <a:lstStyle/>
          <a:p>
            <a:pPr marL="0" indent="0">
              <a:buNone/>
            </a:pPr>
            <a:r>
              <a:rPr lang="en-US" sz="1050" b="1" kern="0" spc="150" dirty="0">
                <a:solidFill>
                  <a:srgbClr val="8FA6AA"/>
                </a:solidFill>
                <a:latin typeface="Calibri" pitchFamily="34" charset="0"/>
                <a:ea typeface="Calibri" pitchFamily="34" charset="-122"/>
                <a:cs typeface="Calibri" pitchFamily="34" charset="-120"/>
              </a:rPr>
              <a:t>STAGE 2 · INDUSTRIAL TARGET</a:t>
            </a:r>
            <a:endParaRPr lang="en-US" sz="1050" dirty="0"/>
          </a:p>
        </p:txBody>
      </p:sp>
      <p:sp>
        <p:nvSpPr>
          <p:cNvPr id="16" name="Text 12"/>
          <p:cNvSpPr/>
          <p:nvPr/>
        </p:nvSpPr>
        <p:spPr>
          <a:xfrm>
            <a:off x="7543800" y="2788920"/>
            <a:ext cx="3657600" cy="50292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MIMII</a:t>
            </a:r>
            <a:endParaRPr lang="en-US" sz="2400" dirty="0"/>
          </a:p>
        </p:txBody>
      </p:sp>
      <p:sp>
        <p:nvSpPr>
          <p:cNvPr id="17" name="Text 13"/>
          <p:cNvSpPr/>
          <p:nvPr/>
        </p:nvSpPr>
        <p:spPr>
          <a:xfrm>
            <a:off x="6601968" y="3493008"/>
            <a:ext cx="4572000" cy="731520"/>
          </a:xfrm>
          <a:prstGeom prst="rect">
            <a:avLst/>
          </a:prstGeom>
          <a:noFill/>
          <a:ln/>
        </p:spPr>
        <p:txBody>
          <a:bodyPr wrap="square" lIns="0" tIns="0" rIns="0" bIns="0" rtlCol="0" anchor="ctr"/>
          <a:lstStyle/>
          <a:p>
            <a:pPr marL="0" indent="0">
              <a:buNone/>
            </a:pPr>
            <a:r>
              <a:rPr lang="en-US" sz="3800" b="1" dirty="0">
                <a:solidFill>
                  <a:srgbClr val="02C39A"/>
                </a:solidFill>
                <a:latin typeface="Georgia" pitchFamily="34" charset="0"/>
                <a:ea typeface="Georgia" pitchFamily="34" charset="-122"/>
                <a:cs typeface="Georgia" pitchFamily="34" charset="-120"/>
              </a:rPr>
              <a:t>2,279  </a:t>
            </a:r>
            <a:r>
              <a:rPr lang="en-US" sz="1400" dirty="0">
                <a:solidFill>
                  <a:srgbClr val="9FB4B8"/>
                </a:solidFill>
                <a:latin typeface="Calibri" pitchFamily="34" charset="0"/>
                <a:ea typeface="Calibri" pitchFamily="34" charset="-122"/>
                <a:cs typeface="Calibri" pitchFamily="34" charset="-120"/>
              </a:rPr>
              <a:t>machine recordings</a:t>
            </a:r>
            <a:endParaRPr lang="en-US" sz="3800" dirty="0"/>
          </a:p>
        </p:txBody>
      </p:sp>
      <p:sp>
        <p:nvSpPr>
          <p:cNvPr id="18" name="Shape 14"/>
          <p:cNvSpPr/>
          <p:nvPr/>
        </p:nvSpPr>
        <p:spPr>
          <a:xfrm>
            <a:off x="6601968" y="4343400"/>
            <a:ext cx="4389120" cy="0"/>
          </a:xfrm>
          <a:prstGeom prst="line">
            <a:avLst/>
          </a:prstGeom>
          <a:noFill/>
          <a:ln w="12700">
            <a:solidFill>
              <a:srgbClr val="028090"/>
            </a:solidFill>
            <a:prstDash val="solid"/>
          </a:ln>
        </p:spPr>
        <p:txBody>
          <a:bodyPr/>
          <a:lstStyle/>
          <a:p>
            <a:endParaRPr lang="en-US"/>
          </a:p>
        </p:txBody>
      </p:sp>
      <p:sp>
        <p:nvSpPr>
          <p:cNvPr id="19" name="Text 15"/>
          <p:cNvSpPr/>
          <p:nvPr/>
        </p:nvSpPr>
        <p:spPr>
          <a:xfrm>
            <a:off x="6601968" y="4498848"/>
            <a:ext cx="4434840" cy="1645920"/>
          </a:xfrm>
          <a:prstGeom prst="rect">
            <a:avLst/>
          </a:prstGeom>
          <a:noFill/>
          <a:ln/>
        </p:spPr>
        <p:txBody>
          <a:bodyPr wrap="square" lIns="0" tIns="0" rIns="0" bIns="0" rtlCol="0" anchor="ctr"/>
          <a:lstStyle/>
          <a:p>
            <a:pPr marL="0" indent="0">
              <a:lnSpc>
                <a:spcPts val="2000"/>
              </a:lnSpc>
              <a:buNone/>
            </a:pPr>
            <a:r>
              <a:rPr lang="en-US" sz="1300" dirty="0">
                <a:solidFill>
                  <a:srgbClr val="C7D8DA"/>
                </a:solidFill>
                <a:latin typeface="Calibri" pitchFamily="34" charset="0"/>
                <a:ea typeface="Calibri" pitchFamily="34" charset="-122"/>
                <a:cs typeface="Calibri" pitchFamily="34" charset="-120"/>
              </a:rPr>
              <a:t>Real recordings of fans, pumps, valves and slide rails from both normal and abnormally functioning machines. The true test: can sound alone separate healthy machines from faulty ones?</a:t>
            </a:r>
          </a:p>
        </p:txBody>
      </p:sp>
      <p:sp>
        <p:nvSpPr>
          <p:cNvPr id="20" name="Text 16"/>
          <p:cNvSpPr/>
          <p:nvPr/>
        </p:nvSpPr>
        <p:spPr>
          <a:xfrm>
            <a:off x="11277295" y="6355080"/>
            <a:ext cx="548640" cy="320040"/>
          </a:xfrm>
          <a:prstGeom prst="rect">
            <a:avLst/>
          </a:prstGeom>
          <a:noFill/>
          <a:ln/>
        </p:spPr>
        <p:txBody>
          <a:bodyPr wrap="square" lIns="0" tIns="0" rIns="0" bIns="0" rtlCol="0" anchor="ctr"/>
          <a:lstStyle/>
          <a:p>
            <a:pPr marL="0" indent="0" algn="r">
              <a:buNone/>
            </a:pPr>
            <a:r>
              <a:rPr lang="en-US" sz="1000" dirty="0">
                <a:solidFill>
                  <a:srgbClr val="5E7378"/>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77240" y="548640"/>
            <a:ext cx="4572000" cy="274320"/>
          </a:xfrm>
          <a:prstGeom prst="rect">
            <a:avLst/>
          </a:prstGeom>
          <a:noFill/>
          <a:ln/>
        </p:spPr>
        <p:txBody>
          <a:bodyPr wrap="square" lIns="0" tIns="0" rIns="0" bIns="0" rtlCol="0" anchor="ctr"/>
          <a:lstStyle/>
          <a:p>
            <a:pPr marL="0" indent="0">
              <a:buNone/>
            </a:pPr>
            <a:r>
              <a:rPr lang="en-US" sz="1100" b="1" kern="0" spc="300" dirty="0">
                <a:solidFill>
                  <a:srgbClr val="028090"/>
                </a:solidFill>
                <a:latin typeface="Calibri" pitchFamily="34" charset="0"/>
                <a:ea typeface="Calibri" pitchFamily="34" charset="-122"/>
                <a:cs typeface="Calibri" pitchFamily="34" charset="-120"/>
              </a:rPr>
              <a:t>METHODOLOGY</a:t>
            </a:r>
            <a:endParaRPr lang="en-US" sz="1100" dirty="0"/>
          </a:p>
        </p:txBody>
      </p:sp>
      <p:sp>
        <p:nvSpPr>
          <p:cNvPr id="3" name="Text 1"/>
          <p:cNvSpPr/>
          <p:nvPr/>
        </p:nvSpPr>
        <p:spPr>
          <a:xfrm>
            <a:off x="777240" y="840212"/>
            <a:ext cx="10789920" cy="685800"/>
          </a:xfrm>
          <a:prstGeom prst="rect">
            <a:avLst/>
          </a:prstGeom>
          <a:noFill/>
          <a:ln/>
        </p:spPr>
        <p:txBody>
          <a:bodyPr wrap="square" lIns="0" tIns="0" rIns="0" bIns="0" rtlCol="0" anchor="ctr"/>
          <a:lstStyle/>
          <a:p>
            <a:pPr marL="0" indent="0">
              <a:buNone/>
            </a:pPr>
            <a:r>
              <a:rPr lang="en-US" sz="2800" b="1" dirty="0">
                <a:solidFill>
                  <a:srgbClr val="0B2027"/>
                </a:solidFill>
                <a:latin typeface="Georgia" pitchFamily="34" charset="0"/>
                <a:ea typeface="Georgia" pitchFamily="34" charset="-122"/>
                <a:cs typeface="Georgia" pitchFamily="34" charset="-120"/>
              </a:rPr>
              <a:t>From raw sound to discovered groups in 4 steps</a:t>
            </a:r>
            <a:endParaRPr lang="en-US" sz="2800" dirty="0"/>
          </a:p>
        </p:txBody>
      </p:sp>
      <p:sp>
        <p:nvSpPr>
          <p:cNvPr id="4" name="Shape 2"/>
          <p:cNvSpPr/>
          <p:nvPr/>
        </p:nvSpPr>
        <p:spPr>
          <a:xfrm>
            <a:off x="777240" y="1783080"/>
            <a:ext cx="2542032" cy="2743200"/>
          </a:xfrm>
          <a:prstGeom prst="rect">
            <a:avLst/>
          </a:prstGeom>
          <a:solidFill>
            <a:srgbClr val="E8F4F3"/>
          </a:solidFill>
          <a:ln/>
          <a:effectLst>
            <a:outerShdw blurRad="101600" dist="38100" dir="8100000" algn="bl" rotWithShape="0">
              <a:srgbClr val="000000">
                <a:alpha val="16000"/>
              </a:srgbClr>
            </a:outerShdw>
          </a:effectLst>
        </p:spPr>
        <p:txBody>
          <a:bodyPr/>
          <a:lstStyle/>
          <a:p>
            <a:endParaRPr lang="en-US"/>
          </a:p>
        </p:txBody>
      </p:sp>
      <p:sp>
        <p:nvSpPr>
          <p:cNvPr id="5" name="Shape 3"/>
          <p:cNvSpPr/>
          <p:nvPr/>
        </p:nvSpPr>
        <p:spPr>
          <a:xfrm>
            <a:off x="1033272" y="2057400"/>
            <a:ext cx="713232" cy="713232"/>
          </a:xfrm>
          <a:prstGeom prst="ellipse">
            <a:avLst/>
          </a:prstGeom>
          <a:solidFill>
            <a:srgbClr val="028090"/>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1207008" y="2231136"/>
            <a:ext cx="365760" cy="365760"/>
          </a:xfrm>
          <a:prstGeom prst="rect">
            <a:avLst/>
          </a:prstGeom>
        </p:spPr>
      </p:pic>
      <p:sp>
        <p:nvSpPr>
          <p:cNvPr id="7" name="Text 4"/>
          <p:cNvSpPr/>
          <p:nvPr/>
        </p:nvSpPr>
        <p:spPr>
          <a:xfrm>
            <a:off x="1874520" y="2212848"/>
            <a:ext cx="1280160" cy="274320"/>
          </a:xfrm>
          <a:prstGeom prst="rect">
            <a:avLst/>
          </a:prstGeom>
          <a:noFill/>
          <a:ln/>
        </p:spPr>
        <p:txBody>
          <a:bodyPr wrap="square" lIns="0" tIns="0" rIns="0" bIns="0" rtlCol="0" anchor="ctr"/>
          <a:lstStyle/>
          <a:p>
            <a:pPr marL="0" indent="0">
              <a:buNone/>
            </a:pPr>
            <a:r>
              <a:rPr lang="en-US" sz="1000" b="1" kern="0" spc="150" dirty="0">
                <a:solidFill>
                  <a:srgbClr val="028090"/>
                </a:solidFill>
                <a:latin typeface="Calibri" pitchFamily="34" charset="0"/>
                <a:ea typeface="Calibri" pitchFamily="34" charset="-122"/>
                <a:cs typeface="Calibri" pitchFamily="34" charset="-120"/>
              </a:rPr>
              <a:t>STEP 1</a:t>
            </a:r>
            <a:endParaRPr lang="en-US" sz="1000" dirty="0"/>
          </a:p>
        </p:txBody>
      </p:sp>
      <p:sp>
        <p:nvSpPr>
          <p:cNvPr id="8" name="Text 5"/>
          <p:cNvSpPr/>
          <p:nvPr/>
        </p:nvSpPr>
        <p:spPr>
          <a:xfrm>
            <a:off x="1033272" y="2880360"/>
            <a:ext cx="2084832" cy="457200"/>
          </a:xfrm>
          <a:prstGeom prst="rect">
            <a:avLst/>
          </a:prstGeom>
          <a:noFill/>
          <a:ln/>
        </p:spPr>
        <p:txBody>
          <a:bodyPr wrap="square" lIns="0" tIns="0" rIns="0" bIns="0" rtlCol="0" anchor="ctr"/>
          <a:lstStyle/>
          <a:p>
            <a:pPr marL="0" indent="0">
              <a:buNone/>
            </a:pPr>
            <a:r>
              <a:rPr lang="en-US" sz="1600" b="1" dirty="0">
                <a:solidFill>
                  <a:srgbClr val="0B2027"/>
                </a:solidFill>
                <a:latin typeface="Georgia" pitchFamily="34" charset="0"/>
                <a:ea typeface="Georgia" pitchFamily="34" charset="-122"/>
                <a:cs typeface="Georgia" pitchFamily="34" charset="-120"/>
              </a:rPr>
              <a:t>Extract features</a:t>
            </a:r>
            <a:endParaRPr lang="en-US" sz="1600" dirty="0"/>
          </a:p>
        </p:txBody>
      </p:sp>
      <p:sp>
        <p:nvSpPr>
          <p:cNvPr id="9" name="Text 6"/>
          <p:cNvSpPr/>
          <p:nvPr/>
        </p:nvSpPr>
        <p:spPr>
          <a:xfrm>
            <a:off x="1033272" y="3291840"/>
            <a:ext cx="2084832" cy="1143000"/>
          </a:xfrm>
          <a:prstGeom prst="rect">
            <a:avLst/>
          </a:prstGeom>
          <a:noFill/>
          <a:ln/>
        </p:spPr>
        <p:txBody>
          <a:bodyPr wrap="square" lIns="0" tIns="0" rIns="0" bIns="0" rtlCol="0" anchor="ctr"/>
          <a:lstStyle/>
          <a:p>
            <a:pPr marL="0" indent="0">
              <a:lnSpc>
                <a:spcPts val="1600"/>
              </a:lnSpc>
              <a:buNone/>
            </a:pPr>
            <a:r>
              <a:rPr lang="en-US" sz="1150" dirty="0">
                <a:solidFill>
                  <a:srgbClr val="1A2E33"/>
                </a:solidFill>
                <a:latin typeface="Calibri" pitchFamily="34" charset="0"/>
                <a:ea typeface="Calibri" pitchFamily="34" charset="-122"/>
                <a:cs typeface="Calibri" pitchFamily="34" charset="-120"/>
              </a:rPr>
              <a:t>Convert each clip into a fingerprint of acoustic descriptors that mirror how humans hear timbre.</a:t>
            </a:r>
            <a:endParaRPr lang="en-US" sz="1150" dirty="0"/>
          </a:p>
        </p:txBody>
      </p:sp>
      <p:sp>
        <p:nvSpPr>
          <p:cNvPr id="10" name="Shape 7"/>
          <p:cNvSpPr/>
          <p:nvPr/>
        </p:nvSpPr>
        <p:spPr>
          <a:xfrm>
            <a:off x="3163824" y="2258568"/>
            <a:ext cx="310896" cy="310896"/>
          </a:xfrm>
          <a:prstGeom prst="ellipse">
            <a:avLst/>
          </a:prstGeom>
          <a:solidFill>
            <a:srgbClr val="02C39A"/>
          </a:solidFill>
          <a:ln/>
        </p:spPr>
        <p:txBody>
          <a:bodyPr/>
          <a:lstStyle/>
          <a:p>
            <a:endParaRPr lang="en-US"/>
          </a:p>
        </p:txBody>
      </p:sp>
      <p:pic>
        <p:nvPicPr>
          <p:cNvPr id="11" name="Image 1" descr="preencoded.png"/>
          <p:cNvPicPr>
            <a:picLocks noChangeAspect="1"/>
          </p:cNvPicPr>
          <p:nvPr/>
        </p:nvPicPr>
        <p:blipFill>
          <a:blip r:embed="rId4"/>
          <a:stretch>
            <a:fillRect/>
          </a:stretch>
        </p:blipFill>
        <p:spPr>
          <a:xfrm>
            <a:off x="3236976" y="2331720"/>
            <a:ext cx="164592" cy="164592"/>
          </a:xfrm>
          <a:prstGeom prst="rect">
            <a:avLst/>
          </a:prstGeom>
        </p:spPr>
      </p:pic>
      <p:sp>
        <p:nvSpPr>
          <p:cNvPr id="12" name="Shape 8"/>
          <p:cNvSpPr/>
          <p:nvPr/>
        </p:nvSpPr>
        <p:spPr>
          <a:xfrm>
            <a:off x="3483864" y="1783080"/>
            <a:ext cx="2542032" cy="2743200"/>
          </a:xfrm>
          <a:prstGeom prst="rect">
            <a:avLst/>
          </a:prstGeom>
          <a:solidFill>
            <a:srgbClr val="E8F4F3"/>
          </a:solidFill>
          <a:ln/>
          <a:effectLst>
            <a:outerShdw blurRad="101600" dist="38100" dir="8100000" algn="bl" rotWithShape="0">
              <a:srgbClr val="000000">
                <a:alpha val="16000"/>
              </a:srgbClr>
            </a:outerShdw>
          </a:effectLst>
        </p:spPr>
        <p:txBody>
          <a:bodyPr/>
          <a:lstStyle/>
          <a:p>
            <a:endParaRPr lang="en-US"/>
          </a:p>
        </p:txBody>
      </p:sp>
      <p:sp>
        <p:nvSpPr>
          <p:cNvPr id="13" name="Shape 9"/>
          <p:cNvSpPr/>
          <p:nvPr/>
        </p:nvSpPr>
        <p:spPr>
          <a:xfrm>
            <a:off x="3739896" y="2057400"/>
            <a:ext cx="713232" cy="713232"/>
          </a:xfrm>
          <a:prstGeom prst="ellipse">
            <a:avLst/>
          </a:prstGeom>
          <a:solidFill>
            <a:srgbClr val="028090"/>
          </a:solidFill>
          <a:ln/>
        </p:spPr>
        <p:txBody>
          <a:bodyPr/>
          <a:lstStyle/>
          <a:p>
            <a:endParaRPr lang="en-US"/>
          </a:p>
        </p:txBody>
      </p:sp>
      <p:pic>
        <p:nvPicPr>
          <p:cNvPr id="14" name="Image 2" descr="preencoded.png"/>
          <p:cNvPicPr>
            <a:picLocks noChangeAspect="1"/>
          </p:cNvPicPr>
          <p:nvPr/>
        </p:nvPicPr>
        <p:blipFill>
          <a:blip r:embed="rId5"/>
          <a:stretch>
            <a:fillRect/>
          </a:stretch>
        </p:blipFill>
        <p:spPr>
          <a:xfrm>
            <a:off x="3913632" y="2231136"/>
            <a:ext cx="365760" cy="365760"/>
          </a:xfrm>
          <a:prstGeom prst="rect">
            <a:avLst/>
          </a:prstGeom>
        </p:spPr>
      </p:pic>
      <p:sp>
        <p:nvSpPr>
          <p:cNvPr id="15" name="Text 10"/>
          <p:cNvSpPr/>
          <p:nvPr/>
        </p:nvSpPr>
        <p:spPr>
          <a:xfrm>
            <a:off x="4581144" y="2212848"/>
            <a:ext cx="1280160" cy="274320"/>
          </a:xfrm>
          <a:prstGeom prst="rect">
            <a:avLst/>
          </a:prstGeom>
          <a:noFill/>
          <a:ln/>
        </p:spPr>
        <p:txBody>
          <a:bodyPr wrap="square" lIns="0" tIns="0" rIns="0" bIns="0" rtlCol="0" anchor="ctr"/>
          <a:lstStyle/>
          <a:p>
            <a:pPr marL="0" indent="0">
              <a:buNone/>
            </a:pPr>
            <a:r>
              <a:rPr lang="en-US" sz="1000" b="1" kern="0" spc="150" dirty="0">
                <a:solidFill>
                  <a:srgbClr val="028090"/>
                </a:solidFill>
                <a:latin typeface="Calibri" pitchFamily="34" charset="0"/>
                <a:ea typeface="Calibri" pitchFamily="34" charset="-122"/>
                <a:cs typeface="Calibri" pitchFamily="34" charset="-120"/>
              </a:rPr>
              <a:t>STEP 2</a:t>
            </a:r>
            <a:endParaRPr lang="en-US" sz="1000" dirty="0"/>
          </a:p>
        </p:txBody>
      </p:sp>
      <p:sp>
        <p:nvSpPr>
          <p:cNvPr id="16" name="Text 11"/>
          <p:cNvSpPr/>
          <p:nvPr/>
        </p:nvSpPr>
        <p:spPr>
          <a:xfrm>
            <a:off x="3739896" y="2880360"/>
            <a:ext cx="2084832" cy="457200"/>
          </a:xfrm>
          <a:prstGeom prst="rect">
            <a:avLst/>
          </a:prstGeom>
          <a:noFill/>
          <a:ln/>
        </p:spPr>
        <p:txBody>
          <a:bodyPr wrap="square" lIns="0" tIns="0" rIns="0" bIns="0" rtlCol="0" anchor="ctr"/>
          <a:lstStyle/>
          <a:p>
            <a:pPr marL="0" indent="0">
              <a:buNone/>
            </a:pPr>
            <a:r>
              <a:rPr lang="en-US" sz="1600" b="1" dirty="0">
                <a:solidFill>
                  <a:srgbClr val="0B2027"/>
                </a:solidFill>
                <a:latin typeface="Georgia" pitchFamily="34" charset="0"/>
                <a:ea typeface="Georgia" pitchFamily="34" charset="-122"/>
                <a:cs typeface="Georgia" pitchFamily="34" charset="-120"/>
              </a:rPr>
              <a:t>Standardise</a:t>
            </a:r>
            <a:endParaRPr lang="en-US" sz="1600" dirty="0"/>
          </a:p>
        </p:txBody>
      </p:sp>
      <p:sp>
        <p:nvSpPr>
          <p:cNvPr id="17" name="Text 12"/>
          <p:cNvSpPr/>
          <p:nvPr/>
        </p:nvSpPr>
        <p:spPr>
          <a:xfrm>
            <a:off x="3739896" y="3291840"/>
            <a:ext cx="2084832" cy="1143000"/>
          </a:xfrm>
          <a:prstGeom prst="rect">
            <a:avLst/>
          </a:prstGeom>
          <a:noFill/>
          <a:ln/>
        </p:spPr>
        <p:txBody>
          <a:bodyPr wrap="square" lIns="0" tIns="0" rIns="0" bIns="0" rtlCol="0" anchor="ctr"/>
          <a:lstStyle/>
          <a:p>
            <a:pPr marL="0" indent="0">
              <a:lnSpc>
                <a:spcPts val="1600"/>
              </a:lnSpc>
              <a:buNone/>
            </a:pPr>
            <a:r>
              <a:rPr lang="en-US" sz="1150" dirty="0">
                <a:solidFill>
                  <a:srgbClr val="1A2E33"/>
                </a:solidFill>
                <a:latin typeface="Calibri" pitchFamily="34" charset="0"/>
                <a:ea typeface="Calibri" pitchFamily="34" charset="-122"/>
                <a:cs typeface="Calibri" pitchFamily="34" charset="-120"/>
              </a:rPr>
              <a:t>Scale every feature robustly so loud outliers don't distort the picture.</a:t>
            </a:r>
            <a:endParaRPr lang="en-US" sz="1150" dirty="0"/>
          </a:p>
        </p:txBody>
      </p:sp>
      <p:sp>
        <p:nvSpPr>
          <p:cNvPr id="18" name="Shape 13"/>
          <p:cNvSpPr/>
          <p:nvPr/>
        </p:nvSpPr>
        <p:spPr>
          <a:xfrm>
            <a:off x="5870448" y="2258568"/>
            <a:ext cx="310896" cy="310896"/>
          </a:xfrm>
          <a:prstGeom prst="ellipse">
            <a:avLst/>
          </a:prstGeom>
          <a:solidFill>
            <a:srgbClr val="02C39A"/>
          </a:solidFill>
          <a:ln/>
        </p:spPr>
        <p:txBody>
          <a:bodyPr/>
          <a:lstStyle/>
          <a:p>
            <a:endParaRPr lang="en-US"/>
          </a:p>
        </p:txBody>
      </p:sp>
      <p:pic>
        <p:nvPicPr>
          <p:cNvPr id="19" name="Image 3" descr="preencoded.png"/>
          <p:cNvPicPr>
            <a:picLocks noChangeAspect="1"/>
          </p:cNvPicPr>
          <p:nvPr/>
        </p:nvPicPr>
        <p:blipFill>
          <a:blip r:embed="rId4"/>
          <a:stretch>
            <a:fillRect/>
          </a:stretch>
        </p:blipFill>
        <p:spPr>
          <a:xfrm>
            <a:off x="5943600" y="2331720"/>
            <a:ext cx="164592" cy="164592"/>
          </a:xfrm>
          <a:prstGeom prst="rect">
            <a:avLst/>
          </a:prstGeom>
        </p:spPr>
      </p:pic>
      <p:sp>
        <p:nvSpPr>
          <p:cNvPr id="20" name="Shape 14"/>
          <p:cNvSpPr/>
          <p:nvPr/>
        </p:nvSpPr>
        <p:spPr>
          <a:xfrm>
            <a:off x="6190488" y="1783080"/>
            <a:ext cx="2542032" cy="2743200"/>
          </a:xfrm>
          <a:prstGeom prst="rect">
            <a:avLst/>
          </a:prstGeom>
          <a:solidFill>
            <a:srgbClr val="E8F4F3"/>
          </a:solidFill>
          <a:ln/>
          <a:effectLst>
            <a:outerShdw blurRad="101600" dist="38100" dir="8100000" algn="bl" rotWithShape="0">
              <a:srgbClr val="000000">
                <a:alpha val="16000"/>
              </a:srgbClr>
            </a:outerShdw>
          </a:effectLst>
        </p:spPr>
        <p:txBody>
          <a:bodyPr/>
          <a:lstStyle/>
          <a:p>
            <a:endParaRPr lang="en-US"/>
          </a:p>
        </p:txBody>
      </p:sp>
      <p:sp>
        <p:nvSpPr>
          <p:cNvPr id="21" name="Shape 15"/>
          <p:cNvSpPr/>
          <p:nvPr/>
        </p:nvSpPr>
        <p:spPr>
          <a:xfrm>
            <a:off x="6446520" y="2057400"/>
            <a:ext cx="713232" cy="713232"/>
          </a:xfrm>
          <a:prstGeom prst="ellipse">
            <a:avLst/>
          </a:prstGeom>
          <a:solidFill>
            <a:srgbClr val="028090"/>
          </a:solidFill>
          <a:ln/>
        </p:spPr>
        <p:txBody>
          <a:bodyPr/>
          <a:lstStyle/>
          <a:p>
            <a:endParaRPr lang="en-US"/>
          </a:p>
        </p:txBody>
      </p:sp>
      <p:pic>
        <p:nvPicPr>
          <p:cNvPr id="22" name="Image 4" descr="preencoded.png"/>
          <p:cNvPicPr>
            <a:picLocks noChangeAspect="1"/>
          </p:cNvPicPr>
          <p:nvPr/>
        </p:nvPicPr>
        <p:blipFill>
          <a:blip r:embed="rId6"/>
          <a:stretch>
            <a:fillRect/>
          </a:stretch>
        </p:blipFill>
        <p:spPr>
          <a:xfrm>
            <a:off x="6620256" y="2231136"/>
            <a:ext cx="365760" cy="365760"/>
          </a:xfrm>
          <a:prstGeom prst="rect">
            <a:avLst/>
          </a:prstGeom>
        </p:spPr>
      </p:pic>
      <p:sp>
        <p:nvSpPr>
          <p:cNvPr id="23" name="Text 16"/>
          <p:cNvSpPr/>
          <p:nvPr/>
        </p:nvSpPr>
        <p:spPr>
          <a:xfrm>
            <a:off x="7287768" y="2212848"/>
            <a:ext cx="1280160" cy="274320"/>
          </a:xfrm>
          <a:prstGeom prst="rect">
            <a:avLst/>
          </a:prstGeom>
          <a:noFill/>
          <a:ln/>
        </p:spPr>
        <p:txBody>
          <a:bodyPr wrap="square" lIns="0" tIns="0" rIns="0" bIns="0" rtlCol="0" anchor="ctr"/>
          <a:lstStyle/>
          <a:p>
            <a:pPr marL="0" indent="0">
              <a:buNone/>
            </a:pPr>
            <a:r>
              <a:rPr lang="en-US" sz="1000" b="1" kern="0" spc="150" dirty="0">
                <a:solidFill>
                  <a:srgbClr val="028090"/>
                </a:solidFill>
                <a:latin typeface="Calibri" pitchFamily="34" charset="0"/>
                <a:ea typeface="Calibri" pitchFamily="34" charset="-122"/>
                <a:cs typeface="Calibri" pitchFamily="34" charset="-120"/>
              </a:rPr>
              <a:t>STEP 3</a:t>
            </a:r>
            <a:endParaRPr lang="en-US" sz="1000" dirty="0"/>
          </a:p>
        </p:txBody>
      </p:sp>
      <p:sp>
        <p:nvSpPr>
          <p:cNvPr id="24" name="Text 17"/>
          <p:cNvSpPr/>
          <p:nvPr/>
        </p:nvSpPr>
        <p:spPr>
          <a:xfrm>
            <a:off x="6446520" y="2880360"/>
            <a:ext cx="2084832" cy="457200"/>
          </a:xfrm>
          <a:prstGeom prst="rect">
            <a:avLst/>
          </a:prstGeom>
          <a:noFill/>
          <a:ln/>
        </p:spPr>
        <p:txBody>
          <a:bodyPr wrap="square" lIns="0" tIns="0" rIns="0" bIns="0" rtlCol="0" anchor="ctr"/>
          <a:lstStyle/>
          <a:p>
            <a:pPr marL="0" indent="0">
              <a:buNone/>
            </a:pPr>
            <a:r>
              <a:rPr lang="en-US" sz="1600" b="1" dirty="0">
                <a:solidFill>
                  <a:srgbClr val="0B2027"/>
                </a:solidFill>
                <a:latin typeface="Georgia" pitchFamily="34" charset="0"/>
                <a:ea typeface="Georgia" pitchFamily="34" charset="-122"/>
                <a:cs typeface="Georgia" pitchFamily="34" charset="-120"/>
              </a:rPr>
              <a:t>Cluster</a:t>
            </a:r>
            <a:endParaRPr lang="en-US" sz="1600" dirty="0"/>
          </a:p>
        </p:txBody>
      </p:sp>
      <p:sp>
        <p:nvSpPr>
          <p:cNvPr id="25" name="Text 18"/>
          <p:cNvSpPr/>
          <p:nvPr/>
        </p:nvSpPr>
        <p:spPr>
          <a:xfrm>
            <a:off x="6446520" y="3291840"/>
            <a:ext cx="2084832" cy="1143000"/>
          </a:xfrm>
          <a:prstGeom prst="rect">
            <a:avLst/>
          </a:prstGeom>
          <a:noFill/>
          <a:ln/>
        </p:spPr>
        <p:txBody>
          <a:bodyPr wrap="square" lIns="0" tIns="0" rIns="0" bIns="0" rtlCol="0" anchor="ctr"/>
          <a:lstStyle/>
          <a:p>
            <a:pPr marL="0" indent="0">
              <a:lnSpc>
                <a:spcPts val="1600"/>
              </a:lnSpc>
              <a:buNone/>
            </a:pPr>
            <a:r>
              <a:rPr lang="en-US" sz="1150" dirty="0">
                <a:solidFill>
                  <a:srgbClr val="1A2E33"/>
                </a:solidFill>
                <a:latin typeface="Calibri" pitchFamily="34" charset="0"/>
                <a:ea typeface="Calibri" pitchFamily="34" charset="-122"/>
                <a:cs typeface="Calibri" pitchFamily="34" charset="-120"/>
              </a:rPr>
              <a:t>Four algorithms group similar sounds.</a:t>
            </a:r>
            <a:endParaRPr lang="en-US" sz="1150" dirty="0"/>
          </a:p>
        </p:txBody>
      </p:sp>
      <p:sp>
        <p:nvSpPr>
          <p:cNvPr id="26" name="Shape 19"/>
          <p:cNvSpPr/>
          <p:nvPr/>
        </p:nvSpPr>
        <p:spPr>
          <a:xfrm>
            <a:off x="8577072" y="2258568"/>
            <a:ext cx="310896" cy="310896"/>
          </a:xfrm>
          <a:prstGeom prst="ellipse">
            <a:avLst/>
          </a:prstGeom>
          <a:solidFill>
            <a:srgbClr val="02C39A"/>
          </a:solidFill>
          <a:ln/>
        </p:spPr>
        <p:txBody>
          <a:bodyPr/>
          <a:lstStyle/>
          <a:p>
            <a:endParaRPr lang="en-US"/>
          </a:p>
        </p:txBody>
      </p:sp>
      <p:pic>
        <p:nvPicPr>
          <p:cNvPr id="27" name="Image 5" descr="preencoded.png"/>
          <p:cNvPicPr>
            <a:picLocks noChangeAspect="1"/>
          </p:cNvPicPr>
          <p:nvPr/>
        </p:nvPicPr>
        <p:blipFill>
          <a:blip r:embed="rId4"/>
          <a:stretch>
            <a:fillRect/>
          </a:stretch>
        </p:blipFill>
        <p:spPr>
          <a:xfrm>
            <a:off x="8650224" y="2331720"/>
            <a:ext cx="164592" cy="164592"/>
          </a:xfrm>
          <a:prstGeom prst="rect">
            <a:avLst/>
          </a:prstGeom>
        </p:spPr>
      </p:pic>
      <p:sp>
        <p:nvSpPr>
          <p:cNvPr id="28" name="Shape 20"/>
          <p:cNvSpPr/>
          <p:nvPr/>
        </p:nvSpPr>
        <p:spPr>
          <a:xfrm>
            <a:off x="8897112" y="1783080"/>
            <a:ext cx="2542032" cy="2743200"/>
          </a:xfrm>
          <a:prstGeom prst="rect">
            <a:avLst/>
          </a:prstGeom>
          <a:solidFill>
            <a:srgbClr val="E8F4F3"/>
          </a:solidFill>
          <a:ln/>
          <a:effectLst>
            <a:outerShdw blurRad="101600" dist="38100" dir="8100000" algn="bl" rotWithShape="0">
              <a:srgbClr val="000000">
                <a:alpha val="16000"/>
              </a:srgbClr>
            </a:outerShdw>
          </a:effectLst>
        </p:spPr>
        <p:txBody>
          <a:bodyPr/>
          <a:lstStyle/>
          <a:p>
            <a:endParaRPr lang="en-US"/>
          </a:p>
        </p:txBody>
      </p:sp>
      <p:sp>
        <p:nvSpPr>
          <p:cNvPr id="29" name="Shape 21"/>
          <p:cNvSpPr/>
          <p:nvPr/>
        </p:nvSpPr>
        <p:spPr>
          <a:xfrm>
            <a:off x="9153144" y="2057400"/>
            <a:ext cx="713232" cy="713232"/>
          </a:xfrm>
          <a:prstGeom prst="ellipse">
            <a:avLst/>
          </a:prstGeom>
          <a:solidFill>
            <a:srgbClr val="028090"/>
          </a:solidFill>
          <a:ln/>
        </p:spPr>
        <p:txBody>
          <a:bodyPr/>
          <a:lstStyle/>
          <a:p>
            <a:endParaRPr lang="en-US"/>
          </a:p>
        </p:txBody>
      </p:sp>
      <p:pic>
        <p:nvPicPr>
          <p:cNvPr id="30" name="Image 6" descr="preencoded.png"/>
          <p:cNvPicPr>
            <a:picLocks noChangeAspect="1"/>
          </p:cNvPicPr>
          <p:nvPr/>
        </p:nvPicPr>
        <p:blipFill>
          <a:blip r:embed="rId7"/>
          <a:stretch>
            <a:fillRect/>
          </a:stretch>
        </p:blipFill>
        <p:spPr>
          <a:xfrm>
            <a:off x="9326880" y="2231136"/>
            <a:ext cx="365760" cy="365760"/>
          </a:xfrm>
          <a:prstGeom prst="rect">
            <a:avLst/>
          </a:prstGeom>
        </p:spPr>
      </p:pic>
      <p:sp>
        <p:nvSpPr>
          <p:cNvPr id="31" name="Text 22"/>
          <p:cNvSpPr/>
          <p:nvPr/>
        </p:nvSpPr>
        <p:spPr>
          <a:xfrm>
            <a:off x="9994392" y="2212848"/>
            <a:ext cx="1280160" cy="274320"/>
          </a:xfrm>
          <a:prstGeom prst="rect">
            <a:avLst/>
          </a:prstGeom>
          <a:noFill/>
          <a:ln/>
        </p:spPr>
        <p:txBody>
          <a:bodyPr wrap="square" lIns="0" tIns="0" rIns="0" bIns="0" rtlCol="0" anchor="ctr"/>
          <a:lstStyle/>
          <a:p>
            <a:pPr marL="0" indent="0">
              <a:buNone/>
            </a:pPr>
            <a:r>
              <a:rPr lang="en-US" sz="1000" b="1" kern="0" spc="150" dirty="0">
                <a:solidFill>
                  <a:srgbClr val="028090"/>
                </a:solidFill>
                <a:latin typeface="Calibri" pitchFamily="34" charset="0"/>
                <a:ea typeface="Calibri" pitchFamily="34" charset="-122"/>
                <a:cs typeface="Calibri" pitchFamily="34" charset="-120"/>
              </a:rPr>
              <a:t>STEP 4</a:t>
            </a:r>
            <a:endParaRPr lang="en-US" sz="1000" dirty="0"/>
          </a:p>
        </p:txBody>
      </p:sp>
      <p:sp>
        <p:nvSpPr>
          <p:cNvPr id="32" name="Text 23"/>
          <p:cNvSpPr/>
          <p:nvPr/>
        </p:nvSpPr>
        <p:spPr>
          <a:xfrm>
            <a:off x="9153144" y="2880360"/>
            <a:ext cx="2084832" cy="457200"/>
          </a:xfrm>
          <a:prstGeom prst="rect">
            <a:avLst/>
          </a:prstGeom>
          <a:noFill/>
          <a:ln/>
        </p:spPr>
        <p:txBody>
          <a:bodyPr wrap="square" lIns="0" tIns="0" rIns="0" bIns="0" rtlCol="0" anchor="ctr"/>
          <a:lstStyle/>
          <a:p>
            <a:pPr marL="0" indent="0">
              <a:buNone/>
            </a:pPr>
            <a:r>
              <a:rPr lang="en-US" sz="1600" b="1" dirty="0">
                <a:solidFill>
                  <a:srgbClr val="0B2027"/>
                </a:solidFill>
                <a:latin typeface="Georgia" pitchFamily="34" charset="0"/>
                <a:ea typeface="Georgia" pitchFamily="34" charset="-122"/>
                <a:cs typeface="Georgia" pitchFamily="34" charset="-120"/>
              </a:rPr>
              <a:t>Evaluate</a:t>
            </a:r>
            <a:endParaRPr lang="en-US" sz="1600" dirty="0"/>
          </a:p>
        </p:txBody>
      </p:sp>
      <p:sp>
        <p:nvSpPr>
          <p:cNvPr id="33" name="Text 24"/>
          <p:cNvSpPr/>
          <p:nvPr/>
        </p:nvSpPr>
        <p:spPr>
          <a:xfrm>
            <a:off x="9153144" y="3291840"/>
            <a:ext cx="2084832" cy="1143000"/>
          </a:xfrm>
          <a:prstGeom prst="rect">
            <a:avLst/>
          </a:prstGeom>
          <a:noFill/>
          <a:ln/>
        </p:spPr>
        <p:txBody>
          <a:bodyPr wrap="square" lIns="0" tIns="0" rIns="0" bIns="0" rtlCol="0" anchor="ctr"/>
          <a:lstStyle/>
          <a:p>
            <a:pPr marL="0" indent="0">
              <a:lnSpc>
                <a:spcPts val="1600"/>
              </a:lnSpc>
              <a:buNone/>
            </a:pPr>
            <a:r>
              <a:rPr lang="en-US" sz="1150" dirty="0">
                <a:solidFill>
                  <a:srgbClr val="1A2E33"/>
                </a:solidFill>
                <a:latin typeface="Calibri" pitchFamily="34" charset="0"/>
                <a:ea typeface="Calibri" pitchFamily="34" charset="-122"/>
                <a:cs typeface="Calibri" pitchFamily="34" charset="-120"/>
              </a:rPr>
              <a:t>Score each grouping with five metrics, internal geometry and ground truth.</a:t>
            </a:r>
            <a:endParaRPr lang="en-US" sz="1150" dirty="0"/>
          </a:p>
        </p:txBody>
      </p:sp>
      <p:sp>
        <p:nvSpPr>
          <p:cNvPr id="34" name="Shape 25"/>
          <p:cNvSpPr/>
          <p:nvPr/>
        </p:nvSpPr>
        <p:spPr>
          <a:xfrm>
            <a:off x="777240" y="4800600"/>
            <a:ext cx="10625328" cy="1234440"/>
          </a:xfrm>
          <a:prstGeom prst="rect">
            <a:avLst/>
          </a:prstGeom>
          <a:solidFill>
            <a:srgbClr val="0B2027"/>
          </a:solidFill>
          <a:ln/>
          <a:effectLst>
            <a:outerShdw blurRad="101600" dist="38100" dir="8100000" algn="bl" rotWithShape="0">
              <a:srgbClr val="000000">
                <a:alpha val="16000"/>
              </a:srgbClr>
            </a:outerShdw>
          </a:effectLst>
        </p:spPr>
        <p:txBody>
          <a:bodyPr/>
          <a:lstStyle/>
          <a:p>
            <a:endParaRPr lang="en-US"/>
          </a:p>
        </p:txBody>
      </p:sp>
      <p:sp>
        <p:nvSpPr>
          <p:cNvPr id="35" name="Shape 26"/>
          <p:cNvSpPr/>
          <p:nvPr/>
        </p:nvSpPr>
        <p:spPr>
          <a:xfrm>
            <a:off x="1097280" y="5074920"/>
            <a:ext cx="685800" cy="685800"/>
          </a:xfrm>
          <a:prstGeom prst="ellipse">
            <a:avLst/>
          </a:prstGeom>
          <a:solidFill>
            <a:srgbClr val="028090"/>
          </a:solidFill>
          <a:ln/>
        </p:spPr>
        <p:txBody>
          <a:bodyPr/>
          <a:lstStyle/>
          <a:p>
            <a:endParaRPr lang="en-US"/>
          </a:p>
        </p:txBody>
      </p:sp>
      <p:pic>
        <p:nvPicPr>
          <p:cNvPr id="36" name="Image 7" descr="preencoded.png"/>
          <p:cNvPicPr>
            <a:picLocks noChangeAspect="1"/>
          </p:cNvPicPr>
          <p:nvPr/>
        </p:nvPicPr>
        <p:blipFill>
          <a:blip r:embed="rId8"/>
          <a:stretch>
            <a:fillRect/>
          </a:stretch>
        </p:blipFill>
        <p:spPr>
          <a:xfrm>
            <a:off x="1271016" y="5248656"/>
            <a:ext cx="338328" cy="338328"/>
          </a:xfrm>
          <a:prstGeom prst="rect">
            <a:avLst/>
          </a:prstGeom>
        </p:spPr>
      </p:pic>
      <p:sp>
        <p:nvSpPr>
          <p:cNvPr id="37" name="Text 27"/>
          <p:cNvSpPr/>
          <p:nvPr/>
        </p:nvSpPr>
        <p:spPr>
          <a:xfrm>
            <a:off x="2057400" y="5029200"/>
            <a:ext cx="9052560" cy="868680"/>
          </a:xfrm>
          <a:prstGeom prst="rect">
            <a:avLst/>
          </a:prstGeom>
          <a:noFill/>
          <a:ln/>
        </p:spPr>
        <p:txBody>
          <a:bodyPr wrap="square" lIns="0" tIns="0" rIns="0" bIns="0" rtlCol="0" anchor="ctr"/>
          <a:lstStyle/>
          <a:p>
            <a:pPr marL="0" indent="0">
              <a:lnSpc>
                <a:spcPts val="1900"/>
              </a:lnSpc>
              <a:buNone/>
            </a:pPr>
            <a:r>
              <a:rPr lang="en-US" sz="1300" b="1" dirty="0">
                <a:solidFill>
                  <a:srgbClr val="02C39A"/>
                </a:solidFill>
                <a:latin typeface="Calibri" pitchFamily="34" charset="0"/>
                <a:ea typeface="Calibri" pitchFamily="34" charset="-122"/>
                <a:cs typeface="Calibri" pitchFamily="34" charset="-120"/>
              </a:rPr>
              <a:t>Key improvement — richer features.  </a:t>
            </a:r>
            <a:r>
              <a:rPr lang="en-US" sz="1300" dirty="0">
                <a:solidFill>
                  <a:srgbClr val="C7D8DA"/>
                </a:solidFill>
                <a:latin typeface="Calibri" pitchFamily="34" charset="0"/>
                <a:ea typeface="Calibri" pitchFamily="34" charset="-122"/>
                <a:cs typeface="Calibri" pitchFamily="34" charset="-120"/>
              </a:rPr>
              <a:t>The first version averaged sounds over time and lost crucial dynamics. We added temporal change and tonal-structure descriptors, more than doubling the fingerprint richness.</a:t>
            </a:r>
            <a:endParaRPr lang="en-US" sz="1300" dirty="0"/>
          </a:p>
        </p:txBody>
      </p:sp>
      <p:sp>
        <p:nvSpPr>
          <p:cNvPr id="38" name="Text 28"/>
          <p:cNvSpPr/>
          <p:nvPr/>
        </p:nvSpPr>
        <p:spPr>
          <a:xfrm>
            <a:off x="11277295" y="6355080"/>
            <a:ext cx="548640" cy="320040"/>
          </a:xfrm>
          <a:prstGeom prst="rect">
            <a:avLst/>
          </a:prstGeom>
          <a:noFill/>
          <a:ln/>
        </p:spPr>
        <p:txBody>
          <a:bodyPr wrap="square" lIns="0" tIns="0" rIns="0" bIns="0" rtlCol="0" anchor="ctr"/>
          <a:lstStyle/>
          <a:p>
            <a:pPr marL="0" indent="0" algn="r">
              <a:buNone/>
            </a:pPr>
            <a:r>
              <a:rPr lang="en-US" sz="1000" dirty="0">
                <a:solidFill>
                  <a:srgbClr val="5E7378"/>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77240" y="548640"/>
            <a:ext cx="4572000" cy="274320"/>
          </a:xfrm>
          <a:prstGeom prst="rect">
            <a:avLst/>
          </a:prstGeom>
          <a:noFill/>
          <a:ln/>
        </p:spPr>
        <p:txBody>
          <a:bodyPr wrap="square" lIns="0" tIns="0" rIns="0" bIns="0" rtlCol="0" anchor="ctr"/>
          <a:lstStyle/>
          <a:p>
            <a:pPr marL="0" indent="0">
              <a:buNone/>
            </a:pPr>
            <a:r>
              <a:rPr lang="en-US" sz="1100" b="1" kern="0" spc="300" dirty="0">
                <a:solidFill>
                  <a:srgbClr val="028090"/>
                </a:solidFill>
                <a:latin typeface="Calibri" pitchFamily="34" charset="0"/>
                <a:ea typeface="Calibri" pitchFamily="34" charset="-122"/>
                <a:cs typeface="Calibri" pitchFamily="34" charset="-120"/>
              </a:rPr>
              <a:t>RESULTS · STAGE 1</a:t>
            </a:r>
            <a:endParaRPr lang="en-US" sz="1100" dirty="0"/>
          </a:p>
        </p:txBody>
      </p:sp>
      <p:sp>
        <p:nvSpPr>
          <p:cNvPr id="3" name="Text 1"/>
          <p:cNvSpPr/>
          <p:nvPr/>
        </p:nvSpPr>
        <p:spPr>
          <a:xfrm>
            <a:off x="777240" y="822960"/>
            <a:ext cx="10789920" cy="685800"/>
          </a:xfrm>
          <a:prstGeom prst="rect">
            <a:avLst/>
          </a:prstGeom>
          <a:noFill/>
          <a:ln/>
        </p:spPr>
        <p:txBody>
          <a:bodyPr wrap="square" lIns="0" tIns="0" rIns="0" bIns="0" rtlCol="0" anchor="ctr"/>
          <a:lstStyle/>
          <a:p>
            <a:pPr marL="0" indent="0">
              <a:buNone/>
            </a:pPr>
            <a:r>
              <a:rPr lang="en-US" sz="2700" b="1" dirty="0">
                <a:solidFill>
                  <a:srgbClr val="0B2027"/>
                </a:solidFill>
                <a:latin typeface="Georgia" pitchFamily="34" charset="0"/>
                <a:ea typeface="Georgia" pitchFamily="34" charset="-122"/>
                <a:cs typeface="Georgia" pitchFamily="34" charset="-120"/>
              </a:rPr>
              <a:t>Stage 1: city sounds partly cluster, but not cleanly</a:t>
            </a:r>
            <a:endParaRPr lang="en-US" sz="2700" dirty="0"/>
          </a:p>
        </p:txBody>
      </p:sp>
      <p:sp>
        <p:nvSpPr>
          <p:cNvPr id="4" name="Text 2"/>
          <p:cNvSpPr/>
          <p:nvPr/>
        </p:nvSpPr>
        <p:spPr>
          <a:xfrm>
            <a:off x="777240" y="1508760"/>
            <a:ext cx="10515600" cy="777240"/>
          </a:xfrm>
          <a:prstGeom prst="rect">
            <a:avLst/>
          </a:prstGeom>
          <a:noFill/>
          <a:ln/>
        </p:spPr>
        <p:txBody>
          <a:bodyPr wrap="square" lIns="0" tIns="0" rIns="0" bIns="0" rtlCol="0" anchor="ctr"/>
          <a:lstStyle/>
          <a:p>
            <a:pPr marL="0" indent="0">
              <a:lnSpc>
                <a:spcPts val="2100"/>
              </a:lnSpc>
              <a:buNone/>
            </a:pPr>
            <a:r>
              <a:rPr lang="en-US" sz="1400" dirty="0">
                <a:solidFill>
                  <a:srgbClr val="1A2E33"/>
                </a:solidFill>
                <a:latin typeface="Calibri" pitchFamily="34" charset="0"/>
                <a:ea typeface="Calibri" pitchFamily="34" charset="-122"/>
                <a:cs typeface="Calibri" pitchFamily="34" charset="-120"/>
              </a:rPr>
              <a:t>We tested four clustering algorithms on the ten everyday sound categories. K-Means came out clearly ahead, but no method recovered the categories cleanly. Urban sounds simply overlap too much for a tidy separation.</a:t>
            </a:r>
            <a:endParaRPr lang="en-US" sz="1400" dirty="0"/>
          </a:p>
        </p:txBody>
      </p:sp>
      <p:sp>
        <p:nvSpPr>
          <p:cNvPr id="5" name="Shape 3"/>
          <p:cNvSpPr/>
          <p:nvPr/>
        </p:nvSpPr>
        <p:spPr>
          <a:xfrm>
            <a:off x="777240" y="2468880"/>
            <a:ext cx="6720840" cy="749808"/>
          </a:xfrm>
          <a:prstGeom prst="rect">
            <a:avLst/>
          </a:prstGeom>
          <a:solidFill>
            <a:srgbClr val="E8F4F3"/>
          </a:solidFill>
          <a:ln/>
        </p:spPr>
        <p:txBody>
          <a:bodyPr/>
          <a:lstStyle/>
          <a:p>
            <a:endParaRPr lang="en-US"/>
          </a:p>
        </p:txBody>
      </p:sp>
      <p:sp>
        <p:nvSpPr>
          <p:cNvPr id="6" name="Shape 4"/>
          <p:cNvSpPr/>
          <p:nvPr/>
        </p:nvSpPr>
        <p:spPr>
          <a:xfrm>
            <a:off x="777240" y="2468880"/>
            <a:ext cx="91440" cy="749808"/>
          </a:xfrm>
          <a:prstGeom prst="rect">
            <a:avLst/>
          </a:prstGeom>
          <a:solidFill>
            <a:srgbClr val="028090"/>
          </a:solidFill>
          <a:ln/>
        </p:spPr>
        <p:txBody>
          <a:bodyPr/>
          <a:lstStyle/>
          <a:p>
            <a:endParaRPr lang="en-US"/>
          </a:p>
        </p:txBody>
      </p:sp>
      <p:sp>
        <p:nvSpPr>
          <p:cNvPr id="7" name="Text 5"/>
          <p:cNvSpPr/>
          <p:nvPr/>
        </p:nvSpPr>
        <p:spPr>
          <a:xfrm>
            <a:off x="960120" y="2468880"/>
            <a:ext cx="502920" cy="749808"/>
          </a:xfrm>
          <a:prstGeom prst="rect">
            <a:avLst/>
          </a:prstGeom>
          <a:noFill/>
          <a:ln/>
        </p:spPr>
        <p:txBody>
          <a:bodyPr wrap="square" lIns="0" tIns="0" rIns="0" bIns="0" rtlCol="0" anchor="ctr"/>
          <a:lstStyle/>
          <a:p>
            <a:pPr marL="0" indent="0" algn="ctr">
              <a:buNone/>
            </a:pPr>
            <a:r>
              <a:rPr lang="en-US" sz="2200" b="1" dirty="0">
                <a:solidFill>
                  <a:srgbClr val="028090"/>
                </a:solidFill>
                <a:latin typeface="Georgia" pitchFamily="34" charset="0"/>
                <a:ea typeface="Georgia" pitchFamily="34" charset="-122"/>
                <a:cs typeface="Georgia" pitchFamily="34" charset="-120"/>
              </a:rPr>
              <a:t>1</a:t>
            </a:r>
            <a:endParaRPr lang="en-US" sz="2200" dirty="0"/>
          </a:p>
        </p:txBody>
      </p:sp>
      <p:sp>
        <p:nvSpPr>
          <p:cNvPr id="8" name="Text 6"/>
          <p:cNvSpPr/>
          <p:nvPr/>
        </p:nvSpPr>
        <p:spPr>
          <a:xfrm>
            <a:off x="1554480" y="2542032"/>
            <a:ext cx="5760720" cy="320040"/>
          </a:xfrm>
          <a:prstGeom prst="rect">
            <a:avLst/>
          </a:prstGeom>
          <a:noFill/>
          <a:ln/>
        </p:spPr>
        <p:txBody>
          <a:bodyPr wrap="square" lIns="0" tIns="0" rIns="0" bIns="0" rtlCol="0" anchor="ctr"/>
          <a:lstStyle/>
          <a:p>
            <a:pPr marL="0" indent="0">
              <a:buNone/>
            </a:pPr>
            <a:r>
              <a:rPr lang="en-US" sz="1350" b="1" dirty="0">
                <a:solidFill>
                  <a:srgbClr val="0B2027"/>
                </a:solidFill>
                <a:latin typeface="Calibri" pitchFamily="34" charset="0"/>
                <a:ea typeface="Calibri" pitchFamily="34" charset="-122"/>
                <a:cs typeface="Calibri" pitchFamily="34" charset="-120"/>
              </a:rPr>
              <a:t>K-Means   </a:t>
            </a:r>
            <a:r>
              <a:rPr lang="en-US" sz="1150" b="1" dirty="0">
                <a:solidFill>
                  <a:srgbClr val="028090"/>
                </a:solidFill>
                <a:latin typeface="Calibri" pitchFamily="34" charset="0"/>
                <a:ea typeface="Calibri" pitchFamily="34" charset="-122"/>
                <a:cs typeface="Calibri" pitchFamily="34" charset="-120"/>
              </a:rPr>
              <a:t>Best overall — chosen</a:t>
            </a:r>
            <a:endParaRPr lang="en-US" sz="1350" dirty="0"/>
          </a:p>
        </p:txBody>
      </p:sp>
      <p:sp>
        <p:nvSpPr>
          <p:cNvPr id="9" name="Text 7"/>
          <p:cNvSpPr/>
          <p:nvPr/>
        </p:nvSpPr>
        <p:spPr>
          <a:xfrm>
            <a:off x="1554480" y="2834640"/>
            <a:ext cx="5806440" cy="329184"/>
          </a:xfrm>
          <a:prstGeom prst="rect">
            <a:avLst/>
          </a:prstGeom>
          <a:noFill/>
          <a:ln/>
        </p:spPr>
        <p:txBody>
          <a:bodyPr wrap="square" lIns="0" tIns="0" rIns="0" bIns="0" rtlCol="0" anchor="ctr"/>
          <a:lstStyle/>
          <a:p>
            <a:pPr marL="0" indent="0">
              <a:buNone/>
            </a:pPr>
            <a:r>
              <a:rPr lang="en-US" sz="1100" dirty="0">
                <a:solidFill>
                  <a:srgbClr val="5E7378"/>
                </a:solidFill>
                <a:latin typeface="Calibri" pitchFamily="34" charset="0"/>
                <a:ea typeface="Calibri" pitchFamily="34" charset="-122"/>
                <a:cs typeface="Calibri" pitchFamily="34" charset="-120"/>
              </a:rPr>
              <a:t>Most reliable grouping, kept every clip, easy to interpret.</a:t>
            </a:r>
            <a:endParaRPr lang="en-US" sz="1100" dirty="0"/>
          </a:p>
        </p:txBody>
      </p:sp>
      <p:sp>
        <p:nvSpPr>
          <p:cNvPr id="10" name="Shape 8"/>
          <p:cNvSpPr/>
          <p:nvPr/>
        </p:nvSpPr>
        <p:spPr>
          <a:xfrm>
            <a:off x="777240" y="3346704"/>
            <a:ext cx="6720840" cy="749808"/>
          </a:xfrm>
          <a:prstGeom prst="rect">
            <a:avLst/>
          </a:prstGeom>
          <a:solidFill>
            <a:srgbClr val="F4F8F8"/>
          </a:solidFill>
          <a:ln/>
        </p:spPr>
        <p:txBody>
          <a:bodyPr/>
          <a:lstStyle/>
          <a:p>
            <a:endParaRPr lang="en-US"/>
          </a:p>
        </p:txBody>
      </p:sp>
      <p:sp>
        <p:nvSpPr>
          <p:cNvPr id="11" name="Shape 9"/>
          <p:cNvSpPr/>
          <p:nvPr/>
        </p:nvSpPr>
        <p:spPr>
          <a:xfrm>
            <a:off x="777240" y="3346704"/>
            <a:ext cx="91440" cy="749808"/>
          </a:xfrm>
          <a:prstGeom prst="rect">
            <a:avLst/>
          </a:prstGeom>
          <a:solidFill>
            <a:srgbClr val="00A896"/>
          </a:solidFill>
          <a:ln/>
        </p:spPr>
        <p:txBody>
          <a:bodyPr/>
          <a:lstStyle/>
          <a:p>
            <a:endParaRPr lang="en-US"/>
          </a:p>
        </p:txBody>
      </p:sp>
      <p:sp>
        <p:nvSpPr>
          <p:cNvPr id="12" name="Text 10"/>
          <p:cNvSpPr/>
          <p:nvPr/>
        </p:nvSpPr>
        <p:spPr>
          <a:xfrm>
            <a:off x="960120" y="3346704"/>
            <a:ext cx="502920" cy="749808"/>
          </a:xfrm>
          <a:prstGeom prst="rect">
            <a:avLst/>
          </a:prstGeom>
          <a:noFill/>
          <a:ln/>
        </p:spPr>
        <p:txBody>
          <a:bodyPr wrap="square" lIns="0" tIns="0" rIns="0" bIns="0" rtlCol="0" anchor="ctr"/>
          <a:lstStyle/>
          <a:p>
            <a:pPr marL="0" indent="0" algn="ctr">
              <a:buNone/>
            </a:pPr>
            <a:r>
              <a:rPr lang="en-US" sz="2200" b="1" dirty="0">
                <a:solidFill>
                  <a:srgbClr val="00A896"/>
                </a:solidFill>
                <a:latin typeface="Georgia" pitchFamily="34" charset="0"/>
                <a:ea typeface="Georgia" pitchFamily="34" charset="-122"/>
                <a:cs typeface="Georgia" pitchFamily="34" charset="-120"/>
              </a:rPr>
              <a:t>2</a:t>
            </a:r>
            <a:endParaRPr lang="en-US" sz="2200" dirty="0"/>
          </a:p>
        </p:txBody>
      </p:sp>
      <p:sp>
        <p:nvSpPr>
          <p:cNvPr id="13" name="Text 11"/>
          <p:cNvSpPr/>
          <p:nvPr/>
        </p:nvSpPr>
        <p:spPr>
          <a:xfrm>
            <a:off x="1554480" y="3419856"/>
            <a:ext cx="5760720" cy="320040"/>
          </a:xfrm>
          <a:prstGeom prst="rect">
            <a:avLst/>
          </a:prstGeom>
          <a:noFill/>
          <a:ln/>
        </p:spPr>
        <p:txBody>
          <a:bodyPr wrap="square" lIns="0" tIns="0" rIns="0" bIns="0" rtlCol="0" anchor="ctr"/>
          <a:lstStyle/>
          <a:p>
            <a:pPr marL="0" indent="0">
              <a:buNone/>
            </a:pPr>
            <a:r>
              <a:rPr lang="en-US" sz="1350" b="1" dirty="0">
                <a:solidFill>
                  <a:srgbClr val="0B2027"/>
                </a:solidFill>
                <a:latin typeface="Calibri" pitchFamily="34" charset="0"/>
                <a:ea typeface="Calibri" pitchFamily="34" charset="-122"/>
                <a:cs typeface="Calibri" pitchFamily="34" charset="-120"/>
              </a:rPr>
              <a:t>Hierarchical clustering   </a:t>
            </a:r>
            <a:r>
              <a:rPr lang="en-US" sz="1150" b="1" dirty="0">
                <a:solidFill>
                  <a:srgbClr val="00A896"/>
                </a:solidFill>
                <a:latin typeface="Calibri" pitchFamily="34" charset="0"/>
                <a:ea typeface="Calibri" pitchFamily="34" charset="-122"/>
                <a:cs typeface="Calibri" pitchFamily="34" charset="-120"/>
              </a:rPr>
              <a:t>A solid runner-up</a:t>
            </a:r>
            <a:endParaRPr lang="en-US" sz="1350" dirty="0"/>
          </a:p>
        </p:txBody>
      </p:sp>
      <p:sp>
        <p:nvSpPr>
          <p:cNvPr id="14" name="Text 12"/>
          <p:cNvSpPr/>
          <p:nvPr/>
        </p:nvSpPr>
        <p:spPr>
          <a:xfrm>
            <a:off x="1554480" y="3712464"/>
            <a:ext cx="5806440" cy="329184"/>
          </a:xfrm>
          <a:prstGeom prst="rect">
            <a:avLst/>
          </a:prstGeom>
          <a:noFill/>
          <a:ln/>
        </p:spPr>
        <p:txBody>
          <a:bodyPr wrap="square" lIns="0" tIns="0" rIns="0" bIns="0" rtlCol="0" anchor="ctr"/>
          <a:lstStyle/>
          <a:p>
            <a:pPr marL="0" indent="0">
              <a:buNone/>
            </a:pPr>
            <a:r>
              <a:rPr lang="en-US" sz="1100" dirty="0">
                <a:solidFill>
                  <a:srgbClr val="5E7378"/>
                </a:solidFill>
                <a:latin typeface="Calibri" pitchFamily="34" charset="0"/>
                <a:ea typeface="Calibri" pitchFamily="34" charset="-122"/>
                <a:cs typeface="Calibri" pitchFamily="34" charset="-120"/>
              </a:rPr>
              <a:t>Sensible groups, but harder to summarise what each one means.</a:t>
            </a:r>
            <a:endParaRPr lang="en-US" sz="1100" dirty="0"/>
          </a:p>
        </p:txBody>
      </p:sp>
      <p:sp>
        <p:nvSpPr>
          <p:cNvPr id="15" name="Shape 13"/>
          <p:cNvSpPr/>
          <p:nvPr/>
        </p:nvSpPr>
        <p:spPr>
          <a:xfrm>
            <a:off x="777240" y="4224528"/>
            <a:ext cx="6720840" cy="749808"/>
          </a:xfrm>
          <a:prstGeom prst="rect">
            <a:avLst/>
          </a:prstGeom>
          <a:solidFill>
            <a:srgbClr val="F4F8F8"/>
          </a:solidFill>
          <a:ln/>
        </p:spPr>
        <p:txBody>
          <a:bodyPr/>
          <a:lstStyle/>
          <a:p>
            <a:endParaRPr lang="en-US"/>
          </a:p>
        </p:txBody>
      </p:sp>
      <p:sp>
        <p:nvSpPr>
          <p:cNvPr id="16" name="Shape 14"/>
          <p:cNvSpPr/>
          <p:nvPr/>
        </p:nvSpPr>
        <p:spPr>
          <a:xfrm>
            <a:off x="777240" y="4224528"/>
            <a:ext cx="91440" cy="749808"/>
          </a:xfrm>
          <a:prstGeom prst="rect">
            <a:avLst/>
          </a:prstGeom>
          <a:solidFill>
            <a:srgbClr val="9AAFB3"/>
          </a:solidFill>
          <a:ln/>
        </p:spPr>
        <p:txBody>
          <a:bodyPr/>
          <a:lstStyle/>
          <a:p>
            <a:endParaRPr lang="en-US"/>
          </a:p>
        </p:txBody>
      </p:sp>
      <p:sp>
        <p:nvSpPr>
          <p:cNvPr id="17" name="Text 15"/>
          <p:cNvSpPr/>
          <p:nvPr/>
        </p:nvSpPr>
        <p:spPr>
          <a:xfrm>
            <a:off x="960120" y="4224528"/>
            <a:ext cx="502920" cy="749808"/>
          </a:xfrm>
          <a:prstGeom prst="rect">
            <a:avLst/>
          </a:prstGeom>
          <a:noFill/>
          <a:ln/>
        </p:spPr>
        <p:txBody>
          <a:bodyPr wrap="square" lIns="0" tIns="0" rIns="0" bIns="0" rtlCol="0" anchor="ctr"/>
          <a:lstStyle/>
          <a:p>
            <a:pPr marL="0" indent="0" algn="ctr">
              <a:buNone/>
            </a:pPr>
            <a:r>
              <a:rPr lang="en-US" sz="2200" b="1" dirty="0">
                <a:solidFill>
                  <a:srgbClr val="9AAFB3"/>
                </a:solidFill>
                <a:latin typeface="Georgia" pitchFamily="34" charset="0"/>
                <a:ea typeface="Georgia" pitchFamily="34" charset="-122"/>
                <a:cs typeface="Georgia" pitchFamily="34" charset="-120"/>
              </a:rPr>
              <a:t>3</a:t>
            </a:r>
            <a:endParaRPr lang="en-US" sz="2200" dirty="0"/>
          </a:p>
        </p:txBody>
      </p:sp>
      <p:sp>
        <p:nvSpPr>
          <p:cNvPr id="18" name="Text 16"/>
          <p:cNvSpPr/>
          <p:nvPr/>
        </p:nvSpPr>
        <p:spPr>
          <a:xfrm>
            <a:off x="1554480" y="4297680"/>
            <a:ext cx="5760720" cy="320040"/>
          </a:xfrm>
          <a:prstGeom prst="rect">
            <a:avLst/>
          </a:prstGeom>
          <a:noFill/>
          <a:ln/>
        </p:spPr>
        <p:txBody>
          <a:bodyPr wrap="square" lIns="0" tIns="0" rIns="0" bIns="0" rtlCol="0" anchor="ctr"/>
          <a:lstStyle/>
          <a:p>
            <a:pPr marL="0" indent="0">
              <a:buNone/>
            </a:pPr>
            <a:r>
              <a:rPr lang="en-US" sz="1350" b="1" dirty="0">
                <a:solidFill>
                  <a:srgbClr val="0B2027"/>
                </a:solidFill>
                <a:latin typeface="Calibri" pitchFamily="34" charset="0"/>
                <a:ea typeface="Calibri" pitchFamily="34" charset="-122"/>
                <a:cs typeface="Calibri" pitchFamily="34" charset="-120"/>
              </a:rPr>
              <a:t>Spectral clustering   </a:t>
            </a:r>
            <a:r>
              <a:rPr lang="en-US" sz="1150" b="1" dirty="0">
                <a:solidFill>
                  <a:srgbClr val="9AAFB3"/>
                </a:solidFill>
                <a:latin typeface="Calibri" pitchFamily="34" charset="0"/>
                <a:ea typeface="Calibri" pitchFamily="34" charset="-122"/>
                <a:cs typeface="Calibri" pitchFamily="34" charset="-120"/>
              </a:rPr>
              <a:t>Struggled here</a:t>
            </a:r>
            <a:endParaRPr lang="en-US" sz="1350" dirty="0"/>
          </a:p>
        </p:txBody>
      </p:sp>
      <p:sp>
        <p:nvSpPr>
          <p:cNvPr id="19" name="Text 17"/>
          <p:cNvSpPr/>
          <p:nvPr/>
        </p:nvSpPr>
        <p:spPr>
          <a:xfrm>
            <a:off x="1554480" y="4590288"/>
            <a:ext cx="5806440" cy="329184"/>
          </a:xfrm>
          <a:prstGeom prst="rect">
            <a:avLst/>
          </a:prstGeom>
          <a:noFill/>
          <a:ln/>
        </p:spPr>
        <p:txBody>
          <a:bodyPr wrap="square" lIns="0" tIns="0" rIns="0" bIns="0" rtlCol="0" anchor="ctr"/>
          <a:lstStyle/>
          <a:p>
            <a:pPr marL="0" indent="0">
              <a:buNone/>
            </a:pPr>
            <a:r>
              <a:rPr lang="en-US" sz="1100" dirty="0">
                <a:solidFill>
                  <a:srgbClr val="5E7378"/>
                </a:solidFill>
                <a:latin typeface="Calibri" pitchFamily="34" charset="0"/>
                <a:ea typeface="Calibri" pitchFamily="34" charset="-122"/>
                <a:cs typeface="Calibri" pitchFamily="34" charset="-120"/>
              </a:rPr>
              <a:t>Extra complexity brought no benefit on overlapping sounds.</a:t>
            </a:r>
            <a:endParaRPr lang="en-US" sz="1100" dirty="0"/>
          </a:p>
        </p:txBody>
      </p:sp>
      <p:sp>
        <p:nvSpPr>
          <p:cNvPr id="20" name="Shape 18"/>
          <p:cNvSpPr/>
          <p:nvPr/>
        </p:nvSpPr>
        <p:spPr>
          <a:xfrm>
            <a:off x="777240" y="5102352"/>
            <a:ext cx="6720840" cy="749808"/>
          </a:xfrm>
          <a:prstGeom prst="rect">
            <a:avLst/>
          </a:prstGeom>
          <a:solidFill>
            <a:srgbClr val="F4F8F8"/>
          </a:solidFill>
          <a:ln/>
        </p:spPr>
        <p:txBody>
          <a:bodyPr/>
          <a:lstStyle/>
          <a:p>
            <a:endParaRPr lang="en-US"/>
          </a:p>
        </p:txBody>
      </p:sp>
      <p:sp>
        <p:nvSpPr>
          <p:cNvPr id="21" name="Shape 19"/>
          <p:cNvSpPr/>
          <p:nvPr/>
        </p:nvSpPr>
        <p:spPr>
          <a:xfrm>
            <a:off x="777240" y="5102352"/>
            <a:ext cx="91440" cy="749808"/>
          </a:xfrm>
          <a:prstGeom prst="rect">
            <a:avLst/>
          </a:prstGeom>
          <a:solidFill>
            <a:srgbClr val="9AAFB3"/>
          </a:solidFill>
          <a:ln/>
        </p:spPr>
        <p:txBody>
          <a:bodyPr/>
          <a:lstStyle/>
          <a:p>
            <a:endParaRPr lang="en-US"/>
          </a:p>
        </p:txBody>
      </p:sp>
      <p:sp>
        <p:nvSpPr>
          <p:cNvPr id="22" name="Text 20"/>
          <p:cNvSpPr/>
          <p:nvPr/>
        </p:nvSpPr>
        <p:spPr>
          <a:xfrm>
            <a:off x="960120" y="5102352"/>
            <a:ext cx="502920" cy="749808"/>
          </a:xfrm>
          <a:prstGeom prst="rect">
            <a:avLst/>
          </a:prstGeom>
          <a:noFill/>
          <a:ln/>
        </p:spPr>
        <p:txBody>
          <a:bodyPr wrap="square" lIns="0" tIns="0" rIns="0" bIns="0" rtlCol="0" anchor="ctr"/>
          <a:lstStyle/>
          <a:p>
            <a:pPr marL="0" indent="0" algn="ctr">
              <a:buNone/>
            </a:pPr>
            <a:r>
              <a:rPr lang="en-US" sz="2200" b="1" dirty="0">
                <a:solidFill>
                  <a:srgbClr val="9AAFB3"/>
                </a:solidFill>
                <a:latin typeface="Georgia" pitchFamily="34" charset="0"/>
                <a:ea typeface="Georgia" pitchFamily="34" charset="-122"/>
                <a:cs typeface="Georgia" pitchFamily="34" charset="-120"/>
              </a:rPr>
              <a:t>4</a:t>
            </a:r>
            <a:endParaRPr lang="en-US" sz="2200" dirty="0"/>
          </a:p>
        </p:txBody>
      </p:sp>
      <p:sp>
        <p:nvSpPr>
          <p:cNvPr id="23" name="Text 21"/>
          <p:cNvSpPr/>
          <p:nvPr/>
        </p:nvSpPr>
        <p:spPr>
          <a:xfrm>
            <a:off x="1554480" y="5175504"/>
            <a:ext cx="5760720" cy="320040"/>
          </a:xfrm>
          <a:prstGeom prst="rect">
            <a:avLst/>
          </a:prstGeom>
          <a:noFill/>
          <a:ln/>
        </p:spPr>
        <p:txBody>
          <a:bodyPr wrap="square" lIns="0" tIns="0" rIns="0" bIns="0" rtlCol="0" anchor="ctr"/>
          <a:lstStyle/>
          <a:p>
            <a:pPr marL="0" indent="0">
              <a:buNone/>
            </a:pPr>
            <a:r>
              <a:rPr lang="en-US" sz="1350" b="1" dirty="0">
                <a:solidFill>
                  <a:srgbClr val="0B2027"/>
                </a:solidFill>
                <a:latin typeface="Calibri" pitchFamily="34" charset="0"/>
                <a:ea typeface="Calibri" pitchFamily="34" charset="-122"/>
                <a:cs typeface="Calibri" pitchFamily="34" charset="-120"/>
              </a:rPr>
              <a:t>DBSCAN   </a:t>
            </a:r>
            <a:r>
              <a:rPr lang="en-US" sz="1150" b="1" dirty="0">
                <a:solidFill>
                  <a:srgbClr val="9AAFB3"/>
                </a:solidFill>
                <a:latin typeface="Calibri" pitchFamily="34" charset="0"/>
                <a:ea typeface="Calibri" pitchFamily="34" charset="-122"/>
                <a:cs typeface="Calibri" pitchFamily="34" charset="-120"/>
              </a:rPr>
              <a:t>Discarded most of the data</a:t>
            </a:r>
            <a:endParaRPr lang="en-US" sz="1350" dirty="0"/>
          </a:p>
        </p:txBody>
      </p:sp>
      <p:sp>
        <p:nvSpPr>
          <p:cNvPr id="24" name="Text 22"/>
          <p:cNvSpPr/>
          <p:nvPr/>
        </p:nvSpPr>
        <p:spPr>
          <a:xfrm>
            <a:off x="1554480" y="5468112"/>
            <a:ext cx="5806440" cy="329184"/>
          </a:xfrm>
          <a:prstGeom prst="rect">
            <a:avLst/>
          </a:prstGeom>
          <a:noFill/>
          <a:ln/>
        </p:spPr>
        <p:txBody>
          <a:bodyPr wrap="square" lIns="0" tIns="0" rIns="0" bIns="0" rtlCol="0" anchor="ctr"/>
          <a:lstStyle/>
          <a:p>
            <a:pPr marL="0" indent="0">
              <a:buNone/>
            </a:pPr>
            <a:r>
              <a:rPr lang="en-US" sz="1100" dirty="0">
                <a:solidFill>
                  <a:srgbClr val="5E7378"/>
                </a:solidFill>
                <a:latin typeface="Calibri" pitchFamily="34" charset="0"/>
                <a:ea typeface="Calibri" pitchFamily="34" charset="-122"/>
                <a:cs typeface="Calibri" pitchFamily="34" charset="-120"/>
              </a:rPr>
              <a:t>Labelled the majority of clips as noise.</a:t>
            </a:r>
            <a:endParaRPr lang="en-US" sz="1100" dirty="0"/>
          </a:p>
        </p:txBody>
      </p:sp>
      <p:sp>
        <p:nvSpPr>
          <p:cNvPr id="25" name="Shape 23"/>
          <p:cNvSpPr/>
          <p:nvPr/>
        </p:nvSpPr>
        <p:spPr>
          <a:xfrm>
            <a:off x="7772400" y="2468880"/>
            <a:ext cx="3611880" cy="3529584"/>
          </a:xfrm>
          <a:prstGeom prst="rect">
            <a:avLst/>
          </a:prstGeom>
          <a:solidFill>
            <a:srgbClr val="028090"/>
          </a:solidFill>
          <a:ln/>
          <a:effectLst>
            <a:outerShdw blurRad="101600" dist="38100" dir="8100000" algn="bl" rotWithShape="0">
              <a:srgbClr val="000000">
                <a:alpha val="16000"/>
              </a:srgbClr>
            </a:outerShdw>
          </a:effectLst>
        </p:spPr>
        <p:txBody>
          <a:bodyPr/>
          <a:lstStyle/>
          <a:p>
            <a:endParaRPr lang="en-US"/>
          </a:p>
        </p:txBody>
      </p:sp>
      <p:sp>
        <p:nvSpPr>
          <p:cNvPr id="27" name="Text 25"/>
          <p:cNvSpPr/>
          <p:nvPr/>
        </p:nvSpPr>
        <p:spPr>
          <a:xfrm>
            <a:off x="8092440" y="3017520"/>
            <a:ext cx="3017520" cy="640080"/>
          </a:xfrm>
          <a:prstGeom prst="rect">
            <a:avLst/>
          </a:prstGeom>
          <a:noFill/>
          <a:ln/>
        </p:spPr>
        <p:txBody>
          <a:bodyPr wrap="square" lIns="0" tIns="0" rIns="0" bIns="0" rtlCol="0" anchor="ctr"/>
          <a:lstStyle/>
          <a:p>
            <a:pPr marL="0" indent="0">
              <a:buNone/>
            </a:pPr>
            <a:r>
              <a:rPr lang="en-US" sz="3200" b="1" dirty="0">
                <a:solidFill>
                  <a:srgbClr val="FFFFFF"/>
                </a:solidFill>
                <a:latin typeface="Georgia" pitchFamily="34" charset="0"/>
                <a:ea typeface="Georgia" pitchFamily="34" charset="-122"/>
                <a:cs typeface="Georgia" pitchFamily="34" charset="-120"/>
              </a:rPr>
              <a:t>K-Means</a:t>
            </a:r>
            <a:endParaRPr lang="en-US" sz="3200" dirty="0"/>
          </a:p>
        </p:txBody>
      </p:sp>
      <p:pic>
        <p:nvPicPr>
          <p:cNvPr id="28" name="Image 0" descr="preencoded.png"/>
          <p:cNvPicPr>
            <a:picLocks noChangeAspect="1"/>
          </p:cNvPicPr>
          <p:nvPr/>
        </p:nvPicPr>
        <p:blipFill>
          <a:blip r:embed="rId3"/>
          <a:stretch>
            <a:fillRect/>
          </a:stretch>
        </p:blipFill>
        <p:spPr>
          <a:xfrm>
            <a:off x="8110728" y="3858768"/>
            <a:ext cx="219456" cy="219456"/>
          </a:xfrm>
          <a:prstGeom prst="rect">
            <a:avLst/>
          </a:prstGeom>
        </p:spPr>
      </p:pic>
      <p:sp>
        <p:nvSpPr>
          <p:cNvPr id="29" name="Text 26"/>
          <p:cNvSpPr/>
          <p:nvPr/>
        </p:nvSpPr>
        <p:spPr>
          <a:xfrm>
            <a:off x="8439912" y="3794760"/>
            <a:ext cx="2743200" cy="594360"/>
          </a:xfrm>
          <a:prstGeom prst="rect">
            <a:avLst/>
          </a:prstGeom>
          <a:noFill/>
          <a:ln/>
        </p:spPr>
        <p:txBody>
          <a:bodyPr wrap="square" lIns="0" tIns="0" rIns="0" bIns="0" rtlCol="0" anchor="t"/>
          <a:lstStyle/>
          <a:p>
            <a:pPr marL="0" indent="0">
              <a:lnSpc>
                <a:spcPts val="1500"/>
              </a:lnSpc>
              <a:buNone/>
            </a:pPr>
            <a:r>
              <a:rPr lang="en-US" sz="1200" dirty="0">
                <a:solidFill>
                  <a:srgbClr val="FFFFFF"/>
                </a:solidFill>
                <a:latin typeface="Calibri" pitchFamily="34" charset="0"/>
                <a:ea typeface="Calibri" pitchFamily="34" charset="-122"/>
                <a:cs typeface="Calibri" pitchFamily="34" charset="-120"/>
              </a:rPr>
              <a:t>Best agreement with the true sound categories</a:t>
            </a:r>
            <a:endParaRPr lang="en-US" sz="1200" dirty="0"/>
          </a:p>
        </p:txBody>
      </p:sp>
      <p:pic>
        <p:nvPicPr>
          <p:cNvPr id="30" name="Image 1" descr="preencoded.png"/>
          <p:cNvPicPr>
            <a:picLocks noChangeAspect="1"/>
          </p:cNvPicPr>
          <p:nvPr/>
        </p:nvPicPr>
        <p:blipFill>
          <a:blip r:embed="rId3"/>
          <a:stretch>
            <a:fillRect/>
          </a:stretch>
        </p:blipFill>
        <p:spPr>
          <a:xfrm>
            <a:off x="8110728" y="4535424"/>
            <a:ext cx="219456" cy="219456"/>
          </a:xfrm>
          <a:prstGeom prst="rect">
            <a:avLst/>
          </a:prstGeom>
        </p:spPr>
      </p:pic>
      <p:sp>
        <p:nvSpPr>
          <p:cNvPr id="31" name="Text 27"/>
          <p:cNvSpPr/>
          <p:nvPr/>
        </p:nvSpPr>
        <p:spPr>
          <a:xfrm>
            <a:off x="8439912" y="4471416"/>
            <a:ext cx="2743200" cy="594360"/>
          </a:xfrm>
          <a:prstGeom prst="rect">
            <a:avLst/>
          </a:prstGeom>
          <a:noFill/>
          <a:ln/>
        </p:spPr>
        <p:txBody>
          <a:bodyPr wrap="square" lIns="0" tIns="0" rIns="0" bIns="0" rtlCol="0" anchor="t"/>
          <a:lstStyle/>
          <a:p>
            <a:pPr marL="0" indent="0">
              <a:lnSpc>
                <a:spcPts val="1500"/>
              </a:lnSpc>
              <a:buNone/>
            </a:pPr>
            <a:r>
              <a:rPr lang="en-US" sz="1200" dirty="0">
                <a:solidFill>
                  <a:srgbClr val="FFFFFF"/>
                </a:solidFill>
                <a:latin typeface="Calibri" pitchFamily="34" charset="0"/>
                <a:ea typeface="Calibri" pitchFamily="34" charset="-122"/>
                <a:cs typeface="Calibri" pitchFamily="34" charset="-120"/>
              </a:rPr>
              <a:t>Every clip assigned meaning no data  was thrown away</a:t>
            </a:r>
            <a:endParaRPr lang="en-US" sz="1200" dirty="0"/>
          </a:p>
        </p:txBody>
      </p:sp>
      <p:pic>
        <p:nvPicPr>
          <p:cNvPr id="32" name="Image 2" descr="preencoded.png"/>
          <p:cNvPicPr>
            <a:picLocks noChangeAspect="1"/>
          </p:cNvPicPr>
          <p:nvPr/>
        </p:nvPicPr>
        <p:blipFill>
          <a:blip r:embed="rId3"/>
          <a:stretch>
            <a:fillRect/>
          </a:stretch>
        </p:blipFill>
        <p:spPr>
          <a:xfrm>
            <a:off x="8110728" y="5212080"/>
            <a:ext cx="219456" cy="219456"/>
          </a:xfrm>
          <a:prstGeom prst="rect">
            <a:avLst/>
          </a:prstGeom>
        </p:spPr>
      </p:pic>
      <p:sp>
        <p:nvSpPr>
          <p:cNvPr id="33" name="Text 28"/>
          <p:cNvSpPr/>
          <p:nvPr/>
        </p:nvSpPr>
        <p:spPr>
          <a:xfrm>
            <a:off x="8439912" y="5148072"/>
            <a:ext cx="2743200" cy="594360"/>
          </a:xfrm>
          <a:prstGeom prst="rect">
            <a:avLst/>
          </a:prstGeom>
          <a:noFill/>
          <a:ln/>
        </p:spPr>
        <p:txBody>
          <a:bodyPr wrap="square" lIns="0" tIns="0" rIns="0" bIns="0" rtlCol="0" anchor="t"/>
          <a:lstStyle/>
          <a:p>
            <a:pPr marL="0" indent="0">
              <a:lnSpc>
                <a:spcPts val="1500"/>
              </a:lnSpc>
              <a:buNone/>
            </a:pPr>
            <a:r>
              <a:rPr lang="en-US" sz="1200" dirty="0">
                <a:solidFill>
                  <a:srgbClr val="FFFFFF"/>
                </a:solidFill>
                <a:latin typeface="Calibri" pitchFamily="34" charset="0"/>
                <a:ea typeface="Calibri" pitchFamily="34" charset="-122"/>
                <a:cs typeface="Calibri" pitchFamily="34" charset="-120"/>
              </a:rPr>
              <a:t>Stable, repeatable and easy to interpret</a:t>
            </a:r>
            <a:endParaRPr lang="en-US" sz="1200" dirty="0"/>
          </a:p>
        </p:txBody>
      </p:sp>
      <p:sp>
        <p:nvSpPr>
          <p:cNvPr id="34" name="Text 29"/>
          <p:cNvSpPr/>
          <p:nvPr/>
        </p:nvSpPr>
        <p:spPr>
          <a:xfrm>
            <a:off x="11277295" y="6355080"/>
            <a:ext cx="548640" cy="320040"/>
          </a:xfrm>
          <a:prstGeom prst="rect">
            <a:avLst/>
          </a:prstGeom>
          <a:noFill/>
          <a:ln/>
        </p:spPr>
        <p:txBody>
          <a:bodyPr wrap="square" lIns="0" tIns="0" rIns="0" bIns="0" rtlCol="0" anchor="ctr"/>
          <a:lstStyle/>
          <a:p>
            <a:pPr marL="0" indent="0" algn="r">
              <a:buNone/>
            </a:pPr>
            <a:r>
              <a:rPr lang="en-US" sz="1000" dirty="0">
                <a:solidFill>
                  <a:srgbClr val="5E7378"/>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77240" y="548640"/>
            <a:ext cx="4572000" cy="274320"/>
          </a:xfrm>
          <a:prstGeom prst="rect">
            <a:avLst/>
          </a:prstGeom>
          <a:noFill/>
          <a:ln/>
        </p:spPr>
        <p:txBody>
          <a:bodyPr wrap="square" lIns="0" tIns="0" rIns="0" bIns="0" rtlCol="0" anchor="ctr"/>
          <a:lstStyle/>
          <a:p>
            <a:pPr marL="0" indent="0">
              <a:buNone/>
            </a:pPr>
            <a:r>
              <a:rPr lang="en-US" sz="1100" b="1" kern="0" spc="300" dirty="0">
                <a:solidFill>
                  <a:srgbClr val="028090"/>
                </a:solidFill>
                <a:latin typeface="Calibri" pitchFamily="34" charset="0"/>
                <a:ea typeface="Calibri" pitchFamily="34" charset="-122"/>
                <a:cs typeface="Calibri" pitchFamily="34" charset="-120"/>
              </a:rPr>
              <a:t>RESULTS · READING THE METRICS</a:t>
            </a:r>
            <a:endParaRPr lang="en-US" sz="1100" dirty="0"/>
          </a:p>
        </p:txBody>
      </p:sp>
      <p:sp>
        <p:nvSpPr>
          <p:cNvPr id="3" name="Text 1"/>
          <p:cNvSpPr/>
          <p:nvPr/>
        </p:nvSpPr>
        <p:spPr>
          <a:xfrm>
            <a:off x="777240" y="822960"/>
            <a:ext cx="10789920" cy="685800"/>
          </a:xfrm>
          <a:prstGeom prst="rect">
            <a:avLst/>
          </a:prstGeom>
          <a:noFill/>
          <a:ln/>
        </p:spPr>
        <p:txBody>
          <a:bodyPr wrap="square" lIns="0" tIns="0" rIns="0" bIns="0" rtlCol="0" anchor="ctr"/>
          <a:lstStyle/>
          <a:p>
            <a:pPr marL="0" indent="0">
              <a:buNone/>
            </a:pPr>
            <a:r>
              <a:rPr lang="en-US" sz="2800" b="1" dirty="0">
                <a:solidFill>
                  <a:srgbClr val="0B2027"/>
                </a:solidFill>
                <a:latin typeface="Georgia" pitchFamily="34" charset="0"/>
                <a:ea typeface="Georgia" pitchFamily="34" charset="-122"/>
                <a:cs typeface="Georgia" pitchFamily="34" charset="-120"/>
              </a:rPr>
              <a:t>A clean-looking score can still be a bad result</a:t>
            </a:r>
            <a:endParaRPr lang="en-US" sz="2800" dirty="0"/>
          </a:p>
        </p:txBody>
      </p:sp>
      <p:sp>
        <p:nvSpPr>
          <p:cNvPr id="5" name="Shape 3"/>
          <p:cNvSpPr/>
          <p:nvPr/>
        </p:nvSpPr>
        <p:spPr>
          <a:xfrm>
            <a:off x="777240" y="1952158"/>
            <a:ext cx="5303520" cy="3749040"/>
          </a:xfrm>
          <a:prstGeom prst="rect">
            <a:avLst/>
          </a:prstGeom>
          <a:solidFill>
            <a:srgbClr val="E8F4F3"/>
          </a:solidFill>
          <a:ln/>
          <a:effectLst>
            <a:outerShdw blurRad="101600" dist="38100" dir="8100000" algn="bl" rotWithShape="0">
              <a:srgbClr val="000000">
                <a:alpha val="16000"/>
              </a:srgbClr>
            </a:outerShdw>
          </a:effectLst>
        </p:spPr>
        <p:txBody>
          <a:bodyPr/>
          <a:lstStyle/>
          <a:p>
            <a:endParaRPr lang="en-US"/>
          </a:p>
        </p:txBody>
      </p:sp>
      <p:sp>
        <p:nvSpPr>
          <p:cNvPr id="6" name="Shape 4"/>
          <p:cNvSpPr/>
          <p:nvPr/>
        </p:nvSpPr>
        <p:spPr>
          <a:xfrm>
            <a:off x="777240" y="1952158"/>
            <a:ext cx="5303520" cy="91440"/>
          </a:xfrm>
          <a:prstGeom prst="rect">
            <a:avLst/>
          </a:prstGeom>
          <a:solidFill>
            <a:srgbClr val="028090"/>
          </a:solidFill>
          <a:ln/>
        </p:spPr>
        <p:txBody>
          <a:bodyPr/>
          <a:lstStyle/>
          <a:p>
            <a:endParaRPr lang="en-US"/>
          </a:p>
        </p:txBody>
      </p:sp>
      <p:sp>
        <p:nvSpPr>
          <p:cNvPr id="7" name="Text 5"/>
          <p:cNvSpPr/>
          <p:nvPr/>
        </p:nvSpPr>
        <p:spPr>
          <a:xfrm>
            <a:off x="1051560" y="2199046"/>
            <a:ext cx="4754880" cy="274320"/>
          </a:xfrm>
          <a:prstGeom prst="rect">
            <a:avLst/>
          </a:prstGeom>
          <a:noFill/>
          <a:ln/>
        </p:spPr>
        <p:txBody>
          <a:bodyPr wrap="square" lIns="0" tIns="0" rIns="0" bIns="0" rtlCol="0" anchor="ctr"/>
          <a:lstStyle/>
          <a:p>
            <a:pPr marL="0" indent="0">
              <a:buNone/>
            </a:pPr>
            <a:r>
              <a:rPr lang="en-US" sz="1100" b="1" kern="0" spc="150" dirty="0">
                <a:solidFill>
                  <a:srgbClr val="028090"/>
                </a:solidFill>
                <a:latin typeface="Calibri" pitchFamily="34" charset="0"/>
                <a:ea typeface="Calibri" pitchFamily="34" charset="-122"/>
                <a:cs typeface="Calibri" pitchFamily="34" charset="-120"/>
              </a:rPr>
              <a:t>GEOMETRY ≠ MEANING</a:t>
            </a:r>
            <a:endParaRPr lang="en-US" sz="1100" dirty="0"/>
          </a:p>
        </p:txBody>
      </p:sp>
      <p:sp>
        <p:nvSpPr>
          <p:cNvPr id="8" name="Text 6"/>
          <p:cNvSpPr/>
          <p:nvPr/>
        </p:nvSpPr>
        <p:spPr>
          <a:xfrm>
            <a:off x="1051560" y="2436790"/>
            <a:ext cx="4800600" cy="594360"/>
          </a:xfrm>
          <a:prstGeom prst="rect">
            <a:avLst/>
          </a:prstGeom>
          <a:noFill/>
          <a:ln/>
        </p:spPr>
        <p:txBody>
          <a:bodyPr wrap="square" lIns="0" tIns="0" rIns="0" bIns="0" rtlCol="0" anchor="ctr"/>
          <a:lstStyle/>
          <a:p>
            <a:pPr marL="0" indent="0">
              <a:lnSpc>
                <a:spcPts val="1900"/>
              </a:lnSpc>
              <a:buNone/>
            </a:pPr>
            <a:r>
              <a:rPr lang="en-US" sz="1550" b="1" dirty="0">
                <a:solidFill>
                  <a:srgbClr val="0B2027"/>
                </a:solidFill>
                <a:latin typeface="Georgia" pitchFamily="34" charset="0"/>
                <a:ea typeface="Georgia" pitchFamily="34" charset="-122"/>
                <a:cs typeface="Georgia" pitchFamily="34" charset="-120"/>
              </a:rPr>
              <a:t>Richer features cleaned the shapes but lost the meaning</a:t>
            </a:r>
            <a:endParaRPr lang="en-US" sz="1550" dirty="0"/>
          </a:p>
        </p:txBody>
      </p:sp>
      <p:sp>
        <p:nvSpPr>
          <p:cNvPr id="9" name="Shape 7"/>
          <p:cNvSpPr/>
          <p:nvPr/>
        </p:nvSpPr>
        <p:spPr>
          <a:xfrm>
            <a:off x="1051560" y="3049438"/>
            <a:ext cx="4754880" cy="713232"/>
          </a:xfrm>
          <a:prstGeom prst="rect">
            <a:avLst/>
          </a:prstGeom>
          <a:solidFill>
            <a:srgbClr val="FFFFFF"/>
          </a:solidFill>
          <a:ln/>
        </p:spPr>
        <p:txBody>
          <a:bodyPr/>
          <a:lstStyle/>
          <a:p>
            <a:endParaRPr lang="en-US"/>
          </a:p>
        </p:txBody>
      </p:sp>
      <p:sp>
        <p:nvSpPr>
          <p:cNvPr id="10" name="Shape 8"/>
          <p:cNvSpPr/>
          <p:nvPr/>
        </p:nvSpPr>
        <p:spPr>
          <a:xfrm>
            <a:off x="1051560" y="3049438"/>
            <a:ext cx="73152" cy="713232"/>
          </a:xfrm>
          <a:prstGeom prst="rect">
            <a:avLst/>
          </a:prstGeom>
          <a:solidFill>
            <a:srgbClr val="028090"/>
          </a:solidFill>
          <a:ln/>
        </p:spPr>
        <p:txBody>
          <a:bodyPr/>
          <a:lstStyle/>
          <a:p>
            <a:endParaRPr lang="en-US"/>
          </a:p>
        </p:txBody>
      </p:sp>
      <p:pic>
        <p:nvPicPr>
          <p:cNvPr id="11" name="Image 0" descr="preencoded.png"/>
          <p:cNvPicPr>
            <a:picLocks noChangeAspect="1"/>
          </p:cNvPicPr>
          <p:nvPr/>
        </p:nvPicPr>
        <p:blipFill>
          <a:blip r:embed="rId3"/>
          <a:stretch>
            <a:fillRect/>
          </a:stretch>
        </p:blipFill>
        <p:spPr>
          <a:xfrm>
            <a:off x="1261872" y="3287182"/>
            <a:ext cx="237744" cy="237744"/>
          </a:xfrm>
          <a:prstGeom prst="rect">
            <a:avLst/>
          </a:prstGeom>
        </p:spPr>
      </p:pic>
      <p:sp>
        <p:nvSpPr>
          <p:cNvPr id="12" name="Text 9"/>
          <p:cNvSpPr/>
          <p:nvPr/>
        </p:nvSpPr>
        <p:spPr>
          <a:xfrm>
            <a:off x="1627632" y="3122590"/>
            <a:ext cx="2788920" cy="566928"/>
          </a:xfrm>
          <a:prstGeom prst="rect">
            <a:avLst/>
          </a:prstGeom>
          <a:noFill/>
          <a:ln/>
        </p:spPr>
        <p:txBody>
          <a:bodyPr wrap="square" lIns="0" tIns="0" rIns="0" bIns="0" rtlCol="0" anchor="ctr"/>
          <a:lstStyle/>
          <a:p>
            <a:pPr marL="0" indent="0">
              <a:lnSpc>
                <a:spcPts val="1400"/>
              </a:lnSpc>
              <a:buNone/>
            </a:pPr>
            <a:r>
              <a:rPr lang="en-US" sz="1150" dirty="0">
                <a:solidFill>
                  <a:srgbClr val="1A2E33"/>
                </a:solidFill>
                <a:latin typeface="Calibri" pitchFamily="34" charset="0"/>
                <a:ea typeface="Calibri" pitchFamily="34" charset="-122"/>
                <a:cs typeface="Calibri" pitchFamily="34" charset="-120"/>
              </a:rPr>
              <a:t>How tidy the clusters look</a:t>
            </a:r>
            <a:endParaRPr lang="en-US" sz="1150" dirty="0"/>
          </a:p>
        </p:txBody>
      </p:sp>
      <p:sp>
        <p:nvSpPr>
          <p:cNvPr id="13" name="Text 10"/>
          <p:cNvSpPr/>
          <p:nvPr/>
        </p:nvSpPr>
        <p:spPr>
          <a:xfrm>
            <a:off x="4434840" y="3049438"/>
            <a:ext cx="1325880" cy="713232"/>
          </a:xfrm>
          <a:prstGeom prst="rect">
            <a:avLst/>
          </a:prstGeom>
          <a:noFill/>
          <a:ln/>
        </p:spPr>
        <p:txBody>
          <a:bodyPr wrap="square" lIns="0" tIns="0" rIns="0" bIns="0" rtlCol="0" anchor="ctr"/>
          <a:lstStyle/>
          <a:p>
            <a:pPr marL="0" indent="0" algn="r">
              <a:buNone/>
            </a:pPr>
            <a:r>
              <a:rPr lang="en-US" sz="1100" b="1" kern="0" spc="50" dirty="0">
                <a:solidFill>
                  <a:srgbClr val="028090"/>
                </a:solidFill>
                <a:latin typeface="Calibri" pitchFamily="34" charset="0"/>
                <a:ea typeface="Calibri" pitchFamily="34" charset="-122"/>
                <a:cs typeface="Calibri" pitchFamily="34" charset="-120"/>
              </a:rPr>
              <a:t>IMPROVED</a:t>
            </a:r>
            <a:endParaRPr lang="en-US" sz="1100" dirty="0"/>
          </a:p>
        </p:txBody>
      </p:sp>
      <p:sp>
        <p:nvSpPr>
          <p:cNvPr id="14" name="Shape 11"/>
          <p:cNvSpPr/>
          <p:nvPr/>
        </p:nvSpPr>
        <p:spPr>
          <a:xfrm>
            <a:off x="1051560" y="3890686"/>
            <a:ext cx="4754880" cy="713232"/>
          </a:xfrm>
          <a:prstGeom prst="rect">
            <a:avLst/>
          </a:prstGeom>
          <a:solidFill>
            <a:srgbClr val="FFFFFF"/>
          </a:solidFill>
          <a:ln/>
        </p:spPr>
        <p:txBody>
          <a:bodyPr/>
          <a:lstStyle/>
          <a:p>
            <a:endParaRPr lang="en-US"/>
          </a:p>
        </p:txBody>
      </p:sp>
      <p:sp>
        <p:nvSpPr>
          <p:cNvPr id="15" name="Shape 12"/>
          <p:cNvSpPr/>
          <p:nvPr/>
        </p:nvSpPr>
        <p:spPr>
          <a:xfrm>
            <a:off x="1051560" y="3890686"/>
            <a:ext cx="73152" cy="713232"/>
          </a:xfrm>
          <a:prstGeom prst="rect">
            <a:avLst/>
          </a:prstGeom>
          <a:solidFill>
            <a:srgbClr val="D9544D"/>
          </a:solidFill>
          <a:ln/>
        </p:spPr>
        <p:txBody>
          <a:bodyPr/>
          <a:lstStyle/>
          <a:p>
            <a:endParaRPr lang="en-US"/>
          </a:p>
        </p:txBody>
      </p:sp>
      <p:pic>
        <p:nvPicPr>
          <p:cNvPr id="16" name="Image 1" descr="preencoded.png"/>
          <p:cNvPicPr>
            <a:picLocks noChangeAspect="1"/>
          </p:cNvPicPr>
          <p:nvPr/>
        </p:nvPicPr>
        <p:blipFill>
          <a:blip r:embed="rId4"/>
          <a:stretch>
            <a:fillRect/>
          </a:stretch>
        </p:blipFill>
        <p:spPr>
          <a:xfrm>
            <a:off x="1261872" y="4128430"/>
            <a:ext cx="237744" cy="237744"/>
          </a:xfrm>
          <a:prstGeom prst="rect">
            <a:avLst/>
          </a:prstGeom>
        </p:spPr>
      </p:pic>
      <p:sp>
        <p:nvSpPr>
          <p:cNvPr id="17" name="Text 13"/>
          <p:cNvSpPr/>
          <p:nvPr/>
        </p:nvSpPr>
        <p:spPr>
          <a:xfrm>
            <a:off x="1627632" y="3963838"/>
            <a:ext cx="2788920" cy="566928"/>
          </a:xfrm>
          <a:prstGeom prst="rect">
            <a:avLst/>
          </a:prstGeom>
          <a:noFill/>
          <a:ln/>
        </p:spPr>
        <p:txBody>
          <a:bodyPr wrap="square" lIns="0" tIns="0" rIns="0" bIns="0" rtlCol="0" anchor="ctr"/>
          <a:lstStyle/>
          <a:p>
            <a:pPr marL="0" indent="0">
              <a:lnSpc>
                <a:spcPts val="1400"/>
              </a:lnSpc>
              <a:buNone/>
            </a:pPr>
            <a:r>
              <a:rPr lang="en-US" sz="1150" dirty="0">
                <a:solidFill>
                  <a:srgbClr val="1A2E33"/>
                </a:solidFill>
                <a:latin typeface="Calibri" pitchFamily="34" charset="0"/>
                <a:ea typeface="Calibri" pitchFamily="34" charset="-122"/>
                <a:cs typeface="Calibri" pitchFamily="34" charset="-120"/>
              </a:rPr>
              <a:t>How well they match real sound types</a:t>
            </a:r>
            <a:endParaRPr lang="en-US" sz="1150" dirty="0"/>
          </a:p>
        </p:txBody>
      </p:sp>
      <p:sp>
        <p:nvSpPr>
          <p:cNvPr id="18" name="Text 14"/>
          <p:cNvSpPr/>
          <p:nvPr/>
        </p:nvSpPr>
        <p:spPr>
          <a:xfrm>
            <a:off x="4434840" y="3890686"/>
            <a:ext cx="1325880" cy="713232"/>
          </a:xfrm>
          <a:prstGeom prst="rect">
            <a:avLst/>
          </a:prstGeom>
          <a:noFill/>
          <a:ln/>
        </p:spPr>
        <p:txBody>
          <a:bodyPr wrap="square" lIns="0" tIns="0" rIns="0" bIns="0" rtlCol="0" anchor="ctr"/>
          <a:lstStyle/>
          <a:p>
            <a:pPr marL="0" indent="0" algn="r">
              <a:buNone/>
            </a:pPr>
            <a:r>
              <a:rPr lang="en-US" sz="1100" b="1" kern="0" spc="50" dirty="0">
                <a:solidFill>
                  <a:srgbClr val="D9544D"/>
                </a:solidFill>
                <a:latin typeface="Calibri" pitchFamily="34" charset="0"/>
                <a:ea typeface="Calibri" pitchFamily="34" charset="-122"/>
                <a:cs typeface="Calibri" pitchFamily="34" charset="-120"/>
              </a:rPr>
              <a:t>GOT WORSE</a:t>
            </a:r>
            <a:endParaRPr lang="en-US" sz="1100" dirty="0"/>
          </a:p>
        </p:txBody>
      </p:sp>
      <p:sp>
        <p:nvSpPr>
          <p:cNvPr id="19" name="Text 15"/>
          <p:cNvSpPr/>
          <p:nvPr/>
        </p:nvSpPr>
        <p:spPr>
          <a:xfrm>
            <a:off x="1051560" y="4786798"/>
            <a:ext cx="4800600" cy="777240"/>
          </a:xfrm>
          <a:prstGeom prst="rect">
            <a:avLst/>
          </a:prstGeom>
          <a:noFill/>
          <a:ln/>
        </p:spPr>
        <p:txBody>
          <a:bodyPr wrap="square" lIns="0" tIns="0" rIns="0" bIns="0" rtlCol="0" anchor="ctr"/>
          <a:lstStyle/>
          <a:p>
            <a:pPr marL="0" indent="0">
              <a:lnSpc>
                <a:spcPts val="1500"/>
              </a:lnSpc>
              <a:buNone/>
            </a:pPr>
            <a:r>
              <a:rPr lang="en-US" sz="1100" dirty="0">
                <a:solidFill>
                  <a:srgbClr val="1A2E33"/>
                </a:solidFill>
                <a:latin typeface="Calibri" pitchFamily="34" charset="0"/>
                <a:ea typeface="Calibri" pitchFamily="34" charset="-122"/>
                <a:cs typeface="Calibri" pitchFamily="34" charset="-120"/>
              </a:rPr>
              <a:t>Adding richer features made the clusters look tidier, yet they match the real sound types worse. Tidier is not the same as more correct.</a:t>
            </a:r>
            <a:endParaRPr lang="en-US" sz="1100" dirty="0"/>
          </a:p>
        </p:txBody>
      </p:sp>
      <p:sp>
        <p:nvSpPr>
          <p:cNvPr id="20" name="Shape 16"/>
          <p:cNvSpPr/>
          <p:nvPr/>
        </p:nvSpPr>
        <p:spPr>
          <a:xfrm>
            <a:off x="6355080" y="1952158"/>
            <a:ext cx="5029200" cy="3749040"/>
          </a:xfrm>
          <a:prstGeom prst="rect">
            <a:avLst/>
          </a:prstGeom>
          <a:solidFill>
            <a:srgbClr val="0B2027"/>
          </a:solidFill>
          <a:ln/>
          <a:effectLst>
            <a:outerShdw blurRad="101600" dist="38100" dir="8100000" algn="bl" rotWithShape="0">
              <a:srgbClr val="000000">
                <a:alpha val="16000"/>
              </a:srgbClr>
            </a:outerShdw>
          </a:effectLst>
        </p:spPr>
        <p:txBody>
          <a:bodyPr/>
          <a:lstStyle/>
          <a:p>
            <a:endParaRPr lang="en-US"/>
          </a:p>
        </p:txBody>
      </p:sp>
      <p:sp>
        <p:nvSpPr>
          <p:cNvPr id="21" name="Shape 17"/>
          <p:cNvSpPr/>
          <p:nvPr/>
        </p:nvSpPr>
        <p:spPr>
          <a:xfrm>
            <a:off x="6355080" y="1952158"/>
            <a:ext cx="5029200" cy="91440"/>
          </a:xfrm>
          <a:prstGeom prst="rect">
            <a:avLst/>
          </a:prstGeom>
          <a:solidFill>
            <a:srgbClr val="E5A02E"/>
          </a:solidFill>
          <a:ln/>
        </p:spPr>
        <p:txBody>
          <a:bodyPr/>
          <a:lstStyle/>
          <a:p>
            <a:endParaRPr lang="en-US"/>
          </a:p>
        </p:txBody>
      </p:sp>
      <p:sp>
        <p:nvSpPr>
          <p:cNvPr id="22" name="Text 18"/>
          <p:cNvSpPr/>
          <p:nvPr/>
        </p:nvSpPr>
        <p:spPr>
          <a:xfrm>
            <a:off x="6629400" y="2199046"/>
            <a:ext cx="4572000" cy="274320"/>
          </a:xfrm>
          <a:prstGeom prst="rect">
            <a:avLst/>
          </a:prstGeom>
          <a:noFill/>
          <a:ln/>
        </p:spPr>
        <p:txBody>
          <a:bodyPr wrap="square" lIns="0" tIns="0" rIns="0" bIns="0" rtlCol="0" anchor="ctr"/>
          <a:lstStyle/>
          <a:p>
            <a:pPr marL="0" indent="0">
              <a:buNone/>
            </a:pPr>
            <a:r>
              <a:rPr lang="en-US" sz="1100" b="1" kern="0" spc="120" dirty="0">
                <a:solidFill>
                  <a:srgbClr val="E5A02E"/>
                </a:solidFill>
                <a:latin typeface="Calibri" pitchFamily="34" charset="0"/>
                <a:ea typeface="Calibri" pitchFamily="34" charset="-122"/>
                <a:cs typeface="Calibri" pitchFamily="34" charset="-120"/>
              </a:rPr>
              <a:t>A PERFECT SCORE, AN EMPTY RESULT</a:t>
            </a:r>
            <a:endParaRPr lang="en-US" sz="1100" dirty="0"/>
          </a:p>
        </p:txBody>
      </p:sp>
      <p:sp>
        <p:nvSpPr>
          <p:cNvPr id="23" name="Text 19"/>
          <p:cNvSpPr/>
          <p:nvPr/>
        </p:nvSpPr>
        <p:spPr>
          <a:xfrm>
            <a:off x="6629400" y="2436790"/>
            <a:ext cx="4572000" cy="594360"/>
          </a:xfrm>
          <a:prstGeom prst="rect">
            <a:avLst/>
          </a:prstGeom>
          <a:noFill/>
          <a:ln/>
        </p:spPr>
        <p:txBody>
          <a:bodyPr wrap="square" lIns="0" tIns="0" rIns="0" bIns="0" rtlCol="0" anchor="ctr"/>
          <a:lstStyle/>
          <a:p>
            <a:pPr marL="0" indent="0">
              <a:lnSpc>
                <a:spcPts val="1900"/>
              </a:lnSpc>
              <a:buNone/>
            </a:pPr>
            <a:r>
              <a:rPr lang="en-US" sz="1550" b="1" dirty="0">
                <a:solidFill>
                  <a:srgbClr val="FFFFFF"/>
                </a:solidFill>
                <a:latin typeface="Georgia" pitchFamily="34" charset="0"/>
                <a:ea typeface="Georgia" pitchFamily="34" charset="-122"/>
                <a:cs typeface="Georgia" pitchFamily="34" charset="-120"/>
              </a:rPr>
              <a:t>One algorithm scored near-perfect — by doing nothing useful</a:t>
            </a:r>
            <a:endParaRPr lang="en-US" sz="1550" dirty="0"/>
          </a:p>
        </p:txBody>
      </p:sp>
      <p:sp>
        <p:nvSpPr>
          <p:cNvPr id="24" name="Shape 20"/>
          <p:cNvSpPr/>
          <p:nvPr/>
        </p:nvSpPr>
        <p:spPr>
          <a:xfrm>
            <a:off x="6629400" y="3095158"/>
            <a:ext cx="2148840" cy="1463040"/>
          </a:xfrm>
          <a:prstGeom prst="rect">
            <a:avLst/>
          </a:prstGeom>
          <a:solidFill>
            <a:srgbClr val="13313A"/>
          </a:solidFill>
          <a:ln/>
        </p:spPr>
        <p:txBody>
          <a:bodyPr/>
          <a:lstStyle/>
          <a:p>
            <a:endParaRPr lang="en-US"/>
          </a:p>
        </p:txBody>
      </p:sp>
      <p:sp>
        <p:nvSpPr>
          <p:cNvPr id="25" name="Shape 21"/>
          <p:cNvSpPr/>
          <p:nvPr/>
        </p:nvSpPr>
        <p:spPr>
          <a:xfrm>
            <a:off x="6629400" y="3095158"/>
            <a:ext cx="2148840" cy="64008"/>
          </a:xfrm>
          <a:prstGeom prst="rect">
            <a:avLst/>
          </a:prstGeom>
          <a:solidFill>
            <a:srgbClr val="E5A02E"/>
          </a:solidFill>
          <a:ln/>
        </p:spPr>
        <p:txBody>
          <a:bodyPr/>
          <a:lstStyle/>
          <a:p>
            <a:endParaRPr lang="en-US"/>
          </a:p>
        </p:txBody>
      </p:sp>
      <p:pic>
        <p:nvPicPr>
          <p:cNvPr id="26" name="Image 2" descr="preencoded.png"/>
          <p:cNvPicPr>
            <a:picLocks noChangeAspect="1"/>
          </p:cNvPicPr>
          <p:nvPr/>
        </p:nvPicPr>
        <p:blipFill>
          <a:blip r:embed="rId3"/>
          <a:stretch>
            <a:fillRect/>
          </a:stretch>
        </p:blipFill>
        <p:spPr>
          <a:xfrm>
            <a:off x="6793992" y="3278038"/>
            <a:ext cx="256032" cy="256032"/>
          </a:xfrm>
          <a:prstGeom prst="rect">
            <a:avLst/>
          </a:prstGeom>
        </p:spPr>
      </p:pic>
      <p:sp>
        <p:nvSpPr>
          <p:cNvPr id="27" name="Text 22"/>
          <p:cNvSpPr/>
          <p:nvPr/>
        </p:nvSpPr>
        <p:spPr>
          <a:xfrm>
            <a:off x="7132320" y="3278038"/>
            <a:ext cx="1554480" cy="256032"/>
          </a:xfrm>
          <a:prstGeom prst="rect">
            <a:avLst/>
          </a:prstGeom>
          <a:noFill/>
          <a:ln/>
        </p:spPr>
        <p:txBody>
          <a:bodyPr wrap="square" lIns="0" tIns="0" rIns="0" bIns="0" rtlCol="0" anchor="ctr"/>
          <a:lstStyle/>
          <a:p>
            <a:pPr marL="0" indent="0">
              <a:buNone/>
            </a:pPr>
            <a:r>
              <a:rPr lang="en-US" sz="900" b="1" kern="0" spc="100" dirty="0">
                <a:solidFill>
                  <a:srgbClr val="E5A02E"/>
                </a:solidFill>
                <a:latin typeface="Calibri" pitchFamily="34" charset="0"/>
                <a:ea typeface="Calibri" pitchFamily="34" charset="-122"/>
                <a:cs typeface="Calibri" pitchFamily="34" charset="-120"/>
              </a:rPr>
              <a:t>ON PAPER</a:t>
            </a:r>
            <a:endParaRPr lang="en-US" sz="900" dirty="0"/>
          </a:p>
        </p:txBody>
      </p:sp>
      <p:sp>
        <p:nvSpPr>
          <p:cNvPr id="28" name="Text 23"/>
          <p:cNvSpPr/>
          <p:nvPr/>
        </p:nvSpPr>
        <p:spPr>
          <a:xfrm>
            <a:off x="6793992" y="3588934"/>
            <a:ext cx="1874520" cy="365760"/>
          </a:xfrm>
          <a:prstGeom prst="rect">
            <a:avLst/>
          </a:prstGeom>
          <a:noFill/>
          <a:ln/>
        </p:spPr>
        <p:txBody>
          <a:bodyPr wrap="square" lIns="0" tIns="0" rIns="0" bIns="0" rtlCol="0" anchor="ctr"/>
          <a:lstStyle/>
          <a:p>
            <a:pPr marL="0" indent="0">
              <a:buNone/>
            </a:pPr>
            <a:r>
              <a:rPr lang="en-US" sz="1500" b="1" dirty="0">
                <a:solidFill>
                  <a:srgbClr val="FFFFFF"/>
                </a:solidFill>
                <a:latin typeface="Georgia" pitchFamily="34" charset="0"/>
                <a:ea typeface="Georgia" pitchFamily="34" charset="-122"/>
                <a:cs typeface="Georgia" pitchFamily="34" charset="-120"/>
              </a:rPr>
              <a:t>Looked flawless</a:t>
            </a:r>
            <a:endParaRPr lang="en-US" sz="1500" dirty="0"/>
          </a:p>
        </p:txBody>
      </p:sp>
      <p:sp>
        <p:nvSpPr>
          <p:cNvPr id="29" name="Text 24"/>
          <p:cNvSpPr/>
          <p:nvPr/>
        </p:nvSpPr>
        <p:spPr>
          <a:xfrm>
            <a:off x="6793992" y="3936406"/>
            <a:ext cx="1874520" cy="594360"/>
          </a:xfrm>
          <a:prstGeom prst="rect">
            <a:avLst/>
          </a:prstGeom>
          <a:noFill/>
          <a:ln/>
        </p:spPr>
        <p:txBody>
          <a:bodyPr wrap="square" lIns="0" tIns="0" rIns="0" bIns="0" rtlCol="0" anchor="ctr"/>
          <a:lstStyle/>
          <a:p>
            <a:pPr marL="0" indent="0">
              <a:lnSpc>
                <a:spcPts val="1200"/>
              </a:lnSpc>
              <a:buNone/>
            </a:pPr>
            <a:r>
              <a:rPr lang="en-US" sz="950" dirty="0">
                <a:solidFill>
                  <a:srgbClr val="9FB4B8"/>
                </a:solidFill>
                <a:latin typeface="Calibri" pitchFamily="34" charset="0"/>
                <a:ea typeface="Calibri" pitchFamily="34" charset="-122"/>
                <a:cs typeface="Calibri" pitchFamily="34" charset="-120"/>
              </a:rPr>
              <a:t>Scored as a near-perfect, beautifully clean grouping.</a:t>
            </a:r>
            <a:endParaRPr lang="en-US" sz="950" dirty="0"/>
          </a:p>
        </p:txBody>
      </p:sp>
      <p:sp>
        <p:nvSpPr>
          <p:cNvPr id="30" name="Shape 25"/>
          <p:cNvSpPr/>
          <p:nvPr/>
        </p:nvSpPr>
        <p:spPr>
          <a:xfrm>
            <a:off x="8961120" y="3095158"/>
            <a:ext cx="2148840" cy="1463040"/>
          </a:xfrm>
          <a:prstGeom prst="rect">
            <a:avLst/>
          </a:prstGeom>
          <a:solidFill>
            <a:srgbClr val="13313A"/>
          </a:solidFill>
          <a:ln/>
        </p:spPr>
        <p:txBody>
          <a:bodyPr/>
          <a:lstStyle/>
          <a:p>
            <a:endParaRPr lang="en-US"/>
          </a:p>
        </p:txBody>
      </p:sp>
      <p:sp>
        <p:nvSpPr>
          <p:cNvPr id="31" name="Shape 26"/>
          <p:cNvSpPr/>
          <p:nvPr/>
        </p:nvSpPr>
        <p:spPr>
          <a:xfrm>
            <a:off x="8961120" y="3095158"/>
            <a:ext cx="2148840" cy="64008"/>
          </a:xfrm>
          <a:prstGeom prst="rect">
            <a:avLst/>
          </a:prstGeom>
          <a:solidFill>
            <a:srgbClr val="D9544D"/>
          </a:solidFill>
          <a:ln/>
        </p:spPr>
        <p:txBody>
          <a:bodyPr/>
          <a:lstStyle/>
          <a:p>
            <a:endParaRPr lang="en-US"/>
          </a:p>
        </p:txBody>
      </p:sp>
      <p:pic>
        <p:nvPicPr>
          <p:cNvPr id="32" name="Image 3" descr="preencoded.png"/>
          <p:cNvPicPr>
            <a:picLocks noChangeAspect="1"/>
          </p:cNvPicPr>
          <p:nvPr/>
        </p:nvPicPr>
        <p:blipFill>
          <a:blip r:embed="rId4"/>
          <a:stretch>
            <a:fillRect/>
          </a:stretch>
        </p:blipFill>
        <p:spPr>
          <a:xfrm>
            <a:off x="9125712" y="3278038"/>
            <a:ext cx="256032" cy="256032"/>
          </a:xfrm>
          <a:prstGeom prst="rect">
            <a:avLst/>
          </a:prstGeom>
        </p:spPr>
      </p:pic>
      <p:sp>
        <p:nvSpPr>
          <p:cNvPr id="33" name="Text 27"/>
          <p:cNvSpPr/>
          <p:nvPr/>
        </p:nvSpPr>
        <p:spPr>
          <a:xfrm>
            <a:off x="9464040" y="3278038"/>
            <a:ext cx="1554480" cy="256032"/>
          </a:xfrm>
          <a:prstGeom prst="rect">
            <a:avLst/>
          </a:prstGeom>
          <a:noFill/>
          <a:ln/>
        </p:spPr>
        <p:txBody>
          <a:bodyPr wrap="square" lIns="0" tIns="0" rIns="0" bIns="0" rtlCol="0" anchor="ctr"/>
          <a:lstStyle/>
          <a:p>
            <a:pPr marL="0" indent="0">
              <a:buNone/>
            </a:pPr>
            <a:r>
              <a:rPr lang="en-US" sz="900" b="1" kern="0" spc="100" dirty="0">
                <a:solidFill>
                  <a:srgbClr val="D9544D"/>
                </a:solidFill>
                <a:latin typeface="Calibri" pitchFamily="34" charset="0"/>
                <a:ea typeface="Calibri" pitchFamily="34" charset="-122"/>
                <a:cs typeface="Calibri" pitchFamily="34" charset="-120"/>
              </a:rPr>
              <a:t>IN REALITY</a:t>
            </a:r>
            <a:endParaRPr lang="en-US" sz="900" dirty="0"/>
          </a:p>
        </p:txBody>
      </p:sp>
      <p:sp>
        <p:nvSpPr>
          <p:cNvPr id="34" name="Text 28"/>
          <p:cNvSpPr/>
          <p:nvPr/>
        </p:nvSpPr>
        <p:spPr>
          <a:xfrm>
            <a:off x="9125712" y="3588934"/>
            <a:ext cx="1874520" cy="365760"/>
          </a:xfrm>
          <a:prstGeom prst="rect">
            <a:avLst/>
          </a:prstGeom>
          <a:noFill/>
          <a:ln/>
        </p:spPr>
        <p:txBody>
          <a:bodyPr wrap="square" lIns="0" tIns="0" rIns="0" bIns="0" rtlCol="0" anchor="ctr"/>
          <a:lstStyle/>
          <a:p>
            <a:pPr marL="0" indent="0">
              <a:buNone/>
            </a:pPr>
            <a:r>
              <a:rPr lang="en-US" sz="1500" b="1" dirty="0">
                <a:solidFill>
                  <a:srgbClr val="FFFFFF"/>
                </a:solidFill>
                <a:latin typeface="Georgia" pitchFamily="34" charset="0"/>
                <a:ea typeface="Georgia" pitchFamily="34" charset="-122"/>
                <a:cs typeface="Georgia" pitchFamily="34" charset="-120"/>
              </a:rPr>
              <a:t>Told us nothing</a:t>
            </a:r>
            <a:endParaRPr lang="en-US" sz="1500" dirty="0"/>
          </a:p>
        </p:txBody>
      </p:sp>
      <p:sp>
        <p:nvSpPr>
          <p:cNvPr id="35" name="Text 29"/>
          <p:cNvSpPr/>
          <p:nvPr/>
        </p:nvSpPr>
        <p:spPr>
          <a:xfrm>
            <a:off x="9125712" y="3936406"/>
            <a:ext cx="1874520" cy="594360"/>
          </a:xfrm>
          <a:prstGeom prst="rect">
            <a:avLst/>
          </a:prstGeom>
          <a:noFill/>
          <a:ln/>
        </p:spPr>
        <p:txBody>
          <a:bodyPr wrap="square" lIns="0" tIns="0" rIns="0" bIns="0" rtlCol="0" anchor="ctr"/>
          <a:lstStyle/>
          <a:p>
            <a:pPr marL="0" indent="0">
              <a:lnSpc>
                <a:spcPts val="1200"/>
              </a:lnSpc>
              <a:buNone/>
            </a:pPr>
            <a:r>
              <a:rPr lang="en-US" sz="950" dirty="0">
                <a:solidFill>
                  <a:srgbClr val="9FB4B8"/>
                </a:solidFill>
                <a:latin typeface="Calibri" pitchFamily="34" charset="0"/>
                <a:ea typeface="Calibri" pitchFamily="34" charset="-122"/>
                <a:cs typeface="Calibri" pitchFamily="34" charset="-120"/>
              </a:rPr>
              <a:t>It had simply lumped almost every clip into one cluster.</a:t>
            </a:r>
            <a:endParaRPr lang="en-US" sz="950" dirty="0"/>
          </a:p>
        </p:txBody>
      </p:sp>
      <p:sp>
        <p:nvSpPr>
          <p:cNvPr id="36" name="Text 30"/>
          <p:cNvSpPr/>
          <p:nvPr/>
        </p:nvSpPr>
        <p:spPr>
          <a:xfrm>
            <a:off x="6629400" y="4741078"/>
            <a:ext cx="4572000" cy="914400"/>
          </a:xfrm>
          <a:prstGeom prst="rect">
            <a:avLst/>
          </a:prstGeom>
          <a:noFill/>
          <a:ln/>
        </p:spPr>
        <p:txBody>
          <a:bodyPr wrap="square" lIns="0" tIns="0" rIns="0" bIns="0" rtlCol="0" anchor="ctr"/>
          <a:lstStyle/>
          <a:p>
            <a:pPr marL="0" indent="0">
              <a:lnSpc>
                <a:spcPts val="1500"/>
              </a:lnSpc>
              <a:buNone/>
            </a:pPr>
            <a:r>
              <a:rPr lang="en-US" sz="1100" b="1" dirty="0">
                <a:solidFill>
                  <a:srgbClr val="E5A02E"/>
                </a:solidFill>
                <a:latin typeface="Calibri" pitchFamily="34" charset="0"/>
                <a:ea typeface="Calibri" pitchFamily="34" charset="-122"/>
                <a:cs typeface="Calibri" pitchFamily="34" charset="-120"/>
              </a:rPr>
              <a:t>The takeaway.  </a:t>
            </a:r>
            <a:r>
              <a:rPr lang="en-US" sz="1100" dirty="0">
                <a:solidFill>
                  <a:srgbClr val="C7D8DA"/>
                </a:solidFill>
                <a:latin typeface="Calibri" pitchFamily="34" charset="0"/>
                <a:ea typeface="Calibri" pitchFamily="34" charset="-122"/>
                <a:cs typeface="Calibri" pitchFamily="34" charset="-120"/>
              </a:rPr>
              <a:t>A grouping can look immaculate and still be empty of meaning, so we always check the result against the real categories, never the geometry alone.</a:t>
            </a:r>
            <a:endParaRPr lang="en-US" sz="1100" dirty="0"/>
          </a:p>
        </p:txBody>
      </p:sp>
      <p:sp>
        <p:nvSpPr>
          <p:cNvPr id="37" name="Text 31"/>
          <p:cNvSpPr/>
          <p:nvPr/>
        </p:nvSpPr>
        <p:spPr>
          <a:xfrm>
            <a:off x="11277295" y="6355080"/>
            <a:ext cx="548640" cy="320040"/>
          </a:xfrm>
          <a:prstGeom prst="rect">
            <a:avLst/>
          </a:prstGeom>
          <a:noFill/>
          <a:ln/>
        </p:spPr>
        <p:txBody>
          <a:bodyPr wrap="square" lIns="0" tIns="0" rIns="0" bIns="0" rtlCol="0" anchor="ctr"/>
          <a:lstStyle/>
          <a:p>
            <a:pPr marL="0" indent="0" algn="r">
              <a:buNone/>
            </a:pPr>
            <a:r>
              <a:rPr lang="en-US" sz="1000" dirty="0">
                <a:solidFill>
                  <a:srgbClr val="5E7378"/>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2027"/>
        </a:solidFill>
        <a:effectLst/>
      </p:bgPr>
    </p:bg>
    <p:spTree>
      <p:nvGrpSpPr>
        <p:cNvPr id="1" name=""/>
        <p:cNvGrpSpPr/>
        <p:nvPr/>
      </p:nvGrpSpPr>
      <p:grpSpPr>
        <a:xfrm>
          <a:off x="0" y="0"/>
          <a:ext cx="0" cy="0"/>
          <a:chOff x="0" y="0"/>
          <a:chExt cx="0" cy="0"/>
        </a:xfrm>
      </p:grpSpPr>
      <p:sp>
        <p:nvSpPr>
          <p:cNvPr id="2" name="Text 0"/>
          <p:cNvSpPr/>
          <p:nvPr/>
        </p:nvSpPr>
        <p:spPr>
          <a:xfrm>
            <a:off x="777240" y="548640"/>
            <a:ext cx="4572000" cy="274320"/>
          </a:xfrm>
          <a:prstGeom prst="rect">
            <a:avLst/>
          </a:prstGeom>
          <a:noFill/>
          <a:ln/>
        </p:spPr>
        <p:txBody>
          <a:bodyPr wrap="square" lIns="0" tIns="0" rIns="0" bIns="0" rtlCol="0" anchor="ctr"/>
          <a:lstStyle/>
          <a:p>
            <a:pPr marL="0" indent="0">
              <a:buNone/>
            </a:pPr>
            <a:r>
              <a:rPr lang="en-US" sz="1100" b="1" kern="0" spc="300" dirty="0">
                <a:solidFill>
                  <a:srgbClr val="028090"/>
                </a:solidFill>
                <a:latin typeface="Calibri" pitchFamily="34" charset="0"/>
                <a:ea typeface="Calibri" pitchFamily="34" charset="-122"/>
                <a:cs typeface="Calibri" pitchFamily="34" charset="-120"/>
              </a:rPr>
              <a:t>RESULTS · STAGE 2 — THE KEY FINDING</a:t>
            </a:r>
            <a:endParaRPr lang="en-US" sz="1100" dirty="0"/>
          </a:p>
        </p:txBody>
      </p:sp>
      <p:sp>
        <p:nvSpPr>
          <p:cNvPr id="3" name="Text 1"/>
          <p:cNvSpPr/>
          <p:nvPr/>
        </p:nvSpPr>
        <p:spPr>
          <a:xfrm>
            <a:off x="777240" y="822960"/>
            <a:ext cx="10789920" cy="685800"/>
          </a:xfrm>
          <a:prstGeom prst="rect">
            <a:avLst/>
          </a:prstGeom>
          <a:noFill/>
          <a:ln/>
        </p:spPr>
        <p:txBody>
          <a:bodyPr wrap="square" lIns="0" tIns="0" rIns="0" bIns="0" rtlCol="0" anchor="ctr"/>
          <a:lstStyle/>
          <a:p>
            <a:pPr marL="0" indent="0">
              <a:buNone/>
            </a:pPr>
            <a:r>
              <a:rPr lang="en-US" sz="2700" b="1" dirty="0">
                <a:solidFill>
                  <a:srgbClr val="FFFFFF"/>
                </a:solidFill>
                <a:latin typeface="Georgia" pitchFamily="34" charset="0"/>
                <a:ea typeface="Georgia" pitchFamily="34" charset="-122"/>
                <a:cs typeface="Georgia" pitchFamily="34" charset="-120"/>
              </a:rPr>
              <a:t>The honest result: clustering found the wrong pattern</a:t>
            </a:r>
            <a:endParaRPr lang="en-US" sz="2700" dirty="0"/>
          </a:p>
        </p:txBody>
      </p:sp>
      <p:sp>
        <p:nvSpPr>
          <p:cNvPr id="4" name="Text 2"/>
          <p:cNvSpPr/>
          <p:nvPr/>
        </p:nvSpPr>
        <p:spPr>
          <a:xfrm>
            <a:off x="777240" y="1508760"/>
            <a:ext cx="10607040" cy="868680"/>
          </a:xfrm>
          <a:prstGeom prst="rect">
            <a:avLst/>
          </a:prstGeom>
          <a:noFill/>
          <a:ln/>
        </p:spPr>
        <p:txBody>
          <a:bodyPr wrap="square" lIns="0" tIns="0" rIns="0" bIns="0" rtlCol="0" anchor="ctr"/>
          <a:lstStyle/>
          <a:p>
            <a:pPr marL="0" indent="0">
              <a:lnSpc>
                <a:spcPts val="2100"/>
              </a:lnSpc>
              <a:buNone/>
            </a:pPr>
            <a:r>
              <a:rPr lang="en-US" sz="1400" dirty="0">
                <a:solidFill>
                  <a:srgbClr val="C7D8DA"/>
                </a:solidFill>
                <a:latin typeface="Calibri" pitchFamily="34" charset="0"/>
                <a:ea typeface="Calibri" pitchFamily="34" charset="-122"/>
                <a:cs typeface="Calibri" pitchFamily="34" charset="-120"/>
              </a:rPr>
              <a:t>On the industrial data, every algorithm produced clean-looking clusters, but those clusters did not separate healthy machines from faulty ones. The grouping was no better than a coin flip at telling them apart.</a:t>
            </a:r>
            <a:endParaRPr lang="en-US" sz="1400" dirty="0"/>
          </a:p>
        </p:txBody>
      </p:sp>
      <p:sp>
        <p:nvSpPr>
          <p:cNvPr id="5" name="Shape 3"/>
          <p:cNvSpPr/>
          <p:nvPr/>
        </p:nvSpPr>
        <p:spPr>
          <a:xfrm>
            <a:off x="777240" y="2606040"/>
            <a:ext cx="3337560" cy="2331720"/>
          </a:xfrm>
          <a:prstGeom prst="rect">
            <a:avLst/>
          </a:prstGeom>
          <a:solidFill>
            <a:srgbClr val="13313A"/>
          </a:solidFill>
          <a:ln/>
          <a:effectLst>
            <a:outerShdw blurRad="101600" dist="38100" dir="8100000" algn="bl" rotWithShape="0">
              <a:srgbClr val="000000">
                <a:alpha val="16000"/>
              </a:srgbClr>
            </a:outerShdw>
          </a:effectLst>
        </p:spPr>
        <p:txBody>
          <a:bodyPr/>
          <a:lstStyle/>
          <a:p>
            <a:endParaRPr lang="en-US"/>
          </a:p>
        </p:txBody>
      </p:sp>
      <p:sp>
        <p:nvSpPr>
          <p:cNvPr id="6" name="Shape 4"/>
          <p:cNvSpPr/>
          <p:nvPr/>
        </p:nvSpPr>
        <p:spPr>
          <a:xfrm>
            <a:off x="777240" y="2606040"/>
            <a:ext cx="3337560" cy="91440"/>
          </a:xfrm>
          <a:prstGeom prst="rect">
            <a:avLst/>
          </a:prstGeom>
          <a:solidFill>
            <a:srgbClr val="D9544D"/>
          </a:solidFill>
          <a:ln/>
        </p:spPr>
        <p:txBody>
          <a:bodyPr/>
          <a:lstStyle/>
          <a:p>
            <a:endParaRPr lang="en-US"/>
          </a:p>
        </p:txBody>
      </p:sp>
      <p:sp>
        <p:nvSpPr>
          <p:cNvPr id="7" name="Text 5"/>
          <p:cNvSpPr/>
          <p:nvPr/>
        </p:nvSpPr>
        <p:spPr>
          <a:xfrm>
            <a:off x="1097280" y="2852928"/>
            <a:ext cx="2743200" cy="914400"/>
          </a:xfrm>
          <a:prstGeom prst="rect">
            <a:avLst/>
          </a:prstGeom>
          <a:noFill/>
          <a:ln/>
        </p:spPr>
        <p:txBody>
          <a:bodyPr wrap="square" lIns="0" tIns="0" rIns="0" bIns="0" rtlCol="0" anchor="ctr"/>
          <a:lstStyle/>
          <a:p>
            <a:pPr marL="0" indent="0">
              <a:lnSpc>
                <a:spcPts val="2600"/>
              </a:lnSpc>
              <a:buNone/>
            </a:pPr>
            <a:r>
              <a:rPr lang="en-US" sz="2400" b="1" dirty="0">
                <a:solidFill>
                  <a:srgbClr val="FFFFFF"/>
                </a:solidFill>
                <a:latin typeface="Georgia" pitchFamily="34" charset="0"/>
                <a:ea typeface="Georgia" pitchFamily="34" charset="-122"/>
                <a:cs typeface="Georgia" pitchFamily="34" charset="-120"/>
              </a:rPr>
              <a:t>No real</a:t>
            </a:r>
            <a:endParaRPr lang="en-US" sz="2400" dirty="0"/>
          </a:p>
          <a:p>
            <a:pPr marL="0" indent="0">
              <a:lnSpc>
                <a:spcPts val="2600"/>
              </a:lnSpc>
              <a:buNone/>
            </a:pPr>
            <a:r>
              <a:rPr lang="en-US" sz="2400" b="1" dirty="0">
                <a:solidFill>
                  <a:srgbClr val="FFFFFF"/>
                </a:solidFill>
                <a:latin typeface="Georgia" pitchFamily="34" charset="0"/>
                <a:ea typeface="Georgia" pitchFamily="34" charset="-122"/>
                <a:cs typeface="Georgia" pitchFamily="34" charset="-120"/>
              </a:rPr>
              <a:t>separation</a:t>
            </a:r>
            <a:endParaRPr lang="en-US" sz="2400" dirty="0"/>
          </a:p>
        </p:txBody>
      </p:sp>
      <p:sp>
        <p:nvSpPr>
          <p:cNvPr id="8" name="Text 6"/>
          <p:cNvSpPr/>
          <p:nvPr/>
        </p:nvSpPr>
        <p:spPr>
          <a:xfrm>
            <a:off x="1097280" y="3767328"/>
            <a:ext cx="2788920" cy="411480"/>
          </a:xfrm>
          <a:prstGeom prst="rect">
            <a:avLst/>
          </a:prstGeom>
          <a:noFill/>
          <a:ln/>
        </p:spPr>
        <p:txBody>
          <a:bodyPr wrap="square" lIns="0" tIns="0" rIns="0" bIns="0" rtlCol="0" anchor="ctr"/>
          <a:lstStyle/>
          <a:p>
            <a:pPr marL="0" indent="0">
              <a:lnSpc>
                <a:spcPts val="1600"/>
              </a:lnSpc>
              <a:buNone/>
            </a:pPr>
            <a:r>
              <a:rPr lang="en-US" sz="1250" b="1" dirty="0">
                <a:solidFill>
                  <a:srgbClr val="D9544D"/>
                </a:solidFill>
                <a:latin typeface="Calibri" pitchFamily="34" charset="0"/>
                <a:ea typeface="Calibri" pitchFamily="34" charset="-122"/>
                <a:cs typeface="Calibri" pitchFamily="34" charset="-120"/>
              </a:rPr>
              <a:t>Healthy vs. faulty</a:t>
            </a:r>
            <a:endParaRPr lang="en-US" sz="1250" dirty="0"/>
          </a:p>
        </p:txBody>
      </p:sp>
      <p:sp>
        <p:nvSpPr>
          <p:cNvPr id="9" name="Text 7"/>
          <p:cNvSpPr/>
          <p:nvPr/>
        </p:nvSpPr>
        <p:spPr>
          <a:xfrm>
            <a:off x="1097280" y="4160520"/>
            <a:ext cx="2788920" cy="685800"/>
          </a:xfrm>
          <a:prstGeom prst="rect">
            <a:avLst/>
          </a:prstGeom>
          <a:noFill/>
          <a:ln/>
        </p:spPr>
        <p:txBody>
          <a:bodyPr wrap="square" lIns="0" tIns="0" rIns="0" bIns="0" rtlCol="0" anchor="ctr"/>
          <a:lstStyle/>
          <a:p>
            <a:pPr marL="0" indent="0">
              <a:lnSpc>
                <a:spcPts val="1600"/>
              </a:lnSpc>
              <a:buNone/>
            </a:pPr>
            <a:r>
              <a:rPr lang="en-US" sz="1150" dirty="0">
                <a:solidFill>
                  <a:srgbClr val="9FB4B8"/>
                </a:solidFill>
                <a:latin typeface="Calibri" pitchFamily="34" charset="0"/>
                <a:ea typeface="Calibri" pitchFamily="34" charset="-122"/>
                <a:cs typeface="Calibri" pitchFamily="34" charset="-120"/>
              </a:rPr>
              <a:t>Every algorithm performed close to random guessing.</a:t>
            </a:r>
            <a:endParaRPr lang="en-US" sz="1150" dirty="0"/>
          </a:p>
        </p:txBody>
      </p:sp>
      <p:sp>
        <p:nvSpPr>
          <p:cNvPr id="10" name="Shape 8"/>
          <p:cNvSpPr/>
          <p:nvPr/>
        </p:nvSpPr>
        <p:spPr>
          <a:xfrm>
            <a:off x="4389120" y="2606040"/>
            <a:ext cx="3337560" cy="2331720"/>
          </a:xfrm>
          <a:prstGeom prst="rect">
            <a:avLst/>
          </a:prstGeom>
          <a:solidFill>
            <a:srgbClr val="13313A"/>
          </a:solidFill>
          <a:ln/>
          <a:effectLst>
            <a:outerShdw blurRad="101600" dist="38100" dir="8100000" algn="bl" rotWithShape="0">
              <a:srgbClr val="000000">
                <a:alpha val="16000"/>
              </a:srgbClr>
            </a:outerShdw>
          </a:effectLst>
        </p:spPr>
        <p:txBody>
          <a:bodyPr/>
          <a:lstStyle/>
          <a:p>
            <a:endParaRPr lang="en-US"/>
          </a:p>
        </p:txBody>
      </p:sp>
      <p:sp>
        <p:nvSpPr>
          <p:cNvPr id="11" name="Shape 9"/>
          <p:cNvSpPr/>
          <p:nvPr/>
        </p:nvSpPr>
        <p:spPr>
          <a:xfrm>
            <a:off x="4389120" y="2606040"/>
            <a:ext cx="3337560" cy="91440"/>
          </a:xfrm>
          <a:prstGeom prst="rect">
            <a:avLst/>
          </a:prstGeom>
          <a:solidFill>
            <a:srgbClr val="E5A02E"/>
          </a:solidFill>
          <a:ln/>
        </p:spPr>
        <p:txBody>
          <a:bodyPr/>
          <a:lstStyle/>
          <a:p>
            <a:endParaRPr lang="en-US"/>
          </a:p>
        </p:txBody>
      </p:sp>
      <p:sp>
        <p:nvSpPr>
          <p:cNvPr id="12" name="Text 10"/>
          <p:cNvSpPr/>
          <p:nvPr/>
        </p:nvSpPr>
        <p:spPr>
          <a:xfrm>
            <a:off x="4709160" y="2852928"/>
            <a:ext cx="2743200" cy="914400"/>
          </a:xfrm>
          <a:prstGeom prst="rect">
            <a:avLst/>
          </a:prstGeom>
          <a:noFill/>
          <a:ln/>
        </p:spPr>
        <p:txBody>
          <a:bodyPr wrap="square" lIns="0" tIns="0" rIns="0" bIns="0" rtlCol="0" anchor="ctr"/>
          <a:lstStyle/>
          <a:p>
            <a:pPr marL="0" indent="0">
              <a:lnSpc>
                <a:spcPts val="2600"/>
              </a:lnSpc>
              <a:buNone/>
            </a:pPr>
            <a:r>
              <a:rPr lang="en-US" sz="2400" b="1" dirty="0">
                <a:solidFill>
                  <a:srgbClr val="FFFFFF"/>
                </a:solidFill>
                <a:latin typeface="Georgia" pitchFamily="34" charset="0"/>
                <a:ea typeface="Georgia" pitchFamily="34" charset="-122"/>
                <a:cs typeface="Georgia" pitchFamily="34" charset="-120"/>
              </a:rPr>
              <a:t>Machine</a:t>
            </a:r>
            <a:endParaRPr lang="en-US" sz="2400" dirty="0"/>
          </a:p>
          <a:p>
            <a:pPr marL="0" indent="0">
              <a:lnSpc>
                <a:spcPts val="2600"/>
              </a:lnSpc>
              <a:buNone/>
            </a:pPr>
            <a:r>
              <a:rPr lang="en-US" sz="2400" b="1" dirty="0">
                <a:solidFill>
                  <a:srgbClr val="FFFFFF"/>
                </a:solidFill>
                <a:latin typeface="Georgia" pitchFamily="34" charset="0"/>
                <a:ea typeface="Georgia" pitchFamily="34" charset="-122"/>
                <a:cs typeface="Georgia" pitchFamily="34" charset="-120"/>
              </a:rPr>
              <a:t>type</a:t>
            </a:r>
            <a:endParaRPr lang="en-US" sz="2400" dirty="0"/>
          </a:p>
        </p:txBody>
      </p:sp>
      <p:sp>
        <p:nvSpPr>
          <p:cNvPr id="13" name="Text 11"/>
          <p:cNvSpPr/>
          <p:nvPr/>
        </p:nvSpPr>
        <p:spPr>
          <a:xfrm>
            <a:off x="4709160" y="3767328"/>
            <a:ext cx="2788920" cy="411480"/>
          </a:xfrm>
          <a:prstGeom prst="rect">
            <a:avLst/>
          </a:prstGeom>
          <a:noFill/>
          <a:ln/>
        </p:spPr>
        <p:txBody>
          <a:bodyPr wrap="square" lIns="0" tIns="0" rIns="0" bIns="0" rtlCol="0" anchor="ctr"/>
          <a:lstStyle/>
          <a:p>
            <a:pPr marL="0" indent="0">
              <a:lnSpc>
                <a:spcPts val="1600"/>
              </a:lnSpc>
              <a:buNone/>
            </a:pPr>
            <a:r>
              <a:rPr lang="en-US" sz="1250" b="1" dirty="0">
                <a:solidFill>
                  <a:srgbClr val="E5A02E"/>
                </a:solidFill>
                <a:latin typeface="Calibri" pitchFamily="34" charset="0"/>
                <a:ea typeface="Calibri" pitchFamily="34" charset="-122"/>
                <a:cs typeface="Calibri" pitchFamily="34" charset="-120"/>
              </a:rPr>
              <a:t>What the clusters captured instead</a:t>
            </a:r>
            <a:endParaRPr lang="en-US" sz="1250" dirty="0"/>
          </a:p>
        </p:txBody>
      </p:sp>
      <p:sp>
        <p:nvSpPr>
          <p:cNvPr id="14" name="Text 12"/>
          <p:cNvSpPr/>
          <p:nvPr/>
        </p:nvSpPr>
        <p:spPr>
          <a:xfrm>
            <a:off x="4709160" y="4160520"/>
            <a:ext cx="2788920" cy="685800"/>
          </a:xfrm>
          <a:prstGeom prst="rect">
            <a:avLst/>
          </a:prstGeom>
          <a:noFill/>
          <a:ln/>
        </p:spPr>
        <p:txBody>
          <a:bodyPr wrap="square" lIns="0" tIns="0" rIns="0" bIns="0" rtlCol="0" anchor="ctr"/>
          <a:lstStyle/>
          <a:p>
            <a:pPr marL="0" indent="0">
              <a:lnSpc>
                <a:spcPts val="1600"/>
              </a:lnSpc>
              <a:buNone/>
            </a:pPr>
            <a:r>
              <a:rPr lang="en-US" sz="1150" dirty="0">
                <a:solidFill>
                  <a:srgbClr val="9FB4B8"/>
                </a:solidFill>
                <a:latin typeface="Calibri" pitchFamily="34" charset="0"/>
                <a:ea typeface="Calibri" pitchFamily="34" charset="-122"/>
                <a:cs typeface="Calibri" pitchFamily="34" charset="-120"/>
              </a:rPr>
              <a:t>A fan versus a valve, not healthy versus faulty.</a:t>
            </a:r>
            <a:endParaRPr lang="en-US" sz="1150" dirty="0"/>
          </a:p>
        </p:txBody>
      </p:sp>
      <p:sp>
        <p:nvSpPr>
          <p:cNvPr id="15" name="Shape 13"/>
          <p:cNvSpPr/>
          <p:nvPr/>
        </p:nvSpPr>
        <p:spPr>
          <a:xfrm>
            <a:off x="8001000" y="2606040"/>
            <a:ext cx="3337560" cy="2331720"/>
          </a:xfrm>
          <a:prstGeom prst="rect">
            <a:avLst/>
          </a:prstGeom>
          <a:solidFill>
            <a:srgbClr val="13313A"/>
          </a:solidFill>
          <a:ln/>
          <a:effectLst>
            <a:outerShdw blurRad="101600" dist="38100" dir="8100000" algn="bl" rotWithShape="0">
              <a:srgbClr val="000000">
                <a:alpha val="16000"/>
              </a:srgbClr>
            </a:outerShdw>
          </a:effectLst>
        </p:spPr>
        <p:txBody>
          <a:bodyPr/>
          <a:lstStyle/>
          <a:p>
            <a:endParaRPr lang="en-US"/>
          </a:p>
        </p:txBody>
      </p:sp>
      <p:sp>
        <p:nvSpPr>
          <p:cNvPr id="16" name="Shape 14"/>
          <p:cNvSpPr/>
          <p:nvPr/>
        </p:nvSpPr>
        <p:spPr>
          <a:xfrm>
            <a:off x="8001000" y="2606040"/>
            <a:ext cx="3337560" cy="91440"/>
          </a:xfrm>
          <a:prstGeom prst="rect">
            <a:avLst/>
          </a:prstGeom>
          <a:solidFill>
            <a:srgbClr val="00A896"/>
          </a:solidFill>
          <a:ln/>
        </p:spPr>
        <p:txBody>
          <a:bodyPr/>
          <a:lstStyle/>
          <a:p>
            <a:endParaRPr lang="en-US"/>
          </a:p>
        </p:txBody>
      </p:sp>
      <p:sp>
        <p:nvSpPr>
          <p:cNvPr id="17" name="Text 15"/>
          <p:cNvSpPr/>
          <p:nvPr/>
        </p:nvSpPr>
        <p:spPr>
          <a:xfrm>
            <a:off x="8321040" y="2852928"/>
            <a:ext cx="2743200" cy="914400"/>
          </a:xfrm>
          <a:prstGeom prst="rect">
            <a:avLst/>
          </a:prstGeom>
          <a:noFill/>
          <a:ln/>
        </p:spPr>
        <p:txBody>
          <a:bodyPr wrap="square" lIns="0" tIns="0" rIns="0" bIns="0" rtlCol="0" anchor="ctr"/>
          <a:lstStyle/>
          <a:p>
            <a:pPr marL="0" indent="0">
              <a:lnSpc>
                <a:spcPts val="2600"/>
              </a:lnSpc>
              <a:buNone/>
            </a:pPr>
            <a:r>
              <a:rPr lang="en-US" sz="2400" b="1" dirty="0">
                <a:solidFill>
                  <a:srgbClr val="FFFFFF"/>
                </a:solidFill>
                <a:latin typeface="Georgia" pitchFamily="34" charset="0"/>
                <a:ea typeface="Georgia" pitchFamily="34" charset="-122"/>
                <a:cs typeface="Georgia" pitchFamily="34" charset="-120"/>
              </a:rPr>
              <a:t>Wrong</a:t>
            </a:r>
            <a:endParaRPr lang="en-US" sz="2400" dirty="0"/>
          </a:p>
          <a:p>
            <a:pPr marL="0" indent="0">
              <a:lnSpc>
                <a:spcPts val="2600"/>
              </a:lnSpc>
              <a:buNone/>
            </a:pPr>
            <a:r>
              <a:rPr lang="en-US" sz="2400" b="1" dirty="0">
                <a:solidFill>
                  <a:srgbClr val="FFFFFF"/>
                </a:solidFill>
                <a:latin typeface="Georgia" pitchFamily="34" charset="0"/>
                <a:ea typeface="Georgia" pitchFamily="34" charset="-122"/>
                <a:cs typeface="Georgia" pitchFamily="34" charset="-120"/>
              </a:rPr>
              <a:t>question</a:t>
            </a:r>
            <a:endParaRPr lang="en-US" sz="2400" dirty="0"/>
          </a:p>
        </p:txBody>
      </p:sp>
      <p:sp>
        <p:nvSpPr>
          <p:cNvPr id="18" name="Text 16"/>
          <p:cNvSpPr/>
          <p:nvPr/>
        </p:nvSpPr>
        <p:spPr>
          <a:xfrm>
            <a:off x="8321040" y="3767328"/>
            <a:ext cx="2788920" cy="411480"/>
          </a:xfrm>
          <a:prstGeom prst="rect">
            <a:avLst/>
          </a:prstGeom>
          <a:noFill/>
          <a:ln/>
        </p:spPr>
        <p:txBody>
          <a:bodyPr wrap="square" lIns="0" tIns="0" rIns="0" bIns="0" rtlCol="0" anchor="ctr"/>
          <a:lstStyle/>
          <a:p>
            <a:pPr marL="0" indent="0">
              <a:lnSpc>
                <a:spcPts val="1600"/>
              </a:lnSpc>
              <a:buNone/>
            </a:pPr>
            <a:r>
              <a:rPr lang="en-US" sz="1250" b="1" dirty="0">
                <a:solidFill>
                  <a:srgbClr val="00A896"/>
                </a:solidFill>
                <a:latin typeface="Calibri" pitchFamily="34" charset="0"/>
                <a:ea typeface="Calibri" pitchFamily="34" charset="-122"/>
                <a:cs typeface="Calibri" pitchFamily="34" charset="-120"/>
              </a:rPr>
              <a:t>The split the data preferred</a:t>
            </a:r>
            <a:endParaRPr lang="en-US" sz="1250" dirty="0"/>
          </a:p>
        </p:txBody>
      </p:sp>
      <p:sp>
        <p:nvSpPr>
          <p:cNvPr id="19" name="Text 17"/>
          <p:cNvSpPr/>
          <p:nvPr/>
        </p:nvSpPr>
        <p:spPr>
          <a:xfrm>
            <a:off x="8321040" y="4160520"/>
            <a:ext cx="2788920" cy="685800"/>
          </a:xfrm>
          <a:prstGeom prst="rect">
            <a:avLst/>
          </a:prstGeom>
          <a:noFill/>
          <a:ln/>
        </p:spPr>
        <p:txBody>
          <a:bodyPr wrap="square" lIns="0" tIns="0" rIns="0" bIns="0" rtlCol="0" anchor="ctr"/>
          <a:lstStyle/>
          <a:p>
            <a:pPr marL="0" indent="0">
              <a:lnSpc>
                <a:spcPts val="1600"/>
              </a:lnSpc>
              <a:buNone/>
            </a:pPr>
            <a:r>
              <a:rPr lang="en-US" sz="1150" dirty="0">
                <a:solidFill>
                  <a:srgbClr val="9FB4B8"/>
                </a:solidFill>
                <a:latin typeface="Calibri" pitchFamily="34" charset="0"/>
                <a:ea typeface="Calibri" pitchFamily="34" charset="-122"/>
                <a:cs typeface="Calibri" pitchFamily="34" charset="-120"/>
              </a:rPr>
              <a:t>Its natural grouping wasn't the one the task needed.</a:t>
            </a:r>
            <a:endParaRPr lang="en-US" sz="1150" dirty="0"/>
          </a:p>
        </p:txBody>
      </p:sp>
      <p:sp>
        <p:nvSpPr>
          <p:cNvPr id="20" name="Shape 18"/>
          <p:cNvSpPr/>
          <p:nvPr/>
        </p:nvSpPr>
        <p:spPr>
          <a:xfrm>
            <a:off x="777240" y="5166360"/>
            <a:ext cx="10625328" cy="1005840"/>
          </a:xfrm>
          <a:prstGeom prst="rect">
            <a:avLst/>
          </a:prstGeom>
          <a:solidFill>
            <a:srgbClr val="028090"/>
          </a:solidFill>
          <a:ln/>
          <a:effectLst>
            <a:outerShdw blurRad="101600" dist="38100" dir="8100000" algn="bl" rotWithShape="0">
              <a:srgbClr val="000000">
                <a:alpha val="16000"/>
              </a:srgbClr>
            </a:outerShdw>
          </a:effectLst>
        </p:spPr>
        <p:txBody>
          <a:bodyPr/>
          <a:lstStyle/>
          <a:p>
            <a:endParaRPr lang="en-US"/>
          </a:p>
        </p:txBody>
      </p:sp>
      <p:sp>
        <p:nvSpPr>
          <p:cNvPr id="21" name="Shape 19"/>
          <p:cNvSpPr/>
          <p:nvPr/>
        </p:nvSpPr>
        <p:spPr>
          <a:xfrm>
            <a:off x="1051560" y="5413248"/>
            <a:ext cx="530352" cy="530352"/>
          </a:xfrm>
          <a:prstGeom prst="ellipse">
            <a:avLst/>
          </a:prstGeom>
          <a:solidFill>
            <a:srgbClr val="FFFFFF"/>
          </a:solidFill>
          <a:ln/>
        </p:spPr>
        <p:txBody>
          <a:bodyPr/>
          <a:lstStyle/>
          <a:p>
            <a:endParaRPr lang="en-US"/>
          </a:p>
        </p:txBody>
      </p:sp>
      <p:pic>
        <p:nvPicPr>
          <p:cNvPr id="22" name="Image 0" descr="preencoded.png"/>
          <p:cNvPicPr>
            <a:picLocks noChangeAspect="1"/>
          </p:cNvPicPr>
          <p:nvPr/>
        </p:nvPicPr>
        <p:blipFill>
          <a:blip r:embed="rId3"/>
          <a:stretch>
            <a:fillRect/>
          </a:stretch>
        </p:blipFill>
        <p:spPr>
          <a:xfrm>
            <a:off x="1179576" y="5541264"/>
            <a:ext cx="274320" cy="274320"/>
          </a:xfrm>
          <a:prstGeom prst="rect">
            <a:avLst/>
          </a:prstGeom>
        </p:spPr>
      </p:pic>
      <p:sp>
        <p:nvSpPr>
          <p:cNvPr id="23" name="Text 20"/>
          <p:cNvSpPr/>
          <p:nvPr/>
        </p:nvSpPr>
        <p:spPr>
          <a:xfrm>
            <a:off x="1828800" y="5212080"/>
            <a:ext cx="9326880" cy="914400"/>
          </a:xfrm>
          <a:prstGeom prst="rect">
            <a:avLst/>
          </a:prstGeom>
          <a:noFill/>
          <a:ln/>
        </p:spPr>
        <p:txBody>
          <a:bodyPr wrap="square" lIns="0" tIns="0" rIns="0" bIns="0" rtlCol="0" anchor="ctr"/>
          <a:lstStyle/>
          <a:p>
            <a:pPr marL="0" indent="0">
              <a:lnSpc>
                <a:spcPts val="1900"/>
              </a:lnSpc>
              <a:buNone/>
            </a:pPr>
            <a:r>
              <a:rPr lang="en-US" sz="1300" b="1" dirty="0">
                <a:solidFill>
                  <a:srgbClr val="FFFFFF"/>
                </a:solidFill>
                <a:latin typeface="Calibri" pitchFamily="34" charset="0"/>
                <a:ea typeface="Calibri" pitchFamily="34" charset="-122"/>
                <a:cs typeface="Calibri" pitchFamily="34" charset="-120"/>
              </a:rPr>
              <a:t>Why?  </a:t>
            </a:r>
            <a:r>
              <a:rPr lang="en-US" sz="1300" dirty="0">
                <a:solidFill>
                  <a:srgbClr val="E8F4F3"/>
                </a:solidFill>
                <a:latin typeface="Calibri" pitchFamily="34" charset="0"/>
                <a:ea typeface="Calibri" pitchFamily="34" charset="-122"/>
                <a:cs typeface="Calibri" pitchFamily="34" charset="-120"/>
              </a:rPr>
              <a:t>The loudest difference in the sound is between machine types: a fan and a valve sound nothing alike. The subtle gap between a healthy fan and a faulty one is drowned out.</a:t>
            </a:r>
            <a:endParaRPr lang="en-US" sz="1300" dirty="0"/>
          </a:p>
        </p:txBody>
      </p:sp>
      <p:sp>
        <p:nvSpPr>
          <p:cNvPr id="24" name="Text 21"/>
          <p:cNvSpPr/>
          <p:nvPr/>
        </p:nvSpPr>
        <p:spPr>
          <a:xfrm>
            <a:off x="11277295" y="6355080"/>
            <a:ext cx="548640" cy="320040"/>
          </a:xfrm>
          <a:prstGeom prst="rect">
            <a:avLst/>
          </a:prstGeom>
          <a:noFill/>
          <a:ln/>
        </p:spPr>
        <p:txBody>
          <a:bodyPr wrap="square" lIns="0" tIns="0" rIns="0" bIns="0" rtlCol="0" anchor="ctr"/>
          <a:lstStyle/>
          <a:p>
            <a:pPr marL="0" indent="0" algn="r">
              <a:buNone/>
            </a:pPr>
            <a:r>
              <a:rPr lang="en-US" sz="1000" dirty="0">
                <a:solidFill>
                  <a:srgbClr val="5E7378"/>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77240" y="548640"/>
            <a:ext cx="4572000" cy="274320"/>
          </a:xfrm>
          <a:prstGeom prst="rect">
            <a:avLst/>
          </a:prstGeom>
          <a:noFill/>
          <a:ln/>
        </p:spPr>
        <p:txBody>
          <a:bodyPr wrap="square" lIns="0" tIns="0" rIns="0" bIns="0" rtlCol="0" anchor="ctr"/>
          <a:lstStyle/>
          <a:p>
            <a:pPr marL="0" indent="0">
              <a:buNone/>
            </a:pPr>
            <a:r>
              <a:rPr lang="en-US" sz="1100" b="1" kern="0" spc="300" dirty="0">
                <a:solidFill>
                  <a:srgbClr val="028090"/>
                </a:solidFill>
                <a:latin typeface="Calibri" pitchFamily="34" charset="0"/>
                <a:ea typeface="Calibri" pitchFamily="34" charset="-122"/>
                <a:cs typeface="Calibri" pitchFamily="34" charset="-120"/>
              </a:rPr>
              <a:t>KEY INSIGHT</a:t>
            </a:r>
            <a:endParaRPr lang="en-US" sz="1100" dirty="0"/>
          </a:p>
        </p:txBody>
      </p:sp>
      <p:sp>
        <p:nvSpPr>
          <p:cNvPr id="3" name="Text 1"/>
          <p:cNvSpPr/>
          <p:nvPr/>
        </p:nvSpPr>
        <p:spPr>
          <a:xfrm>
            <a:off x="777240" y="822960"/>
            <a:ext cx="10789920" cy="685800"/>
          </a:xfrm>
          <a:prstGeom prst="rect">
            <a:avLst/>
          </a:prstGeom>
          <a:noFill/>
          <a:ln/>
        </p:spPr>
        <p:txBody>
          <a:bodyPr wrap="square" lIns="0" tIns="0" rIns="0" bIns="0" rtlCol="0" anchor="ctr"/>
          <a:lstStyle/>
          <a:p>
            <a:pPr marL="0" indent="0">
              <a:buNone/>
            </a:pPr>
            <a:r>
              <a:rPr lang="en-US" sz="2800" b="1" dirty="0">
                <a:solidFill>
                  <a:srgbClr val="0B2027"/>
                </a:solidFill>
                <a:latin typeface="Georgia" pitchFamily="34" charset="0"/>
                <a:ea typeface="Georgia" pitchFamily="34" charset="-122"/>
                <a:cs typeface="Georgia" pitchFamily="34" charset="-120"/>
              </a:rPr>
              <a:t>A 'failed' result that tells us exactly how to win</a:t>
            </a:r>
            <a:endParaRPr lang="en-US" sz="2800" dirty="0"/>
          </a:p>
        </p:txBody>
      </p:sp>
      <p:sp>
        <p:nvSpPr>
          <p:cNvPr id="4" name="Text 2"/>
          <p:cNvSpPr/>
          <p:nvPr/>
        </p:nvSpPr>
        <p:spPr>
          <a:xfrm>
            <a:off x="777240" y="1508760"/>
            <a:ext cx="10424160" cy="640080"/>
          </a:xfrm>
          <a:prstGeom prst="rect">
            <a:avLst/>
          </a:prstGeom>
          <a:noFill/>
          <a:ln/>
        </p:spPr>
        <p:txBody>
          <a:bodyPr wrap="square" lIns="0" tIns="0" rIns="0" bIns="0" rtlCol="0" anchor="ctr"/>
          <a:lstStyle/>
          <a:p>
            <a:pPr marL="0" indent="0">
              <a:lnSpc>
                <a:spcPts val="2100"/>
              </a:lnSpc>
              <a:buNone/>
            </a:pPr>
            <a:r>
              <a:rPr lang="en-US" sz="1450" i="1" dirty="0">
                <a:solidFill>
                  <a:srgbClr val="5E7378"/>
                </a:solidFill>
                <a:latin typeface="Calibri" pitchFamily="34" charset="0"/>
                <a:ea typeface="Calibri" pitchFamily="34" charset="-122"/>
                <a:cs typeface="Calibri" pitchFamily="34" charset="-120"/>
              </a:rPr>
              <a:t>The negative finding is itself the most valuable output. It diagnoses the precise reason naive clustering fails, and points to two concrete fixes.</a:t>
            </a:r>
            <a:endParaRPr lang="en-US" sz="1450" dirty="0"/>
          </a:p>
        </p:txBody>
      </p:sp>
      <p:sp>
        <p:nvSpPr>
          <p:cNvPr id="5" name="Shape 3"/>
          <p:cNvSpPr/>
          <p:nvPr/>
        </p:nvSpPr>
        <p:spPr>
          <a:xfrm>
            <a:off x="777240" y="2377440"/>
            <a:ext cx="3108960" cy="3520440"/>
          </a:xfrm>
          <a:prstGeom prst="rect">
            <a:avLst/>
          </a:prstGeom>
          <a:solidFill>
            <a:srgbClr val="0B2027"/>
          </a:solidFill>
          <a:ln/>
          <a:effectLst>
            <a:outerShdw blurRad="101600" dist="38100" dir="8100000" algn="bl" rotWithShape="0">
              <a:srgbClr val="000000">
                <a:alpha val="16000"/>
              </a:srgbClr>
            </a:outerShdw>
          </a:effectLst>
        </p:spPr>
        <p:txBody>
          <a:bodyPr/>
          <a:lstStyle/>
          <a:p>
            <a:endParaRPr lang="en-US"/>
          </a:p>
        </p:txBody>
      </p:sp>
      <p:sp>
        <p:nvSpPr>
          <p:cNvPr id="6" name="Shape 4"/>
          <p:cNvSpPr/>
          <p:nvPr/>
        </p:nvSpPr>
        <p:spPr>
          <a:xfrm>
            <a:off x="1051560" y="2697480"/>
            <a:ext cx="640080" cy="640080"/>
          </a:xfrm>
          <a:prstGeom prst="ellipse">
            <a:avLst/>
          </a:prstGeom>
          <a:solidFill>
            <a:srgbClr val="D9544D"/>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1197864" y="2843784"/>
            <a:ext cx="347472" cy="347472"/>
          </a:xfrm>
          <a:prstGeom prst="rect">
            <a:avLst/>
          </a:prstGeom>
        </p:spPr>
      </p:pic>
      <p:sp>
        <p:nvSpPr>
          <p:cNvPr id="8" name="Text 5"/>
          <p:cNvSpPr/>
          <p:nvPr/>
        </p:nvSpPr>
        <p:spPr>
          <a:xfrm>
            <a:off x="1051560" y="3474720"/>
            <a:ext cx="2651760" cy="274320"/>
          </a:xfrm>
          <a:prstGeom prst="rect">
            <a:avLst/>
          </a:prstGeom>
          <a:noFill/>
          <a:ln/>
        </p:spPr>
        <p:txBody>
          <a:bodyPr wrap="square" lIns="0" tIns="0" rIns="0" bIns="0" rtlCol="0" anchor="ctr"/>
          <a:lstStyle/>
          <a:p>
            <a:pPr marL="0" indent="0">
              <a:buNone/>
            </a:pPr>
            <a:r>
              <a:rPr lang="en-US" sz="1050" b="1" kern="0" spc="150" dirty="0">
                <a:solidFill>
                  <a:srgbClr val="8FA6AA"/>
                </a:solidFill>
                <a:latin typeface="Calibri" pitchFamily="34" charset="0"/>
                <a:ea typeface="Calibri" pitchFamily="34" charset="-122"/>
                <a:cs typeface="Calibri" pitchFamily="34" charset="-120"/>
              </a:rPr>
              <a:t>THE DIAGNOSIS</a:t>
            </a:r>
            <a:endParaRPr lang="en-US" sz="1050" dirty="0"/>
          </a:p>
        </p:txBody>
      </p:sp>
      <p:sp>
        <p:nvSpPr>
          <p:cNvPr id="9" name="Text 6"/>
          <p:cNvSpPr/>
          <p:nvPr/>
        </p:nvSpPr>
        <p:spPr>
          <a:xfrm>
            <a:off x="1051560" y="3703320"/>
            <a:ext cx="2651760" cy="822960"/>
          </a:xfrm>
          <a:prstGeom prst="rect">
            <a:avLst/>
          </a:prstGeom>
          <a:noFill/>
          <a:ln/>
        </p:spPr>
        <p:txBody>
          <a:bodyPr wrap="square" lIns="0" tIns="0" rIns="0" bIns="0" rtlCol="0" anchor="ctr"/>
          <a:lstStyle/>
          <a:p>
            <a:pPr marL="0" indent="0">
              <a:lnSpc>
                <a:spcPts val="2100"/>
              </a:lnSpc>
              <a:buNone/>
            </a:pPr>
            <a:r>
              <a:rPr lang="en-US" sz="1700" b="1" dirty="0">
                <a:solidFill>
                  <a:srgbClr val="FFFFFF"/>
                </a:solidFill>
                <a:latin typeface="Georgia" pitchFamily="34" charset="0"/>
                <a:ea typeface="Georgia" pitchFamily="34" charset="-122"/>
                <a:cs typeface="Georgia" pitchFamily="34" charset="-120"/>
              </a:rPr>
              <a:t>Machine identity dominates the sound</a:t>
            </a:r>
            <a:endParaRPr lang="en-US" sz="1700" dirty="0"/>
          </a:p>
        </p:txBody>
      </p:sp>
      <p:sp>
        <p:nvSpPr>
          <p:cNvPr id="10" name="Text 7"/>
          <p:cNvSpPr/>
          <p:nvPr/>
        </p:nvSpPr>
        <p:spPr>
          <a:xfrm>
            <a:off x="1051560" y="4572000"/>
            <a:ext cx="2697480" cy="1188720"/>
          </a:xfrm>
          <a:prstGeom prst="rect">
            <a:avLst/>
          </a:prstGeom>
          <a:noFill/>
          <a:ln/>
        </p:spPr>
        <p:txBody>
          <a:bodyPr wrap="square" lIns="0" tIns="0" rIns="0" bIns="0" rtlCol="0" anchor="ctr"/>
          <a:lstStyle/>
          <a:p>
            <a:pPr marL="0" indent="0">
              <a:lnSpc>
                <a:spcPts val="1700"/>
              </a:lnSpc>
              <a:buNone/>
            </a:pPr>
            <a:r>
              <a:rPr lang="en-US" sz="1150" dirty="0">
                <a:solidFill>
                  <a:srgbClr val="C7D8DA"/>
                </a:solidFill>
                <a:latin typeface="Calibri" pitchFamily="34" charset="0"/>
                <a:ea typeface="Calibri" pitchFamily="34" charset="-122"/>
                <a:cs typeface="Calibri" pitchFamily="34" charset="-120"/>
              </a:rPr>
              <a:t>"Normal" and "abnormal" are not equal categories, they are a baseline and a deviation from it, defined per machine.</a:t>
            </a:r>
            <a:endParaRPr lang="en-US" sz="1150" dirty="0"/>
          </a:p>
        </p:txBody>
      </p:sp>
      <p:sp>
        <p:nvSpPr>
          <p:cNvPr id="11" name="Shape 8"/>
          <p:cNvSpPr/>
          <p:nvPr/>
        </p:nvSpPr>
        <p:spPr>
          <a:xfrm>
            <a:off x="4041648" y="3931920"/>
            <a:ext cx="420624" cy="420624"/>
          </a:xfrm>
          <a:prstGeom prst="ellipse">
            <a:avLst/>
          </a:prstGeom>
          <a:solidFill>
            <a:srgbClr val="02C39A"/>
          </a:solidFill>
          <a:ln/>
        </p:spPr>
        <p:txBody>
          <a:bodyPr/>
          <a:lstStyle/>
          <a:p>
            <a:endParaRPr lang="en-US"/>
          </a:p>
        </p:txBody>
      </p:sp>
      <p:pic>
        <p:nvPicPr>
          <p:cNvPr id="12" name="Image 1" descr="preencoded.png"/>
          <p:cNvPicPr>
            <a:picLocks noChangeAspect="1"/>
          </p:cNvPicPr>
          <p:nvPr/>
        </p:nvPicPr>
        <p:blipFill>
          <a:blip r:embed="rId4"/>
          <a:stretch>
            <a:fillRect/>
          </a:stretch>
        </p:blipFill>
        <p:spPr>
          <a:xfrm>
            <a:off x="4142232" y="4032504"/>
            <a:ext cx="219456" cy="219456"/>
          </a:xfrm>
          <a:prstGeom prst="rect">
            <a:avLst/>
          </a:prstGeom>
        </p:spPr>
      </p:pic>
      <p:sp>
        <p:nvSpPr>
          <p:cNvPr id="13" name="Shape 9"/>
          <p:cNvSpPr/>
          <p:nvPr/>
        </p:nvSpPr>
        <p:spPr>
          <a:xfrm>
            <a:off x="4617720" y="2377440"/>
            <a:ext cx="3246120" cy="3520440"/>
          </a:xfrm>
          <a:prstGeom prst="rect">
            <a:avLst/>
          </a:prstGeom>
          <a:solidFill>
            <a:srgbClr val="E8F4F3"/>
          </a:solidFill>
          <a:ln/>
          <a:effectLst>
            <a:outerShdw blurRad="101600" dist="38100" dir="8100000" algn="bl" rotWithShape="0">
              <a:srgbClr val="000000">
                <a:alpha val="16000"/>
              </a:srgbClr>
            </a:outerShdw>
          </a:effectLst>
        </p:spPr>
        <p:txBody>
          <a:bodyPr/>
          <a:lstStyle/>
          <a:p>
            <a:endParaRPr lang="en-US"/>
          </a:p>
        </p:txBody>
      </p:sp>
      <p:sp>
        <p:nvSpPr>
          <p:cNvPr id="14" name="Shape 10"/>
          <p:cNvSpPr/>
          <p:nvPr/>
        </p:nvSpPr>
        <p:spPr>
          <a:xfrm>
            <a:off x="4617720" y="2377440"/>
            <a:ext cx="3246120" cy="91440"/>
          </a:xfrm>
          <a:prstGeom prst="rect">
            <a:avLst/>
          </a:prstGeom>
          <a:solidFill>
            <a:srgbClr val="028090"/>
          </a:solidFill>
          <a:ln/>
        </p:spPr>
        <p:txBody>
          <a:bodyPr/>
          <a:lstStyle/>
          <a:p>
            <a:endParaRPr lang="en-US"/>
          </a:p>
        </p:txBody>
      </p:sp>
      <p:sp>
        <p:nvSpPr>
          <p:cNvPr id="15" name="Text 11"/>
          <p:cNvSpPr/>
          <p:nvPr/>
        </p:nvSpPr>
        <p:spPr>
          <a:xfrm>
            <a:off x="4937760" y="2697480"/>
            <a:ext cx="1828800" cy="274320"/>
          </a:xfrm>
          <a:prstGeom prst="rect">
            <a:avLst/>
          </a:prstGeom>
          <a:noFill/>
          <a:ln/>
        </p:spPr>
        <p:txBody>
          <a:bodyPr wrap="square" lIns="0" tIns="0" rIns="0" bIns="0" rtlCol="0" anchor="ctr"/>
          <a:lstStyle/>
          <a:p>
            <a:pPr marL="0" indent="0">
              <a:buNone/>
            </a:pPr>
            <a:r>
              <a:rPr lang="en-US" sz="1050" b="1" kern="0" spc="150" dirty="0">
                <a:solidFill>
                  <a:srgbClr val="028090"/>
                </a:solidFill>
                <a:latin typeface="Calibri" pitchFamily="34" charset="0"/>
                <a:ea typeface="Calibri" pitchFamily="34" charset="-122"/>
                <a:cs typeface="Calibri" pitchFamily="34" charset="-120"/>
              </a:rPr>
              <a:t>FIX 1</a:t>
            </a:r>
            <a:endParaRPr lang="en-US" sz="1050" dirty="0"/>
          </a:p>
        </p:txBody>
      </p:sp>
      <p:sp>
        <p:nvSpPr>
          <p:cNvPr id="16" name="Shape 12"/>
          <p:cNvSpPr/>
          <p:nvPr/>
        </p:nvSpPr>
        <p:spPr>
          <a:xfrm>
            <a:off x="6903720" y="2606040"/>
            <a:ext cx="640080" cy="640080"/>
          </a:xfrm>
          <a:prstGeom prst="ellipse">
            <a:avLst/>
          </a:prstGeom>
          <a:solidFill>
            <a:srgbClr val="028090"/>
          </a:solidFill>
          <a:ln/>
        </p:spPr>
        <p:txBody>
          <a:bodyPr/>
          <a:lstStyle/>
          <a:p>
            <a:endParaRPr lang="en-US"/>
          </a:p>
        </p:txBody>
      </p:sp>
      <p:pic>
        <p:nvPicPr>
          <p:cNvPr id="17" name="Image 2" descr="preencoded.png"/>
          <p:cNvPicPr>
            <a:picLocks noChangeAspect="1"/>
          </p:cNvPicPr>
          <p:nvPr/>
        </p:nvPicPr>
        <p:blipFill>
          <a:blip r:embed="rId5"/>
          <a:stretch>
            <a:fillRect/>
          </a:stretch>
        </p:blipFill>
        <p:spPr>
          <a:xfrm>
            <a:off x="7050024" y="2752344"/>
            <a:ext cx="347472" cy="347472"/>
          </a:xfrm>
          <a:prstGeom prst="rect">
            <a:avLst/>
          </a:prstGeom>
        </p:spPr>
      </p:pic>
      <p:sp>
        <p:nvSpPr>
          <p:cNvPr id="18" name="Text 13"/>
          <p:cNvSpPr/>
          <p:nvPr/>
        </p:nvSpPr>
        <p:spPr>
          <a:xfrm>
            <a:off x="4937760" y="3383280"/>
            <a:ext cx="2743200" cy="868680"/>
          </a:xfrm>
          <a:prstGeom prst="rect">
            <a:avLst/>
          </a:prstGeom>
          <a:noFill/>
          <a:ln/>
        </p:spPr>
        <p:txBody>
          <a:bodyPr wrap="square" lIns="0" tIns="0" rIns="0" bIns="0" rtlCol="0" anchor="ctr"/>
          <a:lstStyle/>
          <a:p>
            <a:pPr marL="0" indent="0">
              <a:lnSpc>
                <a:spcPts val="2200"/>
              </a:lnSpc>
              <a:buNone/>
            </a:pPr>
            <a:r>
              <a:rPr lang="en-US" sz="1800" b="1" dirty="0">
                <a:solidFill>
                  <a:srgbClr val="0B2027"/>
                </a:solidFill>
                <a:latin typeface="Georgia" pitchFamily="34" charset="0"/>
                <a:ea typeface="Georgia" pitchFamily="34" charset="-122"/>
                <a:cs typeface="Georgia" pitchFamily="34" charset="-120"/>
              </a:rPr>
              <a:t>Cluster per machine</a:t>
            </a:r>
            <a:endParaRPr lang="en-US" sz="1800" dirty="0"/>
          </a:p>
        </p:txBody>
      </p:sp>
      <p:sp>
        <p:nvSpPr>
          <p:cNvPr id="19" name="Text 14"/>
          <p:cNvSpPr/>
          <p:nvPr/>
        </p:nvSpPr>
        <p:spPr>
          <a:xfrm>
            <a:off x="4937760" y="4206240"/>
            <a:ext cx="2743200" cy="1554480"/>
          </a:xfrm>
          <a:prstGeom prst="rect">
            <a:avLst/>
          </a:prstGeom>
          <a:noFill/>
          <a:ln/>
        </p:spPr>
        <p:txBody>
          <a:bodyPr wrap="square" lIns="0" tIns="0" rIns="0" bIns="0" rtlCol="0" anchor="ctr"/>
          <a:lstStyle/>
          <a:p>
            <a:pPr marL="0" indent="0">
              <a:lnSpc>
                <a:spcPts val="1800"/>
              </a:lnSpc>
              <a:buNone/>
            </a:pPr>
            <a:r>
              <a:rPr lang="en-US" sz="1250" dirty="0">
                <a:solidFill>
                  <a:srgbClr val="1A2E33"/>
                </a:solidFill>
                <a:latin typeface="Calibri" pitchFamily="34" charset="0"/>
                <a:ea typeface="Calibri" pitchFamily="34" charset="-122"/>
                <a:cs typeface="Calibri" pitchFamily="34" charset="-120"/>
              </a:rPr>
              <a:t>Group fans with fans, valves with valves. Within one machine type, the only remaining difference is condition, so healthy vs faulty becomes visible.</a:t>
            </a:r>
            <a:endParaRPr lang="en-US" sz="1250" dirty="0"/>
          </a:p>
        </p:txBody>
      </p:sp>
      <p:sp>
        <p:nvSpPr>
          <p:cNvPr id="20" name="Shape 15"/>
          <p:cNvSpPr/>
          <p:nvPr/>
        </p:nvSpPr>
        <p:spPr>
          <a:xfrm>
            <a:off x="8138160" y="2377440"/>
            <a:ext cx="3246120" cy="3520440"/>
          </a:xfrm>
          <a:prstGeom prst="rect">
            <a:avLst/>
          </a:prstGeom>
          <a:solidFill>
            <a:srgbClr val="E8F4F3"/>
          </a:solidFill>
          <a:ln/>
          <a:effectLst>
            <a:outerShdw blurRad="101600" dist="38100" dir="8100000" algn="bl" rotWithShape="0">
              <a:srgbClr val="000000">
                <a:alpha val="16000"/>
              </a:srgbClr>
            </a:outerShdw>
          </a:effectLst>
        </p:spPr>
        <p:txBody>
          <a:bodyPr/>
          <a:lstStyle/>
          <a:p>
            <a:endParaRPr lang="en-US"/>
          </a:p>
        </p:txBody>
      </p:sp>
      <p:sp>
        <p:nvSpPr>
          <p:cNvPr id="21" name="Shape 16"/>
          <p:cNvSpPr/>
          <p:nvPr/>
        </p:nvSpPr>
        <p:spPr>
          <a:xfrm>
            <a:off x="8138160" y="2377440"/>
            <a:ext cx="3246120" cy="91440"/>
          </a:xfrm>
          <a:prstGeom prst="rect">
            <a:avLst/>
          </a:prstGeom>
          <a:solidFill>
            <a:srgbClr val="028090"/>
          </a:solidFill>
          <a:ln/>
        </p:spPr>
        <p:txBody>
          <a:bodyPr/>
          <a:lstStyle/>
          <a:p>
            <a:endParaRPr lang="en-US"/>
          </a:p>
        </p:txBody>
      </p:sp>
      <p:sp>
        <p:nvSpPr>
          <p:cNvPr id="22" name="Text 17"/>
          <p:cNvSpPr/>
          <p:nvPr/>
        </p:nvSpPr>
        <p:spPr>
          <a:xfrm>
            <a:off x="8458200" y="2697480"/>
            <a:ext cx="1828800" cy="274320"/>
          </a:xfrm>
          <a:prstGeom prst="rect">
            <a:avLst/>
          </a:prstGeom>
          <a:noFill/>
          <a:ln/>
        </p:spPr>
        <p:txBody>
          <a:bodyPr wrap="square" lIns="0" tIns="0" rIns="0" bIns="0" rtlCol="0" anchor="ctr"/>
          <a:lstStyle/>
          <a:p>
            <a:pPr marL="0" indent="0">
              <a:buNone/>
            </a:pPr>
            <a:r>
              <a:rPr lang="en-US" sz="1050" b="1" kern="0" spc="150" dirty="0">
                <a:solidFill>
                  <a:srgbClr val="028090"/>
                </a:solidFill>
                <a:latin typeface="Calibri" pitchFamily="34" charset="0"/>
                <a:ea typeface="Calibri" pitchFamily="34" charset="-122"/>
                <a:cs typeface="Calibri" pitchFamily="34" charset="-120"/>
              </a:rPr>
              <a:t>FIX 2</a:t>
            </a:r>
            <a:endParaRPr lang="en-US" sz="1050" dirty="0"/>
          </a:p>
        </p:txBody>
      </p:sp>
      <p:sp>
        <p:nvSpPr>
          <p:cNvPr id="23" name="Shape 18"/>
          <p:cNvSpPr/>
          <p:nvPr/>
        </p:nvSpPr>
        <p:spPr>
          <a:xfrm>
            <a:off x="10424160" y="2606040"/>
            <a:ext cx="640080" cy="640080"/>
          </a:xfrm>
          <a:prstGeom prst="ellipse">
            <a:avLst/>
          </a:prstGeom>
          <a:solidFill>
            <a:srgbClr val="028090"/>
          </a:solidFill>
          <a:ln/>
        </p:spPr>
        <p:txBody>
          <a:bodyPr/>
          <a:lstStyle/>
          <a:p>
            <a:endParaRPr lang="en-US"/>
          </a:p>
        </p:txBody>
      </p:sp>
      <p:pic>
        <p:nvPicPr>
          <p:cNvPr id="24" name="Image 3" descr="preencoded.png"/>
          <p:cNvPicPr>
            <a:picLocks noChangeAspect="1"/>
          </p:cNvPicPr>
          <p:nvPr/>
        </p:nvPicPr>
        <p:blipFill>
          <a:blip r:embed="rId6"/>
          <a:stretch>
            <a:fillRect/>
          </a:stretch>
        </p:blipFill>
        <p:spPr>
          <a:xfrm>
            <a:off x="10570464" y="2752344"/>
            <a:ext cx="347472" cy="347472"/>
          </a:xfrm>
          <a:prstGeom prst="rect">
            <a:avLst/>
          </a:prstGeom>
        </p:spPr>
      </p:pic>
      <p:sp>
        <p:nvSpPr>
          <p:cNvPr id="25" name="Text 19"/>
          <p:cNvSpPr/>
          <p:nvPr/>
        </p:nvSpPr>
        <p:spPr>
          <a:xfrm>
            <a:off x="8458200" y="3383280"/>
            <a:ext cx="2743200" cy="868680"/>
          </a:xfrm>
          <a:prstGeom prst="rect">
            <a:avLst/>
          </a:prstGeom>
          <a:noFill/>
          <a:ln/>
        </p:spPr>
        <p:txBody>
          <a:bodyPr wrap="square" lIns="0" tIns="0" rIns="0" bIns="0" rtlCol="0" anchor="ctr"/>
          <a:lstStyle/>
          <a:p>
            <a:pPr marL="0" indent="0">
              <a:lnSpc>
                <a:spcPts val="2200"/>
              </a:lnSpc>
              <a:buNone/>
            </a:pPr>
            <a:r>
              <a:rPr lang="en-US" sz="1800" b="1" dirty="0">
                <a:solidFill>
                  <a:srgbClr val="0B2027"/>
                </a:solidFill>
                <a:latin typeface="Georgia" pitchFamily="34" charset="0"/>
                <a:ea typeface="Georgia" pitchFamily="34" charset="-122"/>
                <a:cs typeface="Georgia" pitchFamily="34" charset="-120"/>
              </a:rPr>
              <a:t>Model a 'normal' baseline</a:t>
            </a:r>
            <a:endParaRPr lang="en-US" sz="1800" dirty="0"/>
          </a:p>
        </p:txBody>
      </p:sp>
      <p:sp>
        <p:nvSpPr>
          <p:cNvPr id="26" name="Text 20"/>
          <p:cNvSpPr/>
          <p:nvPr/>
        </p:nvSpPr>
        <p:spPr>
          <a:xfrm>
            <a:off x="8458200" y="4206240"/>
            <a:ext cx="2743200" cy="1554480"/>
          </a:xfrm>
          <a:prstGeom prst="rect">
            <a:avLst/>
          </a:prstGeom>
          <a:noFill/>
          <a:ln/>
        </p:spPr>
        <p:txBody>
          <a:bodyPr wrap="square" lIns="0" tIns="0" rIns="0" bIns="0" rtlCol="0" anchor="ctr"/>
          <a:lstStyle/>
          <a:p>
            <a:pPr marL="0" indent="0">
              <a:lnSpc>
                <a:spcPts val="1800"/>
              </a:lnSpc>
              <a:buNone/>
            </a:pPr>
            <a:r>
              <a:rPr lang="en-US" sz="1250" dirty="0">
                <a:solidFill>
                  <a:srgbClr val="1A2E33"/>
                </a:solidFill>
                <a:latin typeface="Calibri" pitchFamily="34" charset="0"/>
                <a:ea typeface="Calibri" pitchFamily="34" charset="-122"/>
                <a:cs typeface="Calibri" pitchFamily="34" charset="-120"/>
              </a:rPr>
              <a:t>Use anomaly-detection methods (isolation forests, autoencoders) that learn each machine's healthy sound and flag deviations from it.</a:t>
            </a:r>
            <a:endParaRPr lang="en-US" sz="1250" dirty="0"/>
          </a:p>
        </p:txBody>
      </p:sp>
      <p:sp>
        <p:nvSpPr>
          <p:cNvPr id="27" name="Text 21"/>
          <p:cNvSpPr/>
          <p:nvPr/>
        </p:nvSpPr>
        <p:spPr>
          <a:xfrm>
            <a:off x="11277295" y="6355080"/>
            <a:ext cx="548640" cy="320040"/>
          </a:xfrm>
          <a:prstGeom prst="rect">
            <a:avLst/>
          </a:prstGeom>
          <a:noFill/>
          <a:ln/>
        </p:spPr>
        <p:txBody>
          <a:bodyPr wrap="square" lIns="0" tIns="0" rIns="0" bIns="0" rtlCol="0" anchor="ctr"/>
          <a:lstStyle/>
          <a:p>
            <a:pPr marL="0" indent="0" algn="r">
              <a:buNone/>
            </a:pPr>
            <a:r>
              <a:rPr lang="en-US" sz="1000" dirty="0">
                <a:solidFill>
                  <a:srgbClr val="5E7378"/>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77240" y="548640"/>
            <a:ext cx="4572000" cy="274320"/>
          </a:xfrm>
          <a:prstGeom prst="rect">
            <a:avLst/>
          </a:prstGeom>
          <a:noFill/>
          <a:ln/>
        </p:spPr>
        <p:txBody>
          <a:bodyPr wrap="square" lIns="0" tIns="0" rIns="0" bIns="0" rtlCol="0" anchor="ctr"/>
          <a:lstStyle/>
          <a:p>
            <a:pPr marL="0" indent="0">
              <a:buNone/>
            </a:pPr>
            <a:r>
              <a:rPr lang="en-US" sz="1100" b="1" kern="0" spc="300" dirty="0">
                <a:solidFill>
                  <a:srgbClr val="028090"/>
                </a:solidFill>
                <a:latin typeface="Calibri" pitchFamily="34" charset="0"/>
                <a:ea typeface="Calibri" pitchFamily="34" charset="-122"/>
                <a:cs typeface="Calibri" pitchFamily="34" charset="-120"/>
              </a:rPr>
              <a:t>BUSINESS IMPACT &amp; INDUSTRY USE</a:t>
            </a:r>
            <a:endParaRPr lang="en-US" sz="1100" dirty="0"/>
          </a:p>
        </p:txBody>
      </p:sp>
      <p:sp>
        <p:nvSpPr>
          <p:cNvPr id="3" name="Text 1"/>
          <p:cNvSpPr/>
          <p:nvPr/>
        </p:nvSpPr>
        <p:spPr>
          <a:xfrm>
            <a:off x="777240" y="822960"/>
            <a:ext cx="10789920" cy="685800"/>
          </a:xfrm>
          <a:prstGeom prst="rect">
            <a:avLst/>
          </a:prstGeom>
          <a:noFill/>
          <a:ln/>
        </p:spPr>
        <p:txBody>
          <a:bodyPr wrap="square" lIns="0" tIns="0" rIns="0" bIns="0" rtlCol="0" anchor="ctr"/>
          <a:lstStyle/>
          <a:p>
            <a:pPr marL="0" indent="0">
              <a:buNone/>
            </a:pPr>
            <a:r>
              <a:rPr lang="en-US" sz="2900" b="1" dirty="0">
                <a:solidFill>
                  <a:srgbClr val="0B2027"/>
                </a:solidFill>
                <a:latin typeface="Georgia" pitchFamily="34" charset="0"/>
                <a:ea typeface="Georgia" pitchFamily="34" charset="-122"/>
                <a:cs typeface="Georgia" pitchFamily="34" charset="-120"/>
              </a:rPr>
              <a:t>Why a company would want this solution</a:t>
            </a:r>
            <a:endParaRPr lang="en-US" sz="2900" dirty="0"/>
          </a:p>
        </p:txBody>
      </p:sp>
      <p:sp>
        <p:nvSpPr>
          <p:cNvPr id="4" name="Text 2"/>
          <p:cNvSpPr/>
          <p:nvPr/>
        </p:nvSpPr>
        <p:spPr>
          <a:xfrm>
            <a:off x="777240" y="1508760"/>
            <a:ext cx="10515600" cy="777240"/>
          </a:xfrm>
          <a:prstGeom prst="rect">
            <a:avLst/>
          </a:prstGeom>
          <a:noFill/>
          <a:ln/>
        </p:spPr>
        <p:txBody>
          <a:bodyPr wrap="square" lIns="0" tIns="0" rIns="0" bIns="0" rtlCol="0" anchor="ctr"/>
          <a:lstStyle/>
          <a:p>
            <a:pPr marL="0" indent="0">
              <a:lnSpc>
                <a:spcPts val="2100"/>
              </a:lnSpc>
              <a:buNone/>
            </a:pPr>
            <a:r>
              <a:rPr lang="en-US" sz="1400" dirty="0">
                <a:solidFill>
                  <a:srgbClr val="1A2E33"/>
                </a:solidFill>
                <a:latin typeface="Calibri" pitchFamily="34" charset="0"/>
                <a:ea typeface="Calibri" pitchFamily="34" charset="-122"/>
                <a:cs typeface="Calibri" pitchFamily="34" charset="-120"/>
              </a:rPr>
              <a:t>Sound-based monitoring is cheap to deploy: a microphone costs far less than embedded vibration sensors, and the unsupervised approach removes the biggest barrier: the need for labelled fault data.</a:t>
            </a:r>
            <a:endParaRPr lang="en-US" sz="1400" dirty="0"/>
          </a:p>
        </p:txBody>
      </p:sp>
      <p:sp>
        <p:nvSpPr>
          <p:cNvPr id="5" name="Shape 3"/>
          <p:cNvSpPr/>
          <p:nvPr/>
        </p:nvSpPr>
        <p:spPr>
          <a:xfrm>
            <a:off x="777240" y="2468880"/>
            <a:ext cx="5166360" cy="1600200"/>
          </a:xfrm>
          <a:prstGeom prst="rect">
            <a:avLst/>
          </a:prstGeom>
          <a:solidFill>
            <a:srgbClr val="E8F4F3"/>
          </a:solidFill>
          <a:ln/>
          <a:effectLst>
            <a:outerShdw blurRad="101600" dist="38100" dir="8100000" algn="bl" rotWithShape="0">
              <a:srgbClr val="000000">
                <a:alpha val="16000"/>
              </a:srgbClr>
            </a:outerShdw>
          </a:effectLst>
        </p:spPr>
        <p:txBody>
          <a:bodyPr/>
          <a:lstStyle/>
          <a:p>
            <a:endParaRPr lang="en-US"/>
          </a:p>
        </p:txBody>
      </p:sp>
      <p:sp>
        <p:nvSpPr>
          <p:cNvPr id="6" name="Shape 4"/>
          <p:cNvSpPr/>
          <p:nvPr/>
        </p:nvSpPr>
        <p:spPr>
          <a:xfrm>
            <a:off x="1069848" y="2852928"/>
            <a:ext cx="822960" cy="822960"/>
          </a:xfrm>
          <a:prstGeom prst="ellipse">
            <a:avLst/>
          </a:prstGeom>
          <a:solidFill>
            <a:srgbClr val="028090"/>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1271016" y="3054096"/>
            <a:ext cx="420624" cy="420624"/>
          </a:xfrm>
          <a:prstGeom prst="rect">
            <a:avLst/>
          </a:prstGeom>
        </p:spPr>
      </p:pic>
      <p:sp>
        <p:nvSpPr>
          <p:cNvPr id="8" name="Text 5"/>
          <p:cNvSpPr/>
          <p:nvPr/>
        </p:nvSpPr>
        <p:spPr>
          <a:xfrm>
            <a:off x="2148840" y="2761488"/>
            <a:ext cx="3611880" cy="457200"/>
          </a:xfrm>
          <a:prstGeom prst="rect">
            <a:avLst/>
          </a:prstGeom>
          <a:noFill/>
          <a:ln/>
        </p:spPr>
        <p:txBody>
          <a:bodyPr wrap="square" lIns="0" tIns="0" rIns="0" bIns="0" rtlCol="0" anchor="ctr"/>
          <a:lstStyle/>
          <a:p>
            <a:pPr marL="0" indent="0">
              <a:buNone/>
            </a:pPr>
            <a:r>
              <a:rPr lang="en-US" sz="1700" b="1" dirty="0">
                <a:solidFill>
                  <a:srgbClr val="0B2027"/>
                </a:solidFill>
                <a:latin typeface="Georgia" pitchFamily="34" charset="0"/>
                <a:ea typeface="Georgia" pitchFamily="34" charset="-122"/>
                <a:cs typeface="Georgia" pitchFamily="34" charset="-120"/>
              </a:rPr>
              <a:t>Less downtime</a:t>
            </a:r>
            <a:endParaRPr lang="en-US" sz="1700" dirty="0"/>
          </a:p>
        </p:txBody>
      </p:sp>
      <p:sp>
        <p:nvSpPr>
          <p:cNvPr id="9" name="Text 6"/>
          <p:cNvSpPr/>
          <p:nvPr/>
        </p:nvSpPr>
        <p:spPr>
          <a:xfrm>
            <a:off x="2148840" y="3182112"/>
            <a:ext cx="3657600" cy="777240"/>
          </a:xfrm>
          <a:prstGeom prst="rect">
            <a:avLst/>
          </a:prstGeom>
          <a:noFill/>
          <a:ln/>
        </p:spPr>
        <p:txBody>
          <a:bodyPr wrap="square" lIns="0" tIns="0" rIns="0" bIns="0" rtlCol="0" anchor="ctr"/>
          <a:lstStyle/>
          <a:p>
            <a:pPr marL="0" indent="0">
              <a:lnSpc>
                <a:spcPts val="1700"/>
              </a:lnSpc>
              <a:buNone/>
            </a:pPr>
            <a:r>
              <a:rPr lang="en-US" sz="1250" dirty="0">
                <a:solidFill>
                  <a:srgbClr val="1A2E33"/>
                </a:solidFill>
                <a:latin typeface="Calibri" pitchFamily="34" charset="0"/>
                <a:ea typeface="Calibri" pitchFamily="34" charset="-122"/>
                <a:cs typeface="Calibri" pitchFamily="34" charset="-120"/>
              </a:rPr>
              <a:t>Catch wear early and schedule repairs before a breakdown halts the line.</a:t>
            </a:r>
            <a:endParaRPr lang="en-US" sz="1250" dirty="0"/>
          </a:p>
        </p:txBody>
      </p:sp>
      <p:sp>
        <p:nvSpPr>
          <p:cNvPr id="10" name="Shape 7"/>
          <p:cNvSpPr/>
          <p:nvPr/>
        </p:nvSpPr>
        <p:spPr>
          <a:xfrm>
            <a:off x="6217920" y="2468880"/>
            <a:ext cx="5166360" cy="1600200"/>
          </a:xfrm>
          <a:prstGeom prst="rect">
            <a:avLst/>
          </a:prstGeom>
          <a:solidFill>
            <a:srgbClr val="E8F4F3"/>
          </a:solidFill>
          <a:ln/>
          <a:effectLst>
            <a:outerShdw blurRad="101600" dist="38100" dir="8100000" algn="bl" rotWithShape="0">
              <a:srgbClr val="000000">
                <a:alpha val="16000"/>
              </a:srgbClr>
            </a:outerShdw>
          </a:effectLst>
        </p:spPr>
        <p:txBody>
          <a:bodyPr/>
          <a:lstStyle/>
          <a:p>
            <a:endParaRPr lang="en-US"/>
          </a:p>
        </p:txBody>
      </p:sp>
      <p:sp>
        <p:nvSpPr>
          <p:cNvPr id="11" name="Shape 8"/>
          <p:cNvSpPr/>
          <p:nvPr/>
        </p:nvSpPr>
        <p:spPr>
          <a:xfrm>
            <a:off x="6510528" y="2852928"/>
            <a:ext cx="822960" cy="822960"/>
          </a:xfrm>
          <a:prstGeom prst="ellipse">
            <a:avLst/>
          </a:prstGeom>
          <a:solidFill>
            <a:srgbClr val="028090"/>
          </a:solidFill>
          <a:ln/>
        </p:spPr>
        <p:txBody>
          <a:bodyPr/>
          <a:lstStyle/>
          <a:p>
            <a:endParaRPr lang="en-US"/>
          </a:p>
        </p:txBody>
      </p:sp>
      <p:pic>
        <p:nvPicPr>
          <p:cNvPr id="12" name="Image 1" descr="preencoded.png"/>
          <p:cNvPicPr>
            <a:picLocks noChangeAspect="1"/>
          </p:cNvPicPr>
          <p:nvPr/>
        </p:nvPicPr>
        <p:blipFill>
          <a:blip r:embed="rId4"/>
          <a:stretch>
            <a:fillRect/>
          </a:stretch>
        </p:blipFill>
        <p:spPr>
          <a:xfrm>
            <a:off x="6711696" y="3054096"/>
            <a:ext cx="420624" cy="420624"/>
          </a:xfrm>
          <a:prstGeom prst="rect">
            <a:avLst/>
          </a:prstGeom>
        </p:spPr>
      </p:pic>
      <p:sp>
        <p:nvSpPr>
          <p:cNvPr id="13" name="Text 9"/>
          <p:cNvSpPr/>
          <p:nvPr/>
        </p:nvSpPr>
        <p:spPr>
          <a:xfrm>
            <a:off x="7589520" y="2761488"/>
            <a:ext cx="3611880" cy="457200"/>
          </a:xfrm>
          <a:prstGeom prst="rect">
            <a:avLst/>
          </a:prstGeom>
          <a:noFill/>
          <a:ln/>
        </p:spPr>
        <p:txBody>
          <a:bodyPr wrap="square" lIns="0" tIns="0" rIns="0" bIns="0" rtlCol="0" anchor="ctr"/>
          <a:lstStyle/>
          <a:p>
            <a:pPr marL="0" indent="0">
              <a:buNone/>
            </a:pPr>
            <a:r>
              <a:rPr lang="en-US" sz="1700" b="1" dirty="0">
                <a:solidFill>
                  <a:srgbClr val="0B2027"/>
                </a:solidFill>
                <a:latin typeface="Georgia" pitchFamily="34" charset="0"/>
                <a:ea typeface="Georgia" pitchFamily="34" charset="-122"/>
                <a:cs typeface="Georgia" pitchFamily="34" charset="-120"/>
              </a:rPr>
              <a:t>Lower maintenance cost</a:t>
            </a:r>
            <a:endParaRPr lang="en-US" sz="1700" dirty="0"/>
          </a:p>
        </p:txBody>
      </p:sp>
      <p:sp>
        <p:nvSpPr>
          <p:cNvPr id="14" name="Text 10"/>
          <p:cNvSpPr/>
          <p:nvPr/>
        </p:nvSpPr>
        <p:spPr>
          <a:xfrm>
            <a:off x="7589520" y="3182112"/>
            <a:ext cx="3657600" cy="777240"/>
          </a:xfrm>
          <a:prstGeom prst="rect">
            <a:avLst/>
          </a:prstGeom>
          <a:noFill/>
          <a:ln/>
        </p:spPr>
        <p:txBody>
          <a:bodyPr wrap="square" lIns="0" tIns="0" rIns="0" bIns="0" rtlCol="0" anchor="ctr"/>
          <a:lstStyle/>
          <a:p>
            <a:pPr marL="0" indent="0">
              <a:lnSpc>
                <a:spcPts val="1700"/>
              </a:lnSpc>
              <a:buNone/>
            </a:pPr>
            <a:r>
              <a:rPr lang="en-US" sz="1250" dirty="0">
                <a:solidFill>
                  <a:srgbClr val="1A2E33"/>
                </a:solidFill>
                <a:latin typeface="Calibri" pitchFamily="34" charset="0"/>
                <a:ea typeface="Calibri" pitchFamily="34" charset="-122"/>
                <a:cs typeface="Calibri" pitchFamily="34" charset="-120"/>
              </a:rPr>
              <a:t>Replace fixed-interval servicing with condition-based, just-in-time maintenance.</a:t>
            </a:r>
            <a:endParaRPr lang="en-US" sz="1250" dirty="0"/>
          </a:p>
        </p:txBody>
      </p:sp>
      <p:sp>
        <p:nvSpPr>
          <p:cNvPr id="15" name="Shape 11"/>
          <p:cNvSpPr/>
          <p:nvPr/>
        </p:nvSpPr>
        <p:spPr>
          <a:xfrm>
            <a:off x="777240" y="4251960"/>
            <a:ext cx="5166360" cy="1600200"/>
          </a:xfrm>
          <a:prstGeom prst="rect">
            <a:avLst/>
          </a:prstGeom>
          <a:solidFill>
            <a:srgbClr val="E8F4F3"/>
          </a:solidFill>
          <a:ln/>
          <a:effectLst>
            <a:outerShdw blurRad="101600" dist="38100" dir="8100000" algn="bl" rotWithShape="0">
              <a:srgbClr val="000000">
                <a:alpha val="16000"/>
              </a:srgbClr>
            </a:outerShdw>
          </a:effectLst>
        </p:spPr>
        <p:txBody>
          <a:bodyPr/>
          <a:lstStyle/>
          <a:p>
            <a:endParaRPr lang="en-US"/>
          </a:p>
        </p:txBody>
      </p:sp>
      <p:sp>
        <p:nvSpPr>
          <p:cNvPr id="16" name="Shape 12"/>
          <p:cNvSpPr/>
          <p:nvPr/>
        </p:nvSpPr>
        <p:spPr>
          <a:xfrm>
            <a:off x="1069848" y="4636008"/>
            <a:ext cx="822960" cy="822960"/>
          </a:xfrm>
          <a:prstGeom prst="ellipse">
            <a:avLst/>
          </a:prstGeom>
          <a:solidFill>
            <a:srgbClr val="028090"/>
          </a:solidFill>
          <a:ln/>
        </p:spPr>
        <p:txBody>
          <a:bodyPr/>
          <a:lstStyle/>
          <a:p>
            <a:endParaRPr lang="en-US"/>
          </a:p>
        </p:txBody>
      </p:sp>
      <p:pic>
        <p:nvPicPr>
          <p:cNvPr id="17" name="Image 2" descr="preencoded.png"/>
          <p:cNvPicPr>
            <a:picLocks noChangeAspect="1"/>
          </p:cNvPicPr>
          <p:nvPr/>
        </p:nvPicPr>
        <p:blipFill>
          <a:blip r:embed="rId5"/>
          <a:stretch>
            <a:fillRect/>
          </a:stretch>
        </p:blipFill>
        <p:spPr>
          <a:xfrm>
            <a:off x="1271016" y="4837176"/>
            <a:ext cx="420624" cy="420624"/>
          </a:xfrm>
          <a:prstGeom prst="rect">
            <a:avLst/>
          </a:prstGeom>
        </p:spPr>
      </p:pic>
      <p:sp>
        <p:nvSpPr>
          <p:cNvPr id="18" name="Text 13"/>
          <p:cNvSpPr/>
          <p:nvPr/>
        </p:nvSpPr>
        <p:spPr>
          <a:xfrm>
            <a:off x="2148840" y="4544568"/>
            <a:ext cx="3611880" cy="457200"/>
          </a:xfrm>
          <a:prstGeom prst="rect">
            <a:avLst/>
          </a:prstGeom>
          <a:noFill/>
          <a:ln/>
        </p:spPr>
        <p:txBody>
          <a:bodyPr wrap="square" lIns="0" tIns="0" rIns="0" bIns="0" rtlCol="0" anchor="ctr"/>
          <a:lstStyle/>
          <a:p>
            <a:pPr marL="0" indent="0">
              <a:buNone/>
            </a:pPr>
            <a:r>
              <a:rPr lang="en-US" sz="1700" b="1" dirty="0">
                <a:solidFill>
                  <a:srgbClr val="0B2027"/>
                </a:solidFill>
                <a:latin typeface="Georgia" pitchFamily="34" charset="0"/>
                <a:ea typeface="Georgia" pitchFamily="34" charset="-122"/>
                <a:cs typeface="Georgia" pitchFamily="34" charset="-120"/>
              </a:rPr>
              <a:t>Safer operations</a:t>
            </a:r>
            <a:endParaRPr lang="en-US" sz="1700" dirty="0"/>
          </a:p>
        </p:txBody>
      </p:sp>
      <p:sp>
        <p:nvSpPr>
          <p:cNvPr id="19" name="Text 14"/>
          <p:cNvSpPr/>
          <p:nvPr/>
        </p:nvSpPr>
        <p:spPr>
          <a:xfrm>
            <a:off x="2148840" y="4965192"/>
            <a:ext cx="3657600" cy="777240"/>
          </a:xfrm>
          <a:prstGeom prst="rect">
            <a:avLst/>
          </a:prstGeom>
          <a:noFill/>
          <a:ln/>
        </p:spPr>
        <p:txBody>
          <a:bodyPr wrap="square" lIns="0" tIns="0" rIns="0" bIns="0" rtlCol="0" anchor="ctr"/>
          <a:lstStyle/>
          <a:p>
            <a:pPr marL="0" indent="0">
              <a:lnSpc>
                <a:spcPts val="1700"/>
              </a:lnSpc>
              <a:buNone/>
            </a:pPr>
            <a:r>
              <a:rPr lang="en-US" sz="1250" dirty="0">
                <a:solidFill>
                  <a:srgbClr val="1A2E33"/>
                </a:solidFill>
                <a:latin typeface="Calibri" pitchFamily="34" charset="0"/>
                <a:ea typeface="Calibri" pitchFamily="34" charset="-122"/>
                <a:cs typeface="Calibri" pitchFamily="34" charset="-120"/>
              </a:rPr>
              <a:t>Continuous listening flags hazardous machine states humans would miss.</a:t>
            </a:r>
            <a:endParaRPr lang="en-US" sz="1250" dirty="0"/>
          </a:p>
        </p:txBody>
      </p:sp>
      <p:sp>
        <p:nvSpPr>
          <p:cNvPr id="20" name="Shape 15"/>
          <p:cNvSpPr/>
          <p:nvPr/>
        </p:nvSpPr>
        <p:spPr>
          <a:xfrm>
            <a:off x="6217920" y="4251960"/>
            <a:ext cx="5166360" cy="1600200"/>
          </a:xfrm>
          <a:prstGeom prst="rect">
            <a:avLst/>
          </a:prstGeom>
          <a:solidFill>
            <a:srgbClr val="E8F4F3"/>
          </a:solidFill>
          <a:ln/>
          <a:effectLst>
            <a:outerShdw blurRad="101600" dist="38100" dir="8100000" algn="bl" rotWithShape="0">
              <a:srgbClr val="000000">
                <a:alpha val="16000"/>
              </a:srgbClr>
            </a:outerShdw>
          </a:effectLst>
        </p:spPr>
        <p:txBody>
          <a:bodyPr/>
          <a:lstStyle/>
          <a:p>
            <a:endParaRPr lang="en-US"/>
          </a:p>
        </p:txBody>
      </p:sp>
      <p:sp>
        <p:nvSpPr>
          <p:cNvPr id="21" name="Shape 16"/>
          <p:cNvSpPr/>
          <p:nvPr/>
        </p:nvSpPr>
        <p:spPr>
          <a:xfrm>
            <a:off x="6510528" y="4636008"/>
            <a:ext cx="822960" cy="822960"/>
          </a:xfrm>
          <a:prstGeom prst="ellipse">
            <a:avLst/>
          </a:prstGeom>
          <a:solidFill>
            <a:srgbClr val="028090"/>
          </a:solidFill>
          <a:ln/>
        </p:spPr>
        <p:txBody>
          <a:bodyPr/>
          <a:lstStyle/>
          <a:p>
            <a:endParaRPr lang="en-US"/>
          </a:p>
        </p:txBody>
      </p:sp>
      <p:pic>
        <p:nvPicPr>
          <p:cNvPr id="22" name="Image 3" descr="preencoded.png"/>
          <p:cNvPicPr>
            <a:picLocks noChangeAspect="1"/>
          </p:cNvPicPr>
          <p:nvPr/>
        </p:nvPicPr>
        <p:blipFill>
          <a:blip r:embed="rId6"/>
          <a:stretch>
            <a:fillRect/>
          </a:stretch>
        </p:blipFill>
        <p:spPr>
          <a:xfrm>
            <a:off x="6711696" y="4837176"/>
            <a:ext cx="420624" cy="420624"/>
          </a:xfrm>
          <a:prstGeom prst="rect">
            <a:avLst/>
          </a:prstGeom>
        </p:spPr>
      </p:pic>
      <p:sp>
        <p:nvSpPr>
          <p:cNvPr id="23" name="Text 17"/>
          <p:cNvSpPr/>
          <p:nvPr/>
        </p:nvSpPr>
        <p:spPr>
          <a:xfrm>
            <a:off x="7589520" y="4544568"/>
            <a:ext cx="3611880" cy="457200"/>
          </a:xfrm>
          <a:prstGeom prst="rect">
            <a:avLst/>
          </a:prstGeom>
          <a:noFill/>
          <a:ln/>
        </p:spPr>
        <p:txBody>
          <a:bodyPr wrap="square" lIns="0" tIns="0" rIns="0" bIns="0" rtlCol="0" anchor="ctr"/>
          <a:lstStyle/>
          <a:p>
            <a:pPr marL="0" indent="0">
              <a:buNone/>
            </a:pPr>
            <a:r>
              <a:rPr lang="en-US" sz="1700" b="1" dirty="0">
                <a:solidFill>
                  <a:srgbClr val="0B2027"/>
                </a:solidFill>
                <a:latin typeface="Georgia" pitchFamily="34" charset="0"/>
                <a:ea typeface="Georgia" pitchFamily="34" charset="-122"/>
                <a:cs typeface="Georgia" pitchFamily="34" charset="-120"/>
              </a:rPr>
              <a:t>Cheap to scale</a:t>
            </a:r>
            <a:endParaRPr lang="en-US" sz="1700" dirty="0"/>
          </a:p>
        </p:txBody>
      </p:sp>
      <p:sp>
        <p:nvSpPr>
          <p:cNvPr id="24" name="Text 18"/>
          <p:cNvSpPr/>
          <p:nvPr/>
        </p:nvSpPr>
        <p:spPr>
          <a:xfrm>
            <a:off x="7589520" y="4965192"/>
            <a:ext cx="3657600" cy="777240"/>
          </a:xfrm>
          <a:prstGeom prst="rect">
            <a:avLst/>
          </a:prstGeom>
          <a:noFill/>
          <a:ln/>
        </p:spPr>
        <p:txBody>
          <a:bodyPr wrap="square" lIns="0" tIns="0" rIns="0" bIns="0" rtlCol="0" anchor="ctr"/>
          <a:lstStyle/>
          <a:p>
            <a:pPr marL="0" indent="0">
              <a:lnSpc>
                <a:spcPts val="1700"/>
              </a:lnSpc>
              <a:buNone/>
            </a:pPr>
            <a:r>
              <a:rPr lang="en-US" sz="1250" dirty="0">
                <a:solidFill>
                  <a:srgbClr val="1A2E33"/>
                </a:solidFill>
                <a:latin typeface="Calibri" pitchFamily="34" charset="0"/>
                <a:ea typeface="Calibri" pitchFamily="34" charset="-122"/>
                <a:cs typeface="Calibri" pitchFamily="34" charset="-120"/>
              </a:rPr>
              <a:t>One microphone per machine, no labelled dataset, no costly sensor retrofits.</a:t>
            </a:r>
            <a:endParaRPr lang="en-US" sz="1250" dirty="0"/>
          </a:p>
        </p:txBody>
      </p:sp>
      <p:sp>
        <p:nvSpPr>
          <p:cNvPr id="25" name="Text 19"/>
          <p:cNvSpPr/>
          <p:nvPr/>
        </p:nvSpPr>
        <p:spPr>
          <a:xfrm>
            <a:off x="11277295" y="6355080"/>
            <a:ext cx="548640" cy="320040"/>
          </a:xfrm>
          <a:prstGeom prst="rect">
            <a:avLst/>
          </a:prstGeom>
          <a:noFill/>
          <a:ln/>
        </p:spPr>
        <p:txBody>
          <a:bodyPr wrap="square" lIns="0" tIns="0" rIns="0" bIns="0" rtlCol="0" anchor="ctr"/>
          <a:lstStyle/>
          <a:p>
            <a:pPr marL="0" indent="0" algn="r">
              <a:buNone/>
            </a:pPr>
            <a:r>
              <a:rPr lang="en-US" sz="1000" dirty="0">
                <a:solidFill>
                  <a:srgbClr val="5E7378"/>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77240" y="548640"/>
            <a:ext cx="4572000" cy="274320"/>
          </a:xfrm>
          <a:prstGeom prst="rect">
            <a:avLst/>
          </a:prstGeom>
          <a:noFill/>
          <a:ln/>
        </p:spPr>
        <p:txBody>
          <a:bodyPr wrap="square" lIns="0" tIns="0" rIns="0" bIns="0" rtlCol="0" anchor="ctr"/>
          <a:lstStyle/>
          <a:p>
            <a:pPr marL="0" indent="0">
              <a:buNone/>
            </a:pPr>
            <a:r>
              <a:rPr lang="en-US" sz="1100" b="1" kern="0" spc="300" dirty="0">
                <a:solidFill>
                  <a:srgbClr val="028090"/>
                </a:solidFill>
                <a:latin typeface="Calibri" pitchFamily="34" charset="0"/>
                <a:ea typeface="Calibri" pitchFamily="34" charset="-122"/>
                <a:cs typeface="Calibri" pitchFamily="34" charset="-120"/>
              </a:rPr>
              <a:t>CRITICAL ANALYSIS</a:t>
            </a:r>
            <a:endParaRPr lang="en-US" sz="1100" dirty="0"/>
          </a:p>
        </p:txBody>
      </p:sp>
      <p:sp>
        <p:nvSpPr>
          <p:cNvPr id="3" name="Text 1"/>
          <p:cNvSpPr/>
          <p:nvPr/>
        </p:nvSpPr>
        <p:spPr>
          <a:xfrm>
            <a:off x="777240" y="822960"/>
            <a:ext cx="10789920" cy="640080"/>
          </a:xfrm>
          <a:prstGeom prst="rect">
            <a:avLst/>
          </a:prstGeom>
          <a:noFill/>
          <a:ln/>
        </p:spPr>
        <p:txBody>
          <a:bodyPr wrap="square" lIns="0" tIns="0" rIns="0" bIns="0" rtlCol="0" anchor="ctr"/>
          <a:lstStyle/>
          <a:p>
            <a:pPr marL="0" indent="0">
              <a:buNone/>
            </a:pPr>
            <a:r>
              <a:rPr lang="en-US" sz="2700" b="1" dirty="0">
                <a:solidFill>
                  <a:srgbClr val="0B2027"/>
                </a:solidFill>
                <a:latin typeface="Georgia" pitchFamily="34" charset="0"/>
                <a:ea typeface="Georgia" pitchFamily="34" charset="-122"/>
                <a:cs typeface="Georgia" pitchFamily="34" charset="-120"/>
              </a:rPr>
              <a:t>Strengths, weaknesses, opportunities &amp; threats</a:t>
            </a:r>
            <a:endParaRPr lang="en-US" sz="2700" dirty="0"/>
          </a:p>
        </p:txBody>
      </p:sp>
      <p:sp>
        <p:nvSpPr>
          <p:cNvPr id="4" name="Shape 2"/>
          <p:cNvSpPr/>
          <p:nvPr/>
        </p:nvSpPr>
        <p:spPr>
          <a:xfrm>
            <a:off x="777240" y="1691640"/>
            <a:ext cx="5166360" cy="2057400"/>
          </a:xfrm>
          <a:prstGeom prst="rect">
            <a:avLst/>
          </a:prstGeom>
          <a:solidFill>
            <a:srgbClr val="028090"/>
          </a:solidFill>
          <a:ln/>
          <a:effectLst>
            <a:outerShdw blurRad="101600" dist="38100" dir="8100000" algn="bl" rotWithShape="0">
              <a:srgbClr val="000000">
                <a:alpha val="16000"/>
              </a:srgbClr>
            </a:outerShdw>
          </a:effectLst>
        </p:spPr>
        <p:txBody>
          <a:bodyPr/>
          <a:lstStyle/>
          <a:p>
            <a:endParaRPr lang="en-US"/>
          </a:p>
        </p:txBody>
      </p:sp>
      <p:sp>
        <p:nvSpPr>
          <p:cNvPr id="5" name="Text 3"/>
          <p:cNvSpPr/>
          <p:nvPr/>
        </p:nvSpPr>
        <p:spPr>
          <a:xfrm>
            <a:off x="1143000" y="1892808"/>
            <a:ext cx="4480560" cy="365760"/>
          </a:xfrm>
          <a:prstGeom prst="rect">
            <a:avLst/>
          </a:prstGeom>
          <a:noFill/>
          <a:ln/>
        </p:spPr>
        <p:txBody>
          <a:bodyPr wrap="square" lIns="0" tIns="0" rIns="0" bIns="0" rtlCol="0" anchor="ctr"/>
          <a:lstStyle/>
          <a:p>
            <a:pPr marL="0" indent="0">
              <a:buNone/>
            </a:pPr>
            <a:r>
              <a:rPr lang="en-US" sz="1600" b="1" kern="0" spc="100" dirty="0">
                <a:solidFill>
                  <a:srgbClr val="02C39A"/>
                </a:solidFill>
                <a:latin typeface="Georgia" pitchFamily="34" charset="0"/>
                <a:ea typeface="Georgia" pitchFamily="34" charset="-122"/>
                <a:cs typeface="Georgia" pitchFamily="34" charset="-120"/>
              </a:rPr>
              <a:t>STRENGTHS</a:t>
            </a:r>
            <a:endParaRPr lang="en-US" sz="1600" dirty="0"/>
          </a:p>
        </p:txBody>
      </p:sp>
      <p:sp>
        <p:nvSpPr>
          <p:cNvPr id="6" name="Text 4"/>
          <p:cNvSpPr/>
          <p:nvPr/>
        </p:nvSpPr>
        <p:spPr>
          <a:xfrm>
            <a:off x="1161288" y="2313432"/>
            <a:ext cx="4617720" cy="1325880"/>
          </a:xfrm>
          <a:prstGeom prst="rect">
            <a:avLst/>
          </a:prstGeom>
          <a:noFill/>
          <a:ln/>
        </p:spPr>
        <p:txBody>
          <a:bodyPr wrap="square" lIns="0" tIns="0" rIns="0" bIns="0" rtlCol="0" anchor="ctr"/>
          <a:lstStyle/>
          <a:p>
            <a:pPr marL="342900" indent="-342900">
              <a:lnSpc>
                <a:spcPts val="1600"/>
              </a:lnSpc>
              <a:spcAft>
                <a:spcPts val="500"/>
              </a:spcAft>
              <a:buSzPct val="100000"/>
              <a:buChar char="•"/>
            </a:pPr>
            <a:r>
              <a:rPr lang="en-US" sz="1250" dirty="0">
                <a:solidFill>
                  <a:srgbClr val="FFFFFF"/>
                </a:solidFill>
                <a:latin typeface="Calibri" pitchFamily="34" charset="0"/>
                <a:ea typeface="Calibri" pitchFamily="34" charset="-122"/>
                <a:cs typeface="Calibri" pitchFamily="34" charset="-120"/>
              </a:rPr>
              <a:t>Needs no labelled fault data</a:t>
            </a:r>
            <a:endParaRPr lang="en-US" sz="1250" dirty="0"/>
          </a:p>
          <a:p>
            <a:pPr marL="342900" indent="-342900">
              <a:lnSpc>
                <a:spcPts val="1600"/>
              </a:lnSpc>
              <a:spcAft>
                <a:spcPts val="500"/>
              </a:spcAft>
              <a:buSzPct val="100000"/>
              <a:buChar char="•"/>
            </a:pPr>
            <a:r>
              <a:rPr lang="en-US" sz="1250" dirty="0">
                <a:solidFill>
                  <a:srgbClr val="FFFFFF"/>
                </a:solidFill>
                <a:latin typeface="Calibri" pitchFamily="34" charset="0"/>
                <a:ea typeface="Calibri" pitchFamily="34" charset="-122"/>
                <a:cs typeface="Calibri" pitchFamily="34" charset="-120"/>
              </a:rPr>
              <a:t>Pipeline transfers cleanly between datasets</a:t>
            </a:r>
            <a:endParaRPr lang="en-US" sz="1250" dirty="0"/>
          </a:p>
          <a:p>
            <a:pPr marL="342900" indent="-342900">
              <a:lnSpc>
                <a:spcPts val="1600"/>
              </a:lnSpc>
              <a:spcAft>
                <a:spcPts val="500"/>
              </a:spcAft>
              <a:buSzPct val="100000"/>
              <a:buChar char="•"/>
            </a:pPr>
            <a:r>
              <a:rPr lang="en-US" sz="1250" dirty="0">
                <a:solidFill>
                  <a:srgbClr val="FFFFFF"/>
                </a:solidFill>
                <a:latin typeface="Calibri" pitchFamily="34" charset="0"/>
                <a:ea typeface="Calibri" pitchFamily="34" charset="-122"/>
                <a:cs typeface="Calibri" pitchFamily="34" charset="-120"/>
              </a:rPr>
              <a:t>Five-metric evaluation catches misleading results</a:t>
            </a:r>
            <a:endParaRPr lang="en-US" sz="1250" dirty="0"/>
          </a:p>
        </p:txBody>
      </p:sp>
      <p:sp>
        <p:nvSpPr>
          <p:cNvPr id="7" name="Shape 5"/>
          <p:cNvSpPr/>
          <p:nvPr/>
        </p:nvSpPr>
        <p:spPr>
          <a:xfrm>
            <a:off x="6217920" y="1691640"/>
            <a:ext cx="5166360" cy="2057400"/>
          </a:xfrm>
          <a:prstGeom prst="rect">
            <a:avLst/>
          </a:prstGeom>
          <a:solidFill>
            <a:srgbClr val="FCE4E2"/>
          </a:solidFill>
          <a:ln/>
          <a:effectLst>
            <a:outerShdw blurRad="101600" dist="38100" dir="8100000" algn="bl" rotWithShape="0">
              <a:srgbClr val="000000">
                <a:alpha val="16000"/>
              </a:srgbClr>
            </a:outerShdw>
          </a:effectLst>
        </p:spPr>
        <p:txBody>
          <a:bodyPr/>
          <a:lstStyle/>
          <a:p>
            <a:endParaRPr lang="en-US"/>
          </a:p>
        </p:txBody>
      </p:sp>
      <p:sp>
        <p:nvSpPr>
          <p:cNvPr id="8" name="Shape 6"/>
          <p:cNvSpPr/>
          <p:nvPr/>
        </p:nvSpPr>
        <p:spPr>
          <a:xfrm>
            <a:off x="6217920" y="1691640"/>
            <a:ext cx="91440" cy="2057400"/>
          </a:xfrm>
          <a:prstGeom prst="rect">
            <a:avLst/>
          </a:prstGeom>
          <a:solidFill>
            <a:srgbClr val="D9544D"/>
          </a:solidFill>
          <a:ln/>
        </p:spPr>
        <p:txBody>
          <a:bodyPr/>
          <a:lstStyle/>
          <a:p>
            <a:endParaRPr lang="en-US"/>
          </a:p>
        </p:txBody>
      </p:sp>
      <p:sp>
        <p:nvSpPr>
          <p:cNvPr id="9" name="Text 7"/>
          <p:cNvSpPr/>
          <p:nvPr/>
        </p:nvSpPr>
        <p:spPr>
          <a:xfrm>
            <a:off x="6583680" y="1892808"/>
            <a:ext cx="4480560" cy="365760"/>
          </a:xfrm>
          <a:prstGeom prst="rect">
            <a:avLst/>
          </a:prstGeom>
          <a:noFill/>
          <a:ln/>
        </p:spPr>
        <p:txBody>
          <a:bodyPr wrap="square" lIns="0" tIns="0" rIns="0" bIns="0" rtlCol="0" anchor="ctr"/>
          <a:lstStyle/>
          <a:p>
            <a:pPr marL="0" indent="0">
              <a:buNone/>
            </a:pPr>
            <a:r>
              <a:rPr lang="en-US" sz="1600" b="1" kern="0" spc="100" dirty="0">
                <a:solidFill>
                  <a:srgbClr val="D9544D"/>
                </a:solidFill>
                <a:latin typeface="Georgia" pitchFamily="34" charset="0"/>
                <a:ea typeface="Georgia" pitchFamily="34" charset="-122"/>
                <a:cs typeface="Georgia" pitchFamily="34" charset="-120"/>
              </a:rPr>
              <a:t>WEAKNESSES</a:t>
            </a:r>
            <a:endParaRPr lang="en-US" sz="1600" dirty="0"/>
          </a:p>
        </p:txBody>
      </p:sp>
      <p:sp>
        <p:nvSpPr>
          <p:cNvPr id="10" name="Text 8"/>
          <p:cNvSpPr/>
          <p:nvPr/>
        </p:nvSpPr>
        <p:spPr>
          <a:xfrm>
            <a:off x="6601968" y="2313432"/>
            <a:ext cx="4617720" cy="1325880"/>
          </a:xfrm>
          <a:prstGeom prst="rect">
            <a:avLst/>
          </a:prstGeom>
          <a:noFill/>
          <a:ln/>
        </p:spPr>
        <p:txBody>
          <a:bodyPr wrap="square" lIns="0" tIns="0" rIns="0" bIns="0" rtlCol="0" anchor="ctr"/>
          <a:lstStyle/>
          <a:p>
            <a:pPr marL="342900" indent="-342900">
              <a:lnSpc>
                <a:spcPts val="1600"/>
              </a:lnSpc>
              <a:spcAft>
                <a:spcPts val="500"/>
              </a:spcAft>
              <a:buSzPct val="100000"/>
              <a:buChar char="•"/>
            </a:pPr>
            <a:r>
              <a:rPr lang="en-US" sz="1250" dirty="0">
                <a:solidFill>
                  <a:srgbClr val="1A2E33"/>
                </a:solidFill>
                <a:latin typeface="Calibri" pitchFamily="34" charset="0"/>
                <a:ea typeface="Calibri" pitchFamily="34" charset="-122"/>
                <a:cs typeface="Calibri" pitchFamily="34" charset="-120"/>
              </a:rPr>
              <a:t>Naive clustering misses the fault axis</a:t>
            </a:r>
            <a:endParaRPr lang="en-US" sz="1250" dirty="0"/>
          </a:p>
          <a:p>
            <a:pPr marL="342900" indent="-342900">
              <a:lnSpc>
                <a:spcPts val="1600"/>
              </a:lnSpc>
              <a:spcAft>
                <a:spcPts val="500"/>
              </a:spcAft>
              <a:buSzPct val="100000"/>
              <a:buChar char="•"/>
            </a:pPr>
            <a:r>
              <a:rPr lang="en-US" sz="1250" dirty="0">
                <a:solidFill>
                  <a:srgbClr val="1A2E33"/>
                </a:solidFill>
                <a:latin typeface="Calibri" pitchFamily="34" charset="0"/>
                <a:ea typeface="Calibri" pitchFamily="34" charset="-122"/>
                <a:cs typeface="Calibri" pitchFamily="34" charset="-120"/>
              </a:rPr>
              <a:t>Static features drop temporal detail</a:t>
            </a:r>
            <a:endParaRPr lang="en-US" sz="1250" dirty="0"/>
          </a:p>
          <a:p>
            <a:pPr marL="342900" indent="-342900">
              <a:lnSpc>
                <a:spcPts val="1600"/>
              </a:lnSpc>
              <a:spcAft>
                <a:spcPts val="500"/>
              </a:spcAft>
              <a:buSzPct val="100000"/>
              <a:buChar char="•"/>
            </a:pPr>
            <a:r>
              <a:rPr lang="en-US" sz="1250" dirty="0">
                <a:solidFill>
                  <a:srgbClr val="1A2E33"/>
                </a:solidFill>
                <a:latin typeface="Calibri" pitchFamily="34" charset="0"/>
                <a:ea typeface="Calibri" pitchFamily="34" charset="-122"/>
                <a:cs typeface="Calibri" pitchFamily="34" charset="-120"/>
              </a:rPr>
              <a:t>Distance measures weaken in high dimensions</a:t>
            </a:r>
            <a:endParaRPr lang="en-US" sz="1250" dirty="0"/>
          </a:p>
        </p:txBody>
      </p:sp>
      <p:sp>
        <p:nvSpPr>
          <p:cNvPr id="11" name="Shape 9"/>
          <p:cNvSpPr/>
          <p:nvPr/>
        </p:nvSpPr>
        <p:spPr>
          <a:xfrm>
            <a:off x="777240" y="3931920"/>
            <a:ext cx="5166360" cy="2057400"/>
          </a:xfrm>
          <a:prstGeom prst="rect">
            <a:avLst/>
          </a:prstGeom>
          <a:solidFill>
            <a:srgbClr val="FFF1D6"/>
          </a:solidFill>
          <a:ln/>
          <a:effectLst>
            <a:outerShdw blurRad="101600" dist="38100" dir="8100000" algn="bl" rotWithShape="0">
              <a:srgbClr val="000000">
                <a:alpha val="16000"/>
              </a:srgbClr>
            </a:outerShdw>
          </a:effectLst>
        </p:spPr>
        <p:txBody>
          <a:bodyPr/>
          <a:lstStyle/>
          <a:p>
            <a:endParaRPr lang="en-US"/>
          </a:p>
        </p:txBody>
      </p:sp>
      <p:sp>
        <p:nvSpPr>
          <p:cNvPr id="12" name="Shape 10"/>
          <p:cNvSpPr/>
          <p:nvPr/>
        </p:nvSpPr>
        <p:spPr>
          <a:xfrm>
            <a:off x="777240" y="3931920"/>
            <a:ext cx="91440" cy="2057400"/>
          </a:xfrm>
          <a:prstGeom prst="rect">
            <a:avLst/>
          </a:prstGeom>
          <a:solidFill>
            <a:srgbClr val="E5A02E"/>
          </a:solidFill>
          <a:ln/>
        </p:spPr>
        <p:txBody>
          <a:bodyPr/>
          <a:lstStyle/>
          <a:p>
            <a:endParaRPr lang="en-US"/>
          </a:p>
        </p:txBody>
      </p:sp>
      <p:sp>
        <p:nvSpPr>
          <p:cNvPr id="13" name="Text 11"/>
          <p:cNvSpPr/>
          <p:nvPr/>
        </p:nvSpPr>
        <p:spPr>
          <a:xfrm>
            <a:off x="1143000" y="4133088"/>
            <a:ext cx="4480560" cy="365760"/>
          </a:xfrm>
          <a:prstGeom prst="rect">
            <a:avLst/>
          </a:prstGeom>
          <a:noFill/>
          <a:ln/>
        </p:spPr>
        <p:txBody>
          <a:bodyPr wrap="square" lIns="0" tIns="0" rIns="0" bIns="0" rtlCol="0" anchor="ctr"/>
          <a:lstStyle/>
          <a:p>
            <a:pPr marL="0" indent="0">
              <a:buNone/>
            </a:pPr>
            <a:r>
              <a:rPr lang="en-US" sz="1600" b="1" kern="0" spc="100" dirty="0">
                <a:solidFill>
                  <a:srgbClr val="E5A02E"/>
                </a:solidFill>
                <a:latin typeface="Georgia" pitchFamily="34" charset="0"/>
                <a:ea typeface="Georgia" pitchFamily="34" charset="-122"/>
                <a:cs typeface="Georgia" pitchFamily="34" charset="-120"/>
              </a:rPr>
              <a:t>OPPORTUNITIES</a:t>
            </a:r>
            <a:endParaRPr lang="en-US" sz="1600" dirty="0"/>
          </a:p>
        </p:txBody>
      </p:sp>
      <p:sp>
        <p:nvSpPr>
          <p:cNvPr id="14" name="Text 12"/>
          <p:cNvSpPr/>
          <p:nvPr/>
        </p:nvSpPr>
        <p:spPr>
          <a:xfrm>
            <a:off x="1161288" y="4553712"/>
            <a:ext cx="4617720" cy="1325880"/>
          </a:xfrm>
          <a:prstGeom prst="rect">
            <a:avLst/>
          </a:prstGeom>
          <a:noFill/>
          <a:ln/>
        </p:spPr>
        <p:txBody>
          <a:bodyPr wrap="square" lIns="0" tIns="0" rIns="0" bIns="0" rtlCol="0" anchor="ctr"/>
          <a:lstStyle/>
          <a:p>
            <a:pPr marL="342900" indent="-342900">
              <a:lnSpc>
                <a:spcPts val="1600"/>
              </a:lnSpc>
              <a:spcAft>
                <a:spcPts val="500"/>
              </a:spcAft>
              <a:buSzPct val="100000"/>
              <a:buChar char="•"/>
            </a:pPr>
            <a:r>
              <a:rPr lang="en-US" sz="1250" dirty="0">
                <a:solidFill>
                  <a:srgbClr val="1A2E33"/>
                </a:solidFill>
                <a:latin typeface="Calibri" pitchFamily="34" charset="0"/>
                <a:ea typeface="Calibri" pitchFamily="34" charset="-122"/>
                <a:cs typeface="Calibri" pitchFamily="34" charset="-120"/>
              </a:rPr>
              <a:t>Per-machine clustering to expose condition</a:t>
            </a:r>
            <a:endParaRPr lang="en-US" sz="1250" dirty="0"/>
          </a:p>
          <a:p>
            <a:pPr marL="342900" indent="-342900">
              <a:lnSpc>
                <a:spcPts val="1600"/>
              </a:lnSpc>
              <a:spcAft>
                <a:spcPts val="500"/>
              </a:spcAft>
              <a:buSzPct val="100000"/>
              <a:buChar char="•"/>
            </a:pPr>
            <a:r>
              <a:rPr lang="en-US" sz="1250" dirty="0">
                <a:solidFill>
                  <a:srgbClr val="1A2E33"/>
                </a:solidFill>
                <a:latin typeface="Calibri" pitchFamily="34" charset="0"/>
                <a:ea typeface="Calibri" pitchFamily="34" charset="-122"/>
                <a:cs typeface="Calibri" pitchFamily="34" charset="-120"/>
              </a:rPr>
              <a:t>Anomaly-detection models for true faults</a:t>
            </a:r>
            <a:endParaRPr lang="en-US" sz="1250" dirty="0"/>
          </a:p>
          <a:p>
            <a:pPr marL="342900" indent="-342900">
              <a:lnSpc>
                <a:spcPts val="1600"/>
              </a:lnSpc>
              <a:spcAft>
                <a:spcPts val="500"/>
              </a:spcAft>
              <a:buSzPct val="100000"/>
              <a:buChar char="•"/>
            </a:pPr>
            <a:r>
              <a:rPr lang="en-US" sz="1250" dirty="0">
                <a:solidFill>
                  <a:srgbClr val="1A2E33"/>
                </a:solidFill>
                <a:latin typeface="Calibri" pitchFamily="34" charset="0"/>
                <a:ea typeface="Calibri" pitchFamily="34" charset="-122"/>
                <a:cs typeface="Calibri" pitchFamily="34" charset="-120"/>
              </a:rPr>
              <a:t>Deep audio embeddings for richer features</a:t>
            </a:r>
            <a:endParaRPr lang="en-US" sz="1250" dirty="0"/>
          </a:p>
        </p:txBody>
      </p:sp>
      <p:sp>
        <p:nvSpPr>
          <p:cNvPr id="15" name="Shape 13"/>
          <p:cNvSpPr/>
          <p:nvPr/>
        </p:nvSpPr>
        <p:spPr>
          <a:xfrm>
            <a:off x="6217920" y="3931920"/>
            <a:ext cx="5166360" cy="2057400"/>
          </a:xfrm>
          <a:prstGeom prst="rect">
            <a:avLst/>
          </a:prstGeom>
          <a:solidFill>
            <a:srgbClr val="0B2027"/>
          </a:solidFill>
          <a:ln/>
          <a:effectLst>
            <a:outerShdw blurRad="101600" dist="38100" dir="8100000" algn="bl" rotWithShape="0">
              <a:srgbClr val="000000">
                <a:alpha val="16000"/>
              </a:srgbClr>
            </a:outerShdw>
          </a:effectLst>
        </p:spPr>
        <p:txBody>
          <a:bodyPr/>
          <a:lstStyle/>
          <a:p>
            <a:endParaRPr lang="en-US"/>
          </a:p>
        </p:txBody>
      </p:sp>
      <p:sp>
        <p:nvSpPr>
          <p:cNvPr id="16" name="Text 14"/>
          <p:cNvSpPr/>
          <p:nvPr/>
        </p:nvSpPr>
        <p:spPr>
          <a:xfrm>
            <a:off x="6583680" y="4133088"/>
            <a:ext cx="4480560" cy="365760"/>
          </a:xfrm>
          <a:prstGeom prst="rect">
            <a:avLst/>
          </a:prstGeom>
          <a:noFill/>
          <a:ln/>
        </p:spPr>
        <p:txBody>
          <a:bodyPr wrap="square" lIns="0" tIns="0" rIns="0" bIns="0" rtlCol="0" anchor="ctr"/>
          <a:lstStyle/>
          <a:p>
            <a:pPr marL="0" indent="0">
              <a:buNone/>
            </a:pPr>
            <a:r>
              <a:rPr lang="en-US" sz="1600" b="1" kern="0" spc="100" dirty="0">
                <a:solidFill>
                  <a:srgbClr val="02C39A"/>
                </a:solidFill>
                <a:latin typeface="Georgia" pitchFamily="34" charset="0"/>
                <a:ea typeface="Georgia" pitchFamily="34" charset="-122"/>
                <a:cs typeface="Georgia" pitchFamily="34" charset="-120"/>
              </a:rPr>
              <a:t>THREATS</a:t>
            </a:r>
            <a:endParaRPr lang="en-US" sz="1600" dirty="0"/>
          </a:p>
        </p:txBody>
      </p:sp>
      <p:sp>
        <p:nvSpPr>
          <p:cNvPr id="17" name="Text 15"/>
          <p:cNvSpPr/>
          <p:nvPr/>
        </p:nvSpPr>
        <p:spPr>
          <a:xfrm>
            <a:off x="6601968" y="4553712"/>
            <a:ext cx="4617720" cy="1325880"/>
          </a:xfrm>
          <a:prstGeom prst="rect">
            <a:avLst/>
          </a:prstGeom>
          <a:noFill/>
          <a:ln/>
        </p:spPr>
        <p:txBody>
          <a:bodyPr wrap="square" lIns="0" tIns="0" rIns="0" bIns="0" rtlCol="0" anchor="ctr"/>
          <a:lstStyle/>
          <a:p>
            <a:pPr marL="342900" indent="-342900">
              <a:lnSpc>
                <a:spcPts val="1600"/>
              </a:lnSpc>
              <a:spcAft>
                <a:spcPts val="500"/>
              </a:spcAft>
              <a:buSzPct val="100000"/>
              <a:buChar char="•"/>
            </a:pPr>
            <a:r>
              <a:rPr lang="en-US" sz="1250" dirty="0">
                <a:solidFill>
                  <a:srgbClr val="FFFFFF"/>
                </a:solidFill>
                <a:latin typeface="Calibri" pitchFamily="34" charset="0"/>
                <a:ea typeface="Calibri" pitchFamily="34" charset="-122"/>
                <a:cs typeface="Calibri" pitchFamily="34" charset="-120"/>
              </a:rPr>
              <a:t>Factory background noise corrupts signals</a:t>
            </a:r>
            <a:endParaRPr lang="en-US" sz="1250" dirty="0"/>
          </a:p>
          <a:p>
            <a:pPr marL="342900" indent="-342900">
              <a:lnSpc>
                <a:spcPts val="1600"/>
              </a:lnSpc>
              <a:spcAft>
                <a:spcPts val="500"/>
              </a:spcAft>
              <a:buSzPct val="100000"/>
              <a:buChar char="•"/>
            </a:pPr>
            <a:r>
              <a:rPr lang="en-US" sz="1250" dirty="0">
                <a:solidFill>
                  <a:srgbClr val="FFFFFF"/>
                </a:solidFill>
                <a:latin typeface="Calibri" pitchFamily="34" charset="0"/>
                <a:ea typeface="Calibri" pitchFamily="34" charset="-122"/>
                <a:cs typeface="Calibri" pitchFamily="34" charset="-120"/>
              </a:rPr>
              <a:t>Different microphones shift the data</a:t>
            </a:r>
            <a:endParaRPr lang="en-US" sz="1250" dirty="0"/>
          </a:p>
          <a:p>
            <a:pPr marL="342900" indent="-342900">
              <a:lnSpc>
                <a:spcPts val="1600"/>
              </a:lnSpc>
              <a:spcAft>
                <a:spcPts val="500"/>
              </a:spcAft>
              <a:buSzPct val="100000"/>
              <a:buChar char="•"/>
            </a:pPr>
            <a:r>
              <a:rPr lang="en-US" sz="1250" dirty="0">
                <a:solidFill>
                  <a:srgbClr val="FFFFFF"/>
                </a:solidFill>
                <a:latin typeface="Calibri" pitchFamily="34" charset="0"/>
                <a:ea typeface="Calibri" pitchFamily="34" charset="-122"/>
                <a:cs typeface="Calibri" pitchFamily="34" charset="-120"/>
              </a:rPr>
              <a:t>Rare faults remain hard to validate</a:t>
            </a:r>
            <a:endParaRPr lang="en-US" sz="1250" dirty="0"/>
          </a:p>
        </p:txBody>
      </p:sp>
      <p:sp>
        <p:nvSpPr>
          <p:cNvPr id="18" name="Text 16"/>
          <p:cNvSpPr/>
          <p:nvPr/>
        </p:nvSpPr>
        <p:spPr>
          <a:xfrm>
            <a:off x="11277295" y="6355080"/>
            <a:ext cx="548640" cy="320040"/>
          </a:xfrm>
          <a:prstGeom prst="rect">
            <a:avLst/>
          </a:prstGeom>
          <a:noFill/>
          <a:ln/>
        </p:spPr>
        <p:txBody>
          <a:bodyPr wrap="square" lIns="0" tIns="0" rIns="0" bIns="0" rtlCol="0" anchor="ctr"/>
          <a:lstStyle/>
          <a:p>
            <a:pPr marL="0" indent="0" algn="r">
              <a:buNone/>
            </a:pPr>
            <a:r>
              <a:rPr lang="en-US" sz="1000" dirty="0">
                <a:solidFill>
                  <a:srgbClr val="5E7378"/>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2027"/>
        </a:solidFill>
        <a:effectLst/>
      </p:bgPr>
    </p:bg>
    <p:spTree>
      <p:nvGrpSpPr>
        <p:cNvPr id="1" name=""/>
        <p:cNvGrpSpPr/>
        <p:nvPr/>
      </p:nvGrpSpPr>
      <p:grpSpPr>
        <a:xfrm>
          <a:off x="0" y="0"/>
          <a:ext cx="0" cy="0"/>
          <a:chOff x="0" y="0"/>
          <a:chExt cx="0" cy="0"/>
        </a:xfrm>
      </p:grpSpPr>
      <p:sp>
        <p:nvSpPr>
          <p:cNvPr id="2" name="Text 0"/>
          <p:cNvSpPr/>
          <p:nvPr/>
        </p:nvSpPr>
        <p:spPr>
          <a:xfrm>
            <a:off x="777240" y="548640"/>
            <a:ext cx="4572000" cy="274320"/>
          </a:xfrm>
          <a:prstGeom prst="rect">
            <a:avLst/>
          </a:prstGeom>
          <a:noFill/>
          <a:ln/>
        </p:spPr>
        <p:txBody>
          <a:bodyPr wrap="square" lIns="0" tIns="0" rIns="0" bIns="0" rtlCol="0" anchor="ctr"/>
          <a:lstStyle/>
          <a:p>
            <a:pPr marL="0" indent="0">
              <a:buNone/>
            </a:pPr>
            <a:r>
              <a:rPr lang="en-US" sz="1100" b="1" kern="0" spc="300" dirty="0">
                <a:solidFill>
                  <a:srgbClr val="028090"/>
                </a:solidFill>
                <a:latin typeface="Calibri" pitchFamily="34" charset="0"/>
                <a:ea typeface="Calibri" pitchFamily="34" charset="-122"/>
                <a:cs typeface="Calibri" pitchFamily="34" charset="-120"/>
              </a:rPr>
              <a:t>CONCLUSION &amp; FUTURE WORK</a:t>
            </a:r>
            <a:endParaRPr lang="en-US" sz="1100" dirty="0"/>
          </a:p>
        </p:txBody>
      </p:sp>
      <p:sp>
        <p:nvSpPr>
          <p:cNvPr id="3" name="Text 1"/>
          <p:cNvSpPr/>
          <p:nvPr/>
        </p:nvSpPr>
        <p:spPr>
          <a:xfrm>
            <a:off x="777240" y="822960"/>
            <a:ext cx="10789920" cy="685800"/>
          </a:xfrm>
          <a:prstGeom prst="rect">
            <a:avLst/>
          </a:prstGeom>
          <a:noFill/>
          <a:ln/>
        </p:spPr>
        <p:txBody>
          <a:bodyPr wrap="square" lIns="0" tIns="0" rIns="0" bIns="0" rtlCol="0" anchor="ctr"/>
          <a:lstStyle/>
          <a:p>
            <a:pPr marL="0" indent="0">
              <a:buNone/>
            </a:pPr>
            <a:r>
              <a:rPr lang="en-US" sz="2900" b="1" dirty="0">
                <a:solidFill>
                  <a:srgbClr val="FFFFFF"/>
                </a:solidFill>
                <a:latin typeface="Georgia" pitchFamily="34" charset="0"/>
                <a:ea typeface="Georgia" pitchFamily="34" charset="-122"/>
                <a:cs typeface="Georgia" pitchFamily="34" charset="-120"/>
              </a:rPr>
              <a:t>What we learned — and where it goes next</a:t>
            </a:r>
            <a:endParaRPr lang="en-US" sz="2900" dirty="0"/>
          </a:p>
        </p:txBody>
      </p:sp>
      <p:sp>
        <p:nvSpPr>
          <p:cNvPr id="4" name="Text 2"/>
          <p:cNvSpPr/>
          <p:nvPr/>
        </p:nvSpPr>
        <p:spPr>
          <a:xfrm>
            <a:off x="777240" y="1600200"/>
            <a:ext cx="4572000" cy="274320"/>
          </a:xfrm>
          <a:prstGeom prst="rect">
            <a:avLst/>
          </a:prstGeom>
          <a:noFill/>
          <a:ln/>
        </p:spPr>
        <p:txBody>
          <a:bodyPr wrap="square" lIns="0" tIns="0" rIns="0" bIns="0" rtlCol="0" anchor="ctr"/>
          <a:lstStyle/>
          <a:p>
            <a:pPr marL="0" indent="0">
              <a:buNone/>
            </a:pPr>
            <a:r>
              <a:rPr lang="en-US" sz="1100" b="1" kern="0" spc="200" dirty="0">
                <a:solidFill>
                  <a:srgbClr val="02C39A"/>
                </a:solidFill>
                <a:latin typeface="Calibri" pitchFamily="34" charset="0"/>
                <a:ea typeface="Calibri" pitchFamily="34" charset="-122"/>
                <a:cs typeface="Calibri" pitchFamily="34" charset="-120"/>
              </a:rPr>
              <a:t>KEY TAKEAWAYS</a:t>
            </a:r>
            <a:endParaRPr lang="en-US" sz="1100" dirty="0"/>
          </a:p>
        </p:txBody>
      </p:sp>
      <p:sp>
        <p:nvSpPr>
          <p:cNvPr id="5" name="Shape 3"/>
          <p:cNvSpPr/>
          <p:nvPr/>
        </p:nvSpPr>
        <p:spPr>
          <a:xfrm>
            <a:off x="804672" y="1984248"/>
            <a:ext cx="384048" cy="384048"/>
          </a:xfrm>
          <a:prstGeom prst="ellipse">
            <a:avLst/>
          </a:prstGeom>
          <a:solidFill>
            <a:srgbClr val="028090"/>
          </a:solidFill>
          <a:ln/>
        </p:spPr>
        <p:txBody>
          <a:bodyPr/>
          <a:lstStyle/>
          <a:p>
            <a:endParaRPr lang="en-US"/>
          </a:p>
        </p:txBody>
      </p:sp>
      <p:sp>
        <p:nvSpPr>
          <p:cNvPr id="6" name="Text 4"/>
          <p:cNvSpPr/>
          <p:nvPr/>
        </p:nvSpPr>
        <p:spPr>
          <a:xfrm>
            <a:off x="804672" y="198424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Georgia" pitchFamily="34" charset="0"/>
                <a:ea typeface="Georgia" pitchFamily="34" charset="-122"/>
                <a:cs typeface="Georgia" pitchFamily="34" charset="-120"/>
              </a:rPr>
              <a:t>1</a:t>
            </a:r>
            <a:endParaRPr lang="en-US" sz="1500" dirty="0"/>
          </a:p>
        </p:txBody>
      </p:sp>
      <p:sp>
        <p:nvSpPr>
          <p:cNvPr id="7" name="Text 5"/>
          <p:cNvSpPr/>
          <p:nvPr/>
        </p:nvSpPr>
        <p:spPr>
          <a:xfrm>
            <a:off x="1371600" y="1920240"/>
            <a:ext cx="4937760" cy="640080"/>
          </a:xfrm>
          <a:prstGeom prst="rect">
            <a:avLst/>
          </a:prstGeom>
          <a:noFill/>
          <a:ln/>
        </p:spPr>
        <p:txBody>
          <a:bodyPr wrap="square" lIns="0" tIns="0" rIns="0" bIns="0" rtlCol="0" anchor="ctr"/>
          <a:lstStyle/>
          <a:p>
            <a:pPr marL="0" indent="0">
              <a:lnSpc>
                <a:spcPts val="1800"/>
              </a:lnSpc>
              <a:buNone/>
            </a:pPr>
            <a:r>
              <a:rPr lang="en-US" sz="1350" dirty="0">
                <a:solidFill>
                  <a:srgbClr val="E8F4F3"/>
                </a:solidFill>
                <a:latin typeface="Calibri" pitchFamily="34" charset="0"/>
                <a:ea typeface="Calibri" pitchFamily="34" charset="-122"/>
                <a:cs typeface="Calibri" pitchFamily="34" charset="-120"/>
              </a:rPr>
              <a:t>Unsupervised clustering reliably groups sound by acoustic similarity.</a:t>
            </a:r>
            <a:endParaRPr lang="en-US" sz="1350" dirty="0"/>
          </a:p>
        </p:txBody>
      </p:sp>
      <p:sp>
        <p:nvSpPr>
          <p:cNvPr id="8" name="Shape 6"/>
          <p:cNvSpPr/>
          <p:nvPr/>
        </p:nvSpPr>
        <p:spPr>
          <a:xfrm>
            <a:off x="804672" y="2697480"/>
            <a:ext cx="384048" cy="384048"/>
          </a:xfrm>
          <a:prstGeom prst="ellipse">
            <a:avLst/>
          </a:prstGeom>
          <a:solidFill>
            <a:srgbClr val="028090"/>
          </a:solidFill>
          <a:ln/>
        </p:spPr>
        <p:txBody>
          <a:bodyPr/>
          <a:lstStyle/>
          <a:p>
            <a:endParaRPr lang="en-US"/>
          </a:p>
        </p:txBody>
      </p:sp>
      <p:sp>
        <p:nvSpPr>
          <p:cNvPr id="9" name="Text 7"/>
          <p:cNvSpPr/>
          <p:nvPr/>
        </p:nvSpPr>
        <p:spPr>
          <a:xfrm>
            <a:off x="804672" y="269748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Georgia" pitchFamily="34" charset="0"/>
                <a:ea typeface="Georgia" pitchFamily="34" charset="-122"/>
                <a:cs typeface="Georgia" pitchFamily="34" charset="-120"/>
              </a:rPr>
              <a:t>2</a:t>
            </a:r>
            <a:endParaRPr lang="en-US" sz="1500" dirty="0"/>
          </a:p>
        </p:txBody>
      </p:sp>
      <p:sp>
        <p:nvSpPr>
          <p:cNvPr id="10" name="Text 8"/>
          <p:cNvSpPr/>
          <p:nvPr/>
        </p:nvSpPr>
        <p:spPr>
          <a:xfrm>
            <a:off x="1371600" y="2633472"/>
            <a:ext cx="4937760" cy="640080"/>
          </a:xfrm>
          <a:prstGeom prst="rect">
            <a:avLst/>
          </a:prstGeom>
          <a:noFill/>
          <a:ln/>
        </p:spPr>
        <p:txBody>
          <a:bodyPr wrap="square" lIns="0" tIns="0" rIns="0" bIns="0" rtlCol="0" anchor="ctr"/>
          <a:lstStyle/>
          <a:p>
            <a:pPr marL="0" indent="0">
              <a:lnSpc>
                <a:spcPts val="1800"/>
              </a:lnSpc>
              <a:buNone/>
            </a:pPr>
            <a:r>
              <a:rPr lang="en-US" sz="1350" dirty="0">
                <a:solidFill>
                  <a:srgbClr val="E8F4F3"/>
                </a:solidFill>
                <a:latin typeface="Calibri" pitchFamily="34" charset="0"/>
                <a:ea typeface="Calibri" pitchFamily="34" charset="-122"/>
                <a:cs typeface="Calibri" pitchFamily="34" charset="-120"/>
              </a:rPr>
              <a:t>On machines, that similarity reflects machine type — not health.</a:t>
            </a:r>
            <a:endParaRPr lang="en-US" sz="1350" dirty="0"/>
          </a:p>
        </p:txBody>
      </p:sp>
      <p:sp>
        <p:nvSpPr>
          <p:cNvPr id="11" name="Shape 9"/>
          <p:cNvSpPr/>
          <p:nvPr/>
        </p:nvSpPr>
        <p:spPr>
          <a:xfrm>
            <a:off x="804672" y="3410712"/>
            <a:ext cx="384048" cy="384048"/>
          </a:xfrm>
          <a:prstGeom prst="ellipse">
            <a:avLst/>
          </a:prstGeom>
          <a:solidFill>
            <a:srgbClr val="028090"/>
          </a:solidFill>
          <a:ln/>
        </p:spPr>
        <p:txBody>
          <a:bodyPr/>
          <a:lstStyle/>
          <a:p>
            <a:endParaRPr lang="en-US"/>
          </a:p>
        </p:txBody>
      </p:sp>
      <p:sp>
        <p:nvSpPr>
          <p:cNvPr id="12" name="Text 10"/>
          <p:cNvSpPr/>
          <p:nvPr/>
        </p:nvSpPr>
        <p:spPr>
          <a:xfrm>
            <a:off x="804672" y="3410712"/>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Georgia" pitchFamily="34" charset="0"/>
                <a:ea typeface="Georgia" pitchFamily="34" charset="-122"/>
                <a:cs typeface="Georgia" pitchFamily="34" charset="-120"/>
              </a:rPr>
              <a:t>3</a:t>
            </a:r>
            <a:endParaRPr lang="en-US" sz="1500" dirty="0"/>
          </a:p>
        </p:txBody>
      </p:sp>
      <p:sp>
        <p:nvSpPr>
          <p:cNvPr id="13" name="Text 11"/>
          <p:cNvSpPr/>
          <p:nvPr/>
        </p:nvSpPr>
        <p:spPr>
          <a:xfrm>
            <a:off x="1371600" y="3346704"/>
            <a:ext cx="4937760" cy="640080"/>
          </a:xfrm>
          <a:prstGeom prst="rect">
            <a:avLst/>
          </a:prstGeom>
          <a:noFill/>
          <a:ln/>
        </p:spPr>
        <p:txBody>
          <a:bodyPr wrap="square" lIns="0" tIns="0" rIns="0" bIns="0" rtlCol="0" anchor="ctr"/>
          <a:lstStyle/>
          <a:p>
            <a:pPr marL="0" indent="0">
              <a:lnSpc>
                <a:spcPts val="1800"/>
              </a:lnSpc>
              <a:buNone/>
            </a:pPr>
            <a:r>
              <a:rPr lang="en-US" sz="1350" dirty="0">
                <a:solidFill>
                  <a:srgbClr val="E8F4F3"/>
                </a:solidFill>
                <a:latin typeface="Calibri" pitchFamily="34" charset="0"/>
                <a:ea typeface="Calibri" pitchFamily="34" charset="-122"/>
                <a:cs typeface="Calibri" pitchFamily="34" charset="-120"/>
              </a:rPr>
              <a:t>Fault detection needs a per-machine, baseline-vs-deviation framing.</a:t>
            </a:r>
            <a:endParaRPr lang="en-US" sz="1350" dirty="0"/>
          </a:p>
        </p:txBody>
      </p:sp>
      <p:sp>
        <p:nvSpPr>
          <p:cNvPr id="14" name="Shape 12"/>
          <p:cNvSpPr/>
          <p:nvPr/>
        </p:nvSpPr>
        <p:spPr>
          <a:xfrm>
            <a:off x="6537960" y="1783080"/>
            <a:ext cx="4892040" cy="4160520"/>
          </a:xfrm>
          <a:prstGeom prst="rect">
            <a:avLst/>
          </a:prstGeom>
          <a:solidFill>
            <a:srgbClr val="028090"/>
          </a:solidFill>
          <a:ln/>
          <a:effectLst>
            <a:outerShdw blurRad="101600" dist="38100" dir="8100000" algn="bl" rotWithShape="0">
              <a:srgbClr val="000000">
                <a:alpha val="16000"/>
              </a:srgbClr>
            </a:outerShdw>
          </a:effectLst>
        </p:spPr>
        <p:txBody>
          <a:bodyPr/>
          <a:lstStyle/>
          <a:p>
            <a:endParaRPr lang="en-US"/>
          </a:p>
        </p:txBody>
      </p:sp>
      <p:sp>
        <p:nvSpPr>
          <p:cNvPr id="15" name="Text 13"/>
          <p:cNvSpPr/>
          <p:nvPr/>
        </p:nvSpPr>
        <p:spPr>
          <a:xfrm>
            <a:off x="6903720" y="2103120"/>
            <a:ext cx="4206240" cy="274320"/>
          </a:xfrm>
          <a:prstGeom prst="rect">
            <a:avLst/>
          </a:prstGeom>
          <a:noFill/>
          <a:ln/>
        </p:spPr>
        <p:txBody>
          <a:bodyPr wrap="square" lIns="0" tIns="0" rIns="0" bIns="0" rtlCol="0" anchor="ctr"/>
          <a:lstStyle/>
          <a:p>
            <a:pPr marL="0" indent="0">
              <a:buNone/>
            </a:pPr>
            <a:r>
              <a:rPr lang="en-US" sz="1100" b="1" kern="0" spc="200" dirty="0">
                <a:solidFill>
                  <a:srgbClr val="CDEAE8"/>
                </a:solidFill>
                <a:latin typeface="Calibri" pitchFamily="34" charset="0"/>
                <a:ea typeface="Calibri" pitchFamily="34" charset="-122"/>
                <a:cs typeface="Calibri" pitchFamily="34" charset="-120"/>
              </a:rPr>
              <a:t>THE ROADMAP</a:t>
            </a:r>
            <a:endParaRPr lang="en-US" sz="1100" dirty="0"/>
          </a:p>
        </p:txBody>
      </p:sp>
      <p:sp>
        <p:nvSpPr>
          <p:cNvPr id="16" name="Shape 14"/>
          <p:cNvSpPr/>
          <p:nvPr/>
        </p:nvSpPr>
        <p:spPr>
          <a:xfrm>
            <a:off x="6903720" y="2551176"/>
            <a:ext cx="310896" cy="310896"/>
          </a:xfrm>
          <a:prstGeom prst="ellipse">
            <a:avLst/>
          </a:prstGeom>
          <a:solidFill>
            <a:srgbClr val="FFFFFF"/>
          </a:solidFill>
          <a:ln/>
        </p:spPr>
        <p:txBody>
          <a:bodyPr/>
          <a:lstStyle/>
          <a:p>
            <a:endParaRPr lang="en-US"/>
          </a:p>
        </p:txBody>
      </p:sp>
      <p:sp>
        <p:nvSpPr>
          <p:cNvPr id="17" name="Text 15"/>
          <p:cNvSpPr/>
          <p:nvPr/>
        </p:nvSpPr>
        <p:spPr>
          <a:xfrm>
            <a:off x="6903720" y="2551176"/>
            <a:ext cx="310896" cy="310896"/>
          </a:xfrm>
          <a:prstGeom prst="rect">
            <a:avLst/>
          </a:prstGeom>
          <a:noFill/>
          <a:ln/>
        </p:spPr>
        <p:txBody>
          <a:bodyPr wrap="square" lIns="0" tIns="0" rIns="0" bIns="0" rtlCol="0" anchor="ctr"/>
          <a:lstStyle/>
          <a:p>
            <a:pPr marL="0" indent="0" algn="ctr">
              <a:buNone/>
            </a:pPr>
            <a:r>
              <a:rPr lang="en-US" sz="1200" b="1" dirty="0">
                <a:solidFill>
                  <a:srgbClr val="028090"/>
                </a:solidFill>
                <a:latin typeface="Georgia" pitchFamily="34" charset="0"/>
                <a:ea typeface="Georgia" pitchFamily="34" charset="-122"/>
                <a:cs typeface="Georgia" pitchFamily="34" charset="-120"/>
              </a:rPr>
              <a:t>1</a:t>
            </a:r>
            <a:endParaRPr lang="en-US" sz="1200" dirty="0"/>
          </a:p>
        </p:txBody>
      </p:sp>
      <p:sp>
        <p:nvSpPr>
          <p:cNvPr id="18" name="Text 16"/>
          <p:cNvSpPr/>
          <p:nvPr/>
        </p:nvSpPr>
        <p:spPr>
          <a:xfrm>
            <a:off x="7360920" y="2441448"/>
            <a:ext cx="3886200" cy="777240"/>
          </a:xfrm>
          <a:prstGeom prst="rect">
            <a:avLst/>
          </a:prstGeom>
          <a:noFill/>
          <a:ln/>
        </p:spPr>
        <p:txBody>
          <a:bodyPr wrap="square" lIns="0" tIns="0" rIns="0" bIns="0" rtlCol="0" anchor="ctr"/>
          <a:lstStyle/>
          <a:p>
            <a:pPr marL="0" indent="0">
              <a:lnSpc>
                <a:spcPts val="1500"/>
              </a:lnSpc>
              <a:buNone/>
            </a:pPr>
            <a:r>
              <a:rPr lang="en-US" sz="1150" b="1" dirty="0">
                <a:solidFill>
                  <a:srgbClr val="FFFFFF"/>
                </a:solidFill>
                <a:latin typeface="Calibri" pitchFamily="34" charset="0"/>
                <a:ea typeface="Calibri" pitchFamily="34" charset="-122"/>
                <a:cs typeface="Calibri" pitchFamily="34" charset="-120"/>
              </a:rPr>
              <a:t>Per-machine pipelines  </a:t>
            </a:r>
            <a:r>
              <a:rPr lang="en-US" sz="1150" dirty="0">
                <a:solidFill>
                  <a:srgbClr val="DCEEED"/>
                </a:solidFill>
                <a:latin typeface="Calibri" pitchFamily="34" charset="0"/>
                <a:ea typeface="Calibri" pitchFamily="34" charset="-122"/>
                <a:cs typeface="Calibri" pitchFamily="34" charset="-120"/>
              </a:rPr>
              <a:t>— Cluster each machine type separately to isolate the condition axis.</a:t>
            </a:r>
            <a:endParaRPr lang="en-US" sz="1150" dirty="0"/>
          </a:p>
        </p:txBody>
      </p:sp>
      <p:sp>
        <p:nvSpPr>
          <p:cNvPr id="19" name="Shape 17"/>
          <p:cNvSpPr/>
          <p:nvPr/>
        </p:nvSpPr>
        <p:spPr>
          <a:xfrm>
            <a:off x="6903720" y="3392424"/>
            <a:ext cx="310896" cy="310896"/>
          </a:xfrm>
          <a:prstGeom prst="ellipse">
            <a:avLst/>
          </a:prstGeom>
          <a:solidFill>
            <a:srgbClr val="FFFFFF"/>
          </a:solidFill>
          <a:ln/>
        </p:spPr>
        <p:txBody>
          <a:bodyPr/>
          <a:lstStyle/>
          <a:p>
            <a:endParaRPr lang="en-US"/>
          </a:p>
        </p:txBody>
      </p:sp>
      <p:sp>
        <p:nvSpPr>
          <p:cNvPr id="20" name="Text 18"/>
          <p:cNvSpPr/>
          <p:nvPr/>
        </p:nvSpPr>
        <p:spPr>
          <a:xfrm>
            <a:off x="6903720" y="3392424"/>
            <a:ext cx="310896" cy="310896"/>
          </a:xfrm>
          <a:prstGeom prst="rect">
            <a:avLst/>
          </a:prstGeom>
          <a:noFill/>
          <a:ln/>
        </p:spPr>
        <p:txBody>
          <a:bodyPr wrap="square" lIns="0" tIns="0" rIns="0" bIns="0" rtlCol="0" anchor="ctr"/>
          <a:lstStyle/>
          <a:p>
            <a:pPr marL="0" indent="0" algn="ctr">
              <a:buNone/>
            </a:pPr>
            <a:r>
              <a:rPr lang="en-US" sz="1200" b="1" dirty="0">
                <a:solidFill>
                  <a:srgbClr val="028090"/>
                </a:solidFill>
                <a:latin typeface="Georgia" pitchFamily="34" charset="0"/>
                <a:ea typeface="Georgia" pitchFamily="34" charset="-122"/>
                <a:cs typeface="Georgia" pitchFamily="34" charset="-120"/>
              </a:rPr>
              <a:t>2</a:t>
            </a:r>
            <a:endParaRPr lang="en-US" sz="1200" dirty="0"/>
          </a:p>
        </p:txBody>
      </p:sp>
      <p:sp>
        <p:nvSpPr>
          <p:cNvPr id="21" name="Text 19"/>
          <p:cNvSpPr/>
          <p:nvPr/>
        </p:nvSpPr>
        <p:spPr>
          <a:xfrm>
            <a:off x="7360920" y="3282696"/>
            <a:ext cx="3886200" cy="777240"/>
          </a:xfrm>
          <a:prstGeom prst="rect">
            <a:avLst/>
          </a:prstGeom>
          <a:noFill/>
          <a:ln/>
        </p:spPr>
        <p:txBody>
          <a:bodyPr wrap="square" lIns="0" tIns="0" rIns="0" bIns="0" rtlCol="0" anchor="ctr"/>
          <a:lstStyle/>
          <a:p>
            <a:pPr marL="0" indent="0">
              <a:lnSpc>
                <a:spcPts val="1500"/>
              </a:lnSpc>
              <a:buNone/>
            </a:pPr>
            <a:r>
              <a:rPr lang="en-US" sz="1150" b="1" dirty="0">
                <a:solidFill>
                  <a:srgbClr val="FFFFFF"/>
                </a:solidFill>
                <a:latin typeface="Calibri" pitchFamily="34" charset="0"/>
                <a:ea typeface="Calibri" pitchFamily="34" charset="-122"/>
                <a:cs typeface="Calibri" pitchFamily="34" charset="-120"/>
              </a:rPr>
              <a:t>Dedicated anomaly models  </a:t>
            </a:r>
            <a:r>
              <a:rPr lang="en-US" sz="1150" dirty="0">
                <a:solidFill>
                  <a:srgbClr val="DCEEED"/>
                </a:solidFill>
                <a:latin typeface="Calibri" pitchFamily="34" charset="0"/>
                <a:ea typeface="Calibri" pitchFamily="34" charset="-122"/>
                <a:cs typeface="Calibri" pitchFamily="34" charset="-120"/>
              </a:rPr>
              <a:t>— Add isolation forests and autoencoders for baseline-relative detection.</a:t>
            </a:r>
            <a:endParaRPr lang="en-US" sz="1150" dirty="0"/>
          </a:p>
        </p:txBody>
      </p:sp>
      <p:sp>
        <p:nvSpPr>
          <p:cNvPr id="22" name="Shape 20"/>
          <p:cNvSpPr/>
          <p:nvPr/>
        </p:nvSpPr>
        <p:spPr>
          <a:xfrm>
            <a:off x="6903720" y="4233672"/>
            <a:ext cx="310896" cy="310896"/>
          </a:xfrm>
          <a:prstGeom prst="ellipse">
            <a:avLst/>
          </a:prstGeom>
          <a:solidFill>
            <a:srgbClr val="FFFFFF"/>
          </a:solidFill>
          <a:ln/>
        </p:spPr>
        <p:txBody>
          <a:bodyPr/>
          <a:lstStyle/>
          <a:p>
            <a:endParaRPr lang="en-US"/>
          </a:p>
        </p:txBody>
      </p:sp>
      <p:sp>
        <p:nvSpPr>
          <p:cNvPr id="23" name="Text 21"/>
          <p:cNvSpPr/>
          <p:nvPr/>
        </p:nvSpPr>
        <p:spPr>
          <a:xfrm>
            <a:off x="6903720" y="4233672"/>
            <a:ext cx="310896" cy="310896"/>
          </a:xfrm>
          <a:prstGeom prst="rect">
            <a:avLst/>
          </a:prstGeom>
          <a:noFill/>
          <a:ln/>
        </p:spPr>
        <p:txBody>
          <a:bodyPr wrap="square" lIns="0" tIns="0" rIns="0" bIns="0" rtlCol="0" anchor="ctr"/>
          <a:lstStyle/>
          <a:p>
            <a:pPr marL="0" indent="0" algn="ctr">
              <a:buNone/>
            </a:pPr>
            <a:r>
              <a:rPr lang="en-US" sz="1200" b="1" dirty="0">
                <a:solidFill>
                  <a:srgbClr val="028090"/>
                </a:solidFill>
                <a:latin typeface="Georgia" pitchFamily="34" charset="0"/>
                <a:ea typeface="Georgia" pitchFamily="34" charset="-122"/>
                <a:cs typeface="Georgia" pitchFamily="34" charset="-120"/>
              </a:rPr>
              <a:t>3</a:t>
            </a:r>
            <a:endParaRPr lang="en-US" sz="1200" dirty="0"/>
          </a:p>
        </p:txBody>
      </p:sp>
      <p:sp>
        <p:nvSpPr>
          <p:cNvPr id="24" name="Text 22"/>
          <p:cNvSpPr/>
          <p:nvPr/>
        </p:nvSpPr>
        <p:spPr>
          <a:xfrm>
            <a:off x="7360920" y="4123944"/>
            <a:ext cx="3886200" cy="777240"/>
          </a:xfrm>
          <a:prstGeom prst="rect">
            <a:avLst/>
          </a:prstGeom>
          <a:noFill/>
          <a:ln/>
        </p:spPr>
        <p:txBody>
          <a:bodyPr wrap="square" lIns="0" tIns="0" rIns="0" bIns="0" rtlCol="0" anchor="ctr"/>
          <a:lstStyle/>
          <a:p>
            <a:pPr marL="0" indent="0">
              <a:lnSpc>
                <a:spcPts val="1500"/>
              </a:lnSpc>
              <a:buNone/>
            </a:pPr>
            <a:r>
              <a:rPr lang="en-US" sz="1150" b="1" dirty="0">
                <a:solidFill>
                  <a:srgbClr val="FFFFFF"/>
                </a:solidFill>
                <a:latin typeface="Calibri" pitchFamily="34" charset="0"/>
                <a:ea typeface="Calibri" pitchFamily="34" charset="-122"/>
                <a:cs typeface="Calibri" pitchFamily="34" charset="-120"/>
              </a:rPr>
              <a:t>Learned audio embeddings  </a:t>
            </a:r>
            <a:r>
              <a:rPr lang="en-US" sz="1150" dirty="0">
                <a:solidFill>
                  <a:srgbClr val="DCEEED"/>
                </a:solidFill>
                <a:latin typeface="Calibri" pitchFamily="34" charset="0"/>
                <a:ea typeface="Calibri" pitchFamily="34" charset="-122"/>
                <a:cs typeface="Calibri" pitchFamily="34" charset="-120"/>
              </a:rPr>
              <a:t>— Replace hand-built features with deep representations of sound.</a:t>
            </a:r>
            <a:endParaRPr lang="en-US" sz="1150" dirty="0"/>
          </a:p>
        </p:txBody>
      </p:sp>
      <p:sp>
        <p:nvSpPr>
          <p:cNvPr id="25" name="Shape 23"/>
          <p:cNvSpPr/>
          <p:nvPr/>
        </p:nvSpPr>
        <p:spPr>
          <a:xfrm>
            <a:off x="6903720" y="5074920"/>
            <a:ext cx="310896" cy="310896"/>
          </a:xfrm>
          <a:prstGeom prst="ellipse">
            <a:avLst/>
          </a:prstGeom>
          <a:solidFill>
            <a:srgbClr val="FFFFFF"/>
          </a:solidFill>
          <a:ln/>
        </p:spPr>
        <p:txBody>
          <a:bodyPr/>
          <a:lstStyle/>
          <a:p>
            <a:endParaRPr lang="en-US"/>
          </a:p>
        </p:txBody>
      </p:sp>
      <p:sp>
        <p:nvSpPr>
          <p:cNvPr id="26" name="Text 24"/>
          <p:cNvSpPr/>
          <p:nvPr/>
        </p:nvSpPr>
        <p:spPr>
          <a:xfrm>
            <a:off x="6903720" y="5074920"/>
            <a:ext cx="310896" cy="310896"/>
          </a:xfrm>
          <a:prstGeom prst="rect">
            <a:avLst/>
          </a:prstGeom>
          <a:noFill/>
          <a:ln/>
        </p:spPr>
        <p:txBody>
          <a:bodyPr wrap="square" lIns="0" tIns="0" rIns="0" bIns="0" rtlCol="0" anchor="ctr"/>
          <a:lstStyle/>
          <a:p>
            <a:pPr marL="0" indent="0" algn="ctr">
              <a:buNone/>
            </a:pPr>
            <a:r>
              <a:rPr lang="en-US" sz="1200" b="1" dirty="0">
                <a:solidFill>
                  <a:srgbClr val="028090"/>
                </a:solidFill>
                <a:latin typeface="Georgia" pitchFamily="34" charset="0"/>
                <a:ea typeface="Georgia" pitchFamily="34" charset="-122"/>
                <a:cs typeface="Georgia" pitchFamily="34" charset="-120"/>
              </a:rPr>
              <a:t>4</a:t>
            </a:r>
            <a:endParaRPr lang="en-US" sz="1200" dirty="0"/>
          </a:p>
        </p:txBody>
      </p:sp>
      <p:sp>
        <p:nvSpPr>
          <p:cNvPr id="27" name="Text 25"/>
          <p:cNvSpPr/>
          <p:nvPr/>
        </p:nvSpPr>
        <p:spPr>
          <a:xfrm>
            <a:off x="7360920" y="4965192"/>
            <a:ext cx="3886200" cy="777240"/>
          </a:xfrm>
          <a:prstGeom prst="rect">
            <a:avLst/>
          </a:prstGeom>
          <a:noFill/>
          <a:ln/>
        </p:spPr>
        <p:txBody>
          <a:bodyPr wrap="square" lIns="0" tIns="0" rIns="0" bIns="0" rtlCol="0" anchor="ctr"/>
          <a:lstStyle/>
          <a:p>
            <a:pPr marL="0" indent="0">
              <a:lnSpc>
                <a:spcPts val="1500"/>
              </a:lnSpc>
              <a:buNone/>
            </a:pPr>
            <a:r>
              <a:rPr lang="en-US" sz="1150" b="1" dirty="0">
                <a:solidFill>
                  <a:srgbClr val="FFFFFF"/>
                </a:solidFill>
                <a:latin typeface="Calibri" pitchFamily="34" charset="0"/>
                <a:ea typeface="Calibri" pitchFamily="34" charset="-122"/>
                <a:cs typeface="Calibri" pitchFamily="34" charset="-120"/>
              </a:rPr>
              <a:t>Live plant validation  </a:t>
            </a:r>
            <a:r>
              <a:rPr lang="en-US" sz="1150" dirty="0">
                <a:solidFill>
                  <a:srgbClr val="DCEEED"/>
                </a:solidFill>
                <a:latin typeface="Calibri" pitchFamily="34" charset="0"/>
                <a:ea typeface="Calibri" pitchFamily="34" charset="-122"/>
                <a:cs typeface="Calibri" pitchFamily="34" charset="-120"/>
              </a:rPr>
              <a:t>— Test on streaming factory audio under real background noise.</a:t>
            </a:r>
            <a:endParaRPr lang="en-US" sz="1150" dirty="0"/>
          </a:p>
        </p:txBody>
      </p:sp>
      <p:sp>
        <p:nvSpPr>
          <p:cNvPr id="28" name="Text 26"/>
          <p:cNvSpPr/>
          <p:nvPr/>
        </p:nvSpPr>
        <p:spPr>
          <a:xfrm>
            <a:off x="11277295" y="6355080"/>
            <a:ext cx="548640" cy="320040"/>
          </a:xfrm>
          <a:prstGeom prst="rect">
            <a:avLst/>
          </a:prstGeom>
          <a:noFill/>
          <a:ln/>
        </p:spPr>
        <p:txBody>
          <a:bodyPr wrap="square" lIns="0" tIns="0" rIns="0" bIns="0" rtlCol="0" anchor="ctr"/>
          <a:lstStyle/>
          <a:p>
            <a:pPr marL="0" indent="0" algn="r">
              <a:buNone/>
            </a:pPr>
            <a:r>
              <a:rPr lang="en-US" sz="1000" dirty="0">
                <a:solidFill>
                  <a:srgbClr val="5E7378"/>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2027"/>
        </a:solidFill>
        <a:effectLst/>
      </p:bgPr>
    </p:bg>
    <p:spTree>
      <p:nvGrpSpPr>
        <p:cNvPr id="1" name=""/>
        <p:cNvGrpSpPr/>
        <p:nvPr/>
      </p:nvGrpSpPr>
      <p:grpSpPr>
        <a:xfrm>
          <a:off x="0" y="0"/>
          <a:ext cx="0" cy="0"/>
          <a:chOff x="0" y="0"/>
          <a:chExt cx="0" cy="0"/>
        </a:xfrm>
      </p:grpSpPr>
      <p:sp>
        <p:nvSpPr>
          <p:cNvPr id="2" name="Shape 0"/>
          <p:cNvSpPr/>
          <p:nvPr/>
        </p:nvSpPr>
        <p:spPr>
          <a:xfrm>
            <a:off x="822960" y="1051560"/>
            <a:ext cx="128016" cy="365760"/>
          </a:xfrm>
          <a:prstGeom prst="roundRect">
            <a:avLst>
              <a:gd name="adj" fmla="val 42857"/>
            </a:avLst>
          </a:prstGeom>
          <a:solidFill>
            <a:srgbClr val="028090"/>
          </a:solidFill>
          <a:ln/>
        </p:spPr>
        <p:txBody>
          <a:bodyPr/>
          <a:lstStyle/>
          <a:p>
            <a:endParaRPr lang="en-US"/>
          </a:p>
        </p:txBody>
      </p:sp>
      <p:sp>
        <p:nvSpPr>
          <p:cNvPr id="3" name="Shape 1"/>
          <p:cNvSpPr/>
          <p:nvPr/>
        </p:nvSpPr>
        <p:spPr>
          <a:xfrm>
            <a:off x="1097280" y="822960"/>
            <a:ext cx="128016" cy="822960"/>
          </a:xfrm>
          <a:prstGeom prst="roundRect">
            <a:avLst>
              <a:gd name="adj" fmla="val 42857"/>
            </a:avLst>
          </a:prstGeom>
          <a:solidFill>
            <a:srgbClr val="00A896"/>
          </a:solidFill>
          <a:ln/>
        </p:spPr>
        <p:txBody>
          <a:bodyPr/>
          <a:lstStyle/>
          <a:p>
            <a:endParaRPr lang="en-US"/>
          </a:p>
        </p:txBody>
      </p:sp>
      <p:sp>
        <p:nvSpPr>
          <p:cNvPr id="4" name="Shape 2"/>
          <p:cNvSpPr/>
          <p:nvPr/>
        </p:nvSpPr>
        <p:spPr>
          <a:xfrm>
            <a:off x="1371600" y="960120"/>
            <a:ext cx="128016" cy="548640"/>
          </a:xfrm>
          <a:prstGeom prst="roundRect">
            <a:avLst>
              <a:gd name="adj" fmla="val 42857"/>
            </a:avLst>
          </a:prstGeom>
          <a:solidFill>
            <a:srgbClr val="02C39A"/>
          </a:solidFill>
          <a:ln/>
        </p:spPr>
        <p:txBody>
          <a:bodyPr/>
          <a:lstStyle/>
          <a:p>
            <a:endParaRPr lang="en-US"/>
          </a:p>
        </p:txBody>
      </p:sp>
      <p:sp>
        <p:nvSpPr>
          <p:cNvPr id="5" name="Shape 3"/>
          <p:cNvSpPr/>
          <p:nvPr/>
        </p:nvSpPr>
        <p:spPr>
          <a:xfrm>
            <a:off x="1645920" y="640080"/>
            <a:ext cx="128016" cy="1188720"/>
          </a:xfrm>
          <a:prstGeom prst="roundRect">
            <a:avLst>
              <a:gd name="adj" fmla="val 42857"/>
            </a:avLst>
          </a:prstGeom>
          <a:solidFill>
            <a:srgbClr val="028090"/>
          </a:solidFill>
          <a:ln/>
        </p:spPr>
        <p:txBody>
          <a:bodyPr/>
          <a:lstStyle/>
          <a:p>
            <a:endParaRPr lang="en-US"/>
          </a:p>
        </p:txBody>
      </p:sp>
      <p:sp>
        <p:nvSpPr>
          <p:cNvPr id="6" name="Shape 4"/>
          <p:cNvSpPr/>
          <p:nvPr/>
        </p:nvSpPr>
        <p:spPr>
          <a:xfrm>
            <a:off x="1920240" y="868680"/>
            <a:ext cx="128016" cy="731520"/>
          </a:xfrm>
          <a:prstGeom prst="roundRect">
            <a:avLst>
              <a:gd name="adj" fmla="val 42857"/>
            </a:avLst>
          </a:prstGeom>
          <a:solidFill>
            <a:srgbClr val="00A896"/>
          </a:solidFill>
          <a:ln/>
        </p:spPr>
        <p:txBody>
          <a:bodyPr/>
          <a:lstStyle/>
          <a:p>
            <a:endParaRPr lang="en-US"/>
          </a:p>
        </p:txBody>
      </p:sp>
      <p:sp>
        <p:nvSpPr>
          <p:cNvPr id="7" name="Shape 5"/>
          <p:cNvSpPr/>
          <p:nvPr/>
        </p:nvSpPr>
        <p:spPr>
          <a:xfrm>
            <a:off x="2194560" y="457200"/>
            <a:ext cx="128016" cy="1554480"/>
          </a:xfrm>
          <a:prstGeom prst="roundRect">
            <a:avLst>
              <a:gd name="adj" fmla="val 42857"/>
            </a:avLst>
          </a:prstGeom>
          <a:solidFill>
            <a:srgbClr val="02C39A"/>
          </a:solidFill>
          <a:ln/>
        </p:spPr>
        <p:txBody>
          <a:bodyPr/>
          <a:lstStyle/>
          <a:p>
            <a:endParaRPr lang="en-US"/>
          </a:p>
        </p:txBody>
      </p:sp>
      <p:sp>
        <p:nvSpPr>
          <p:cNvPr id="8" name="Shape 6"/>
          <p:cNvSpPr/>
          <p:nvPr/>
        </p:nvSpPr>
        <p:spPr>
          <a:xfrm>
            <a:off x="2468880" y="777240"/>
            <a:ext cx="128016" cy="914400"/>
          </a:xfrm>
          <a:prstGeom prst="roundRect">
            <a:avLst>
              <a:gd name="adj" fmla="val 42857"/>
            </a:avLst>
          </a:prstGeom>
          <a:solidFill>
            <a:srgbClr val="028090"/>
          </a:solidFill>
          <a:ln/>
        </p:spPr>
        <p:txBody>
          <a:bodyPr/>
          <a:lstStyle/>
          <a:p>
            <a:endParaRPr lang="en-US"/>
          </a:p>
        </p:txBody>
      </p:sp>
      <p:sp>
        <p:nvSpPr>
          <p:cNvPr id="9" name="Text 7"/>
          <p:cNvSpPr/>
          <p:nvPr/>
        </p:nvSpPr>
        <p:spPr>
          <a:xfrm>
            <a:off x="777240" y="2331720"/>
            <a:ext cx="10058400" cy="868680"/>
          </a:xfrm>
          <a:prstGeom prst="rect">
            <a:avLst/>
          </a:prstGeom>
          <a:noFill/>
          <a:ln/>
        </p:spPr>
        <p:txBody>
          <a:bodyPr wrap="square" lIns="0" tIns="0" rIns="0" bIns="0" rtlCol="0" anchor="ctr"/>
          <a:lstStyle/>
          <a:p>
            <a:pPr marL="0" indent="0">
              <a:buNone/>
            </a:pPr>
            <a:r>
              <a:rPr lang="en-US" sz="4200" b="1" dirty="0">
                <a:solidFill>
                  <a:srgbClr val="FFFFFF"/>
                </a:solidFill>
                <a:latin typeface="Georgia" pitchFamily="34" charset="0"/>
                <a:ea typeface="Georgia" pitchFamily="34" charset="-122"/>
                <a:cs typeface="Georgia" pitchFamily="34" charset="-120"/>
              </a:rPr>
              <a:t>Listening to machines</a:t>
            </a:r>
            <a:endParaRPr lang="en-US" sz="4200" dirty="0"/>
          </a:p>
        </p:txBody>
      </p:sp>
      <p:sp>
        <p:nvSpPr>
          <p:cNvPr id="10" name="Text 8"/>
          <p:cNvSpPr/>
          <p:nvPr/>
        </p:nvSpPr>
        <p:spPr>
          <a:xfrm>
            <a:off x="777240" y="3154680"/>
            <a:ext cx="10058400" cy="868680"/>
          </a:xfrm>
          <a:prstGeom prst="rect">
            <a:avLst/>
          </a:prstGeom>
          <a:noFill/>
          <a:ln/>
        </p:spPr>
        <p:txBody>
          <a:bodyPr wrap="square" lIns="0" tIns="0" rIns="0" bIns="0" rtlCol="0" anchor="ctr"/>
          <a:lstStyle/>
          <a:p>
            <a:pPr marL="0" indent="0">
              <a:buNone/>
            </a:pPr>
            <a:r>
              <a:rPr lang="en-US" sz="4200" b="1" dirty="0">
                <a:solidFill>
                  <a:srgbClr val="02C39A"/>
                </a:solidFill>
                <a:latin typeface="Georgia" pitchFamily="34" charset="0"/>
                <a:ea typeface="Georgia" pitchFamily="34" charset="-122"/>
                <a:cs typeface="Georgia" pitchFamily="34" charset="-120"/>
              </a:rPr>
              <a:t>before they break.</a:t>
            </a:r>
            <a:endParaRPr lang="en-US" sz="4200" dirty="0"/>
          </a:p>
        </p:txBody>
      </p:sp>
      <p:sp>
        <p:nvSpPr>
          <p:cNvPr id="11" name="Text 9"/>
          <p:cNvSpPr/>
          <p:nvPr/>
        </p:nvSpPr>
        <p:spPr>
          <a:xfrm>
            <a:off x="804672" y="4160520"/>
            <a:ext cx="8503920" cy="731520"/>
          </a:xfrm>
          <a:prstGeom prst="rect">
            <a:avLst/>
          </a:prstGeom>
          <a:noFill/>
          <a:ln/>
        </p:spPr>
        <p:txBody>
          <a:bodyPr wrap="square" lIns="0" tIns="0" rIns="0" bIns="0" rtlCol="0" anchor="ctr"/>
          <a:lstStyle/>
          <a:p>
            <a:pPr marL="0" indent="0">
              <a:lnSpc>
                <a:spcPts val="2200"/>
              </a:lnSpc>
              <a:buNone/>
            </a:pPr>
            <a:r>
              <a:rPr lang="en-US" sz="1600" i="1" dirty="0">
                <a:solidFill>
                  <a:srgbClr val="AEC8CB"/>
                </a:solidFill>
                <a:latin typeface="Calibri" pitchFamily="34" charset="0"/>
                <a:ea typeface="Calibri" pitchFamily="34" charset="-122"/>
                <a:cs typeface="Calibri" pitchFamily="34" charset="-120"/>
              </a:rPr>
              <a:t>An unsupervised acoustic monitoring pipeline, and a clear, evidence-backed path to industrial fault detection.</a:t>
            </a:r>
            <a:endParaRPr lang="en-US" sz="1600" dirty="0"/>
          </a:p>
        </p:txBody>
      </p:sp>
      <p:sp>
        <p:nvSpPr>
          <p:cNvPr id="12" name="Shape 10"/>
          <p:cNvSpPr/>
          <p:nvPr/>
        </p:nvSpPr>
        <p:spPr>
          <a:xfrm>
            <a:off x="822960" y="5074920"/>
            <a:ext cx="2926080" cy="0"/>
          </a:xfrm>
          <a:prstGeom prst="line">
            <a:avLst/>
          </a:prstGeom>
          <a:noFill/>
          <a:ln w="19050">
            <a:solidFill>
              <a:srgbClr val="028090"/>
            </a:solidFill>
            <a:prstDash val="solid"/>
          </a:ln>
        </p:spPr>
        <p:txBody>
          <a:bodyPr/>
          <a:lstStyle/>
          <a:p>
            <a:endParaRPr lang="en-US"/>
          </a:p>
        </p:txBody>
      </p:sp>
      <p:sp>
        <p:nvSpPr>
          <p:cNvPr id="13" name="Text 11"/>
          <p:cNvSpPr/>
          <p:nvPr/>
        </p:nvSpPr>
        <p:spPr>
          <a:xfrm>
            <a:off x="804672" y="5212080"/>
            <a:ext cx="8229600" cy="41148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Thank you  ·  Questions &amp; Discussion</a:t>
            </a:r>
            <a:endParaRPr lang="en-US" sz="1500" dirty="0"/>
          </a:p>
        </p:txBody>
      </p:sp>
      <p:sp>
        <p:nvSpPr>
          <p:cNvPr id="14" name="Text 12"/>
          <p:cNvSpPr/>
          <p:nvPr/>
        </p:nvSpPr>
        <p:spPr>
          <a:xfrm>
            <a:off x="804672" y="5623560"/>
            <a:ext cx="9144000" cy="365760"/>
          </a:xfrm>
          <a:prstGeom prst="rect">
            <a:avLst/>
          </a:prstGeom>
          <a:noFill/>
          <a:ln/>
        </p:spPr>
        <p:txBody>
          <a:bodyPr wrap="square" lIns="0" tIns="0" rIns="0" bIns="0" rtlCol="0" anchor="ctr"/>
          <a:lstStyle/>
          <a:p>
            <a:pPr marL="0" indent="0">
              <a:buNone/>
            </a:pPr>
            <a:r>
              <a:rPr lang="en-US" sz="1200" dirty="0">
                <a:solidFill>
                  <a:srgbClr val="8FA6AA"/>
                </a:solidFill>
                <a:latin typeface="Calibri" pitchFamily="34" charset="0"/>
                <a:ea typeface="Calibri" pitchFamily="34" charset="-122"/>
                <a:cs typeface="Calibri" pitchFamily="34" charset="-120"/>
              </a:rPr>
              <a:t>Roşca Eduard-Mitruţ  ·  Data Science 245  ·  Babeş-Bolyai University, Cluj-Napoca</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TotalTime>
  <Words>1344</Words>
  <Application>Microsoft Office PowerPoint</Application>
  <PresentationFormat>Widescreen</PresentationFormat>
  <Paragraphs>192</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Clustering of Acoustic Environments</dc:title>
  <dc:subject>PptxGenJS Presentation</dc:subject>
  <dc:creator>Roşca Eduard-Mitruţ</dc:creator>
  <cp:lastModifiedBy>Mitrut Rosca</cp:lastModifiedBy>
  <cp:revision>2</cp:revision>
  <dcterms:created xsi:type="dcterms:W3CDTF">2026-05-25T06:01:02Z</dcterms:created>
  <dcterms:modified xsi:type="dcterms:W3CDTF">2026-05-25T10:48:04Z</dcterms:modified>
</cp:coreProperties>
</file>